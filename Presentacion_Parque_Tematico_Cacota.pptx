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Millones COP</c:v>
                </c:pt>
              </c:strCache>
            </c:strRef>
          </c:tx>
          <c:spPr>
            <a:solidFill>
              <a:srgbClr val="2F6B4F"/>
            </a:solidFill>
            <a:effectLst/>
          </c:spPr>
          <c:invertIfNegative val="0"/>
          <c:dLbls>
            <c:numFmt formatCode="0.00" sourceLinked="0"/>
            <c:txPr>
              <a:bodyPr/>
              <a:lstStyle/>
              <a:p>
                <a:pPr>
                  <a:defRPr b="0" i="0" strike="noStrike" sz="1000" u="none">
                    <a:solidFill>
                      <a:srgbClr val="1D2622"/>
                    </a:solidFill>
                    <a:latin typeface="Arial"/>
                  </a:defRPr>
                </a:pPr>
              </a:p>
            </c:txPr>
            <c:showLegendKey val="0"/>
            <c:showVal val="1"/>
            <c:showCatName val="0"/>
            <c:showSerName val="0"/>
            <c:showPercent val="0"/>
            <c:showBubbleSize val="0"/>
            <c:showLeaderLines val="0"/>
          </c:dLbls>
          <c:cat>
            <c:multiLvlStrRef>
              <c:f>Sheet1!$A$2:$A$10</c:f>
              <c:multiLvlStrCache>
                <c:ptCount val="9"/>
                <c:lvl>
                  <c:pt idx="0">
                    <c:v>Papelería</c:v>
                  </c:pt>
                  <c:pt idx="1">
                    <c:v>Humedad y peso unit.</c:v>
                  </c:pt>
                  <c:pt idx="2">
                    <c:v>Proctor</c:v>
                  </c:pt>
                  <c:pt idx="3">
                    <c:v>Granulometría</c:v>
                  </c:pt>
                  <c:pt idx="4">
                    <c:v>Límites Atterberg</c:v>
                  </c:pt>
                  <c:pt idx="5">
                    <c:v>Transporte</c:v>
                  </c:pt>
                  <c:pt idx="6">
                    <c:v>Corte directo</c:v>
                  </c:pt>
                  <c:pt idx="7">
                    <c:v>Topografía (dron)</c:v>
                  </c:pt>
                  <c:pt idx="8">
                    <c:v>Sondeos con SPT</c:v>
                  </c:pt>
                </c:lvl>
              </c:multiLvlStrCache>
            </c:multiLvlStrRef>
          </c:cat>
          <c:val>
            <c:numRef>
              <c:f>Sheet1!$B$2:$B$10</c:f>
              <c:numCache>
                <c:formatCode>General</c:formatCode>
                <c:ptCount val="9"/>
                <c:pt idx="0">
                  <c:v>0.25</c:v>
                </c:pt>
                <c:pt idx="1">
                  <c:v>0.315</c:v>
                </c:pt>
                <c:pt idx="2">
                  <c:v>0.36</c:v>
                </c:pt>
                <c:pt idx="3">
                  <c:v>0.42</c:v>
                </c:pt>
                <c:pt idx="4">
                  <c:v>0.48</c:v>
                </c:pt>
                <c:pt idx="5">
                  <c:v>0.72</c:v>
                </c:pt>
                <c:pt idx="6">
                  <c:v>1.14</c:v>
                </c:pt>
                <c:pt idx="7">
                  <c:v>1.2</c:v>
                </c:pt>
                <c:pt idx="8">
                  <c:v>2.7</c:v>
                </c:pt>
              </c:numCache>
            </c:numRef>
          </c:val>
        </c:ser>
        <c:dLbls>
          <c:numFmt formatCode="0.00" sourceLinked="0"/>
          <c:txPr>
            <a:bodyPr/>
            <a:lstStyle/>
            <a:p>
              <a:pPr>
                <a:defRPr b="0" i="0" strike="noStrike" sz="1000" u="none">
                  <a:solidFill>
                    <a:srgbClr val="1D2622"/>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D2622"/>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Presento mi anteproyecto de grado, que se centra en la parte geotécnica e hidrológica del Parque Temático El Cacique, un proyecto real que la Alcaldía de Cácota está adelantando. La imagen de fondo es el modelo 3D del diseño: como ven, todo el parque se resuelve en terrazas sobre la ladera, y de ahí nace mi pregunta de investigación.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orden que voy a seguir. Primero el contexto del proyecto, luego el problema que identifiqué en los estudios existentes, y después cómo pienso abordarlo: objetivos, marco teórico, metodología, tiempos y costos.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parque ocupa cerca de 6.800 metros cuadrados, a unos 2.437 metros de altura. El lote tiene pendientes del 15 al 20 % y está en zona de amenaza sísmica alta, con Aa de 0,30 según la NSR-10. La foto es de la visita al predio: se ve la cobertura de pastos y arbustos y lo empinado de la ladera.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predio queda junto al polideportivo cubierto, al norte del casco urbano. Se escogió porque es del municipio, tiene acceso y servicios y ofrece buenas visuales. Pero justamente esa pendiente que da las visuales es la que obliga a hacer cortes y rellenos, y la cercanía al acueducto es la que obliga a cuidar el agua.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revisar los cuatro documentos del proyecto encontré que cada uno resuelve su parte, pero falta la evaluación integrada. El estudio de suelos da recomendaciones generales porque no había diseño, y sus anexos corresponden a otro proyecto de 2014. La memoria hidráulica usa una intensidad asumida. Nadie ha verificado la estabilidad de las terrazas, y además hay un canal de agua potable al 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ahí sale mi pregunta. Y mi hipótesis es que en seco los taludes probablemente funcionan, pero con agua y con sismo pueden quedar por debajo de lo que exige la norma, y que una combinación de drenaje y bioingeniería puede resolverlo sin depender solo de muros de concreto.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cuatro razones. Seguridad, porque es un lugar de uso público en zona sísmica alta. Agua, porque la lluvia es lo que más deslizamientos causa en los Andes colombianos, según Aristizábal y Sánchez 2020, y aquí además está el canal. Coherencia, porque el parque se presenta como ecológico. Y lo académico, porque integra varias áreas de la carrera.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general es evaluar las condiciones del suelo y del agua para proponer obras a nivel de prediseño. Los cuatro específicos siguen un orden lógico: primero caracterizo el suelo, luego calculo cuánta agua llega, con eso analizo la estabilidad y al final propongo y comparo soluciones.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Revisé antecedentes internacionales y nacionales. Los más importantes: Suárez Díaz, que describe cómo se comportan los coluviones; Stokes y Rey sobre bioingeniería; Fletcher sobre drenaje sostenible; la guía del Servicio Geológico Colombiano, y Aristizábal y Sánchez, que muestran que en los Andes la lluvia es el detonante principal. A nivel local, los antecedentes son los propios estudios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marco teórico se apoya en tres ideas. Primero, Mohr-Coulomb: la ecuación muestra por qué el agua importa tanto, porque al aumentar la presión de poros baja la resistencia. Segundo, los métodos de equilibrio límite para calcular el factor de seguridad. Y tercero, el método racional para saber cuánta agua llega, con Manning para dimensionar cunetas. También trabajo bioingeniería con base en Gray y Sotir.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datos del estudio preliminar. El conglomerado es firme y soporta bien las cargas, con 2 kilos por centímetro cuadrado admisibles. No se encontró nivel freático, pero la humedad aumenta hacia los 5 metros por el agua que baja de la parte alta. Por eso el problema no es la capacidad portante, es el agua.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norma central es la NSR-10, en especial el Título H, que fija el número mínimo de sondeos y los factores de seguridad. Además aplican la ley de gestión del riesgo, el ordenamiento territorial, la normativa ambiental con Corponor como autoridad, el RAS para drenaje y la resolución de residuos de construcción.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lo ambiental, el trabajo aporta en tres cosas: proteger el canal con estructuras que retengan sedimentos, evaluar las especies nativas que ya propuso el estudio ambiental pero desde el punto de vista geotécnico, y aprovechar la capa vegetal que se retira para revegetar los taludes.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metodología tiene seis fases que siguen los objetivos. Primero reviso la información y visito el sitio. Después hago tres sondeos adicionales, porque la NSR-10 pide mínimo tres para esta categoría, con ensayos de laboratorio. Luego el análisis hidrológico en QGIS, la modelación de estabilidad en SLOPE/W con dos métodos, el planteamiento de alternativas y el informe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escenarios que voy a modelar. En condición estática la norma pide un factor de seguridad mínimo de 1,50 y en condición seudoestática de 1,05, según la tabla H.2.4-1 de la NSR-10. Voy a analizar tres secciones: el corte más alto, el relleno de cuatro metros y la sección que queda junto al canal. [Nota: verificar los valores de la tabla H.2.4-1 antes de sustentar.]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la última fase planteo tres alternativas: una convencional con muro de concreto, una mixta con gaviones y subdrenes, y una con énfasis en bioingeniería y drenaje sostenible. Cada una se verifica en el modelo de estabilidad y se comparan con una matriz multicriterio. No descarto ninguna de entrada: la decisión sale de los resultados.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trabajo está programado para seis meses. El trabajo de campo y laboratorio se concentra entre diciembre y febrero, evitando en lo posible la temporada de lluvias de noviembre. La modelación va en febrero y marzo, y el cierre en marzo y abril.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presupuesto estimado es de unos 8,3 millones de pesos. El rubro más grande son los sondeos, seguido de la topografía y los ensayos de corte directo. Busco apoyo de la Alcaldía con la maquinaria y de la universidad con el laboratorio y el software, que tiene licencia académica.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lo que espero entregar: un modelo geotécnico actualizado, la memoria hidrológica, los factores de seguridad, el prediseño de la mejor alternativa y recomendaciones para proteger el canal. La idea es que sea útil para la Alcaldía cuando haga el diseño definitivo. Muchas gracias, quedo atenta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A2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163A2B">
              <a:alpha val="78000"/>
            </a:srgbClr>
          </a:solidFill>
          <a:ln w="12700">
            <a:solidFill>
              <a:srgbClr val="163A2B">
                <a:alpha val="0"/>
              </a:srgbClr>
            </a:solidFill>
            <a:prstDash val="solid"/>
          </a:ln>
        </p:spPr>
      </p:sp>
      <p:sp>
        <p:nvSpPr>
          <p:cNvPr id="4" name="Shape 1"/>
          <p:cNvSpPr/>
          <p:nvPr/>
        </p:nvSpPr>
        <p:spPr>
          <a:xfrm>
            <a:off x="0" y="0"/>
            <a:ext cx="6035040" cy="5143500"/>
          </a:xfrm>
          <a:prstGeom prst="rect">
            <a:avLst/>
          </a:prstGeom>
          <a:solidFill>
            <a:srgbClr val="163A2B">
              <a:alpha val="92000"/>
            </a:srgbClr>
          </a:solidFill>
          <a:ln w="12700">
            <a:solidFill>
              <a:srgbClr val="163A2B">
                <a:alpha val="0"/>
              </a:srgbClr>
            </a:solidFill>
            <a:prstDash val="solid"/>
          </a:ln>
        </p:spPr>
      </p:sp>
      <p:sp>
        <p:nvSpPr>
          <p:cNvPr id="5" name="Text 2"/>
          <p:cNvSpPr txBox="1"/>
          <p:nvPr/>
        </p:nvSpPr>
        <p:spPr>
          <a:xfrm>
            <a:off x="548640" y="502920"/>
            <a:ext cx="5486400" cy="274320"/>
          </a:xfrm>
          <a:prstGeom prst="rect">
            <a:avLst/>
          </a:prstGeom>
          <a:noFill/>
          <a:ln/>
        </p:spPr>
        <p:txBody>
          <a:bodyPr wrap="square" lIns="0" tIns="0" rIns="0" bIns="0" rtlCol="0" anchor="ctr"/>
          <a:lstStyle/>
          <a:p>
            <a:pPr indent="0" marL="0">
              <a:buNone/>
            </a:pPr>
            <a:r>
              <a:rPr lang="en-US" sz="900" b="1" spc="100" kern="0" dirty="0">
                <a:solidFill>
                  <a:srgbClr val="E3A43B"/>
                </a:solidFill>
                <a:latin typeface="Calibri" pitchFamily="34" charset="0"/>
                <a:ea typeface="Calibri" pitchFamily="34" charset="-122"/>
                <a:cs typeface="Calibri" pitchFamily="34" charset="-120"/>
              </a:rPr>
              <a:t>ANTEPROYECTO DE TRABAJO DE GRADO · INGENIERÍA CIVIL</a:t>
            </a:r>
            <a:endParaRPr lang="en-US" sz="900" dirty="0"/>
          </a:p>
        </p:txBody>
      </p:sp>
      <p:sp>
        <p:nvSpPr>
          <p:cNvPr id="6" name="Text 3"/>
          <p:cNvSpPr txBox="1"/>
          <p:nvPr/>
        </p:nvSpPr>
        <p:spPr>
          <a:xfrm>
            <a:off x="548640" y="960120"/>
            <a:ext cx="5303520" cy="173736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Evaluación geotécnica e hidrológica de las laderas del Parque Temático El Cacique</a:t>
            </a:r>
            <a:endParaRPr lang="en-US" sz="3000" dirty="0"/>
          </a:p>
        </p:txBody>
      </p:sp>
      <p:sp>
        <p:nvSpPr>
          <p:cNvPr id="7" name="Text 4"/>
          <p:cNvSpPr txBox="1"/>
          <p:nvPr/>
        </p:nvSpPr>
        <p:spPr>
          <a:xfrm>
            <a:off x="548640" y="2834640"/>
            <a:ext cx="5120640" cy="594360"/>
          </a:xfrm>
          <a:prstGeom prst="rect">
            <a:avLst/>
          </a:prstGeom>
          <a:noFill/>
          <a:ln/>
        </p:spPr>
        <p:txBody>
          <a:bodyPr wrap="square" lIns="0" tIns="0" rIns="0" bIns="0" rtlCol="0" anchor="ctr"/>
          <a:lstStyle/>
          <a:p>
            <a:pPr indent="0" marL="0">
              <a:buNone/>
            </a:pPr>
            <a:r>
              <a:rPr lang="en-US" sz="1400" i="1" dirty="0">
                <a:solidFill>
                  <a:srgbClr val="D6E6DC"/>
                </a:solidFill>
                <a:latin typeface="Calibri" pitchFamily="34" charset="0"/>
                <a:ea typeface="Calibri" pitchFamily="34" charset="-122"/>
                <a:cs typeface="Calibri" pitchFamily="34" charset="-120"/>
              </a:rPr>
              <a:t>Base para la propuesta de obras de estabilización y drenaje sostenible · Cácota, Norte de Santander</a:t>
            </a:r>
            <a:endParaRPr lang="en-US" sz="1400" dirty="0"/>
          </a:p>
        </p:txBody>
      </p:sp>
      <p:sp>
        <p:nvSpPr>
          <p:cNvPr id="8" name="Text 5"/>
          <p:cNvSpPr txBox="1"/>
          <p:nvPr/>
        </p:nvSpPr>
        <p:spPr>
          <a:xfrm>
            <a:off x="548640" y="3703320"/>
            <a:ext cx="5120640" cy="822960"/>
          </a:xfrm>
          <a:prstGeom prst="rect">
            <a:avLst/>
          </a:prstGeom>
          <a:noFill/>
          <a:ln/>
        </p:spPr>
        <p:txBody>
          <a:bodyPr wrap="square" lIns="0" tIns="0" rIns="0" bIns="0" rtlCol="0" anchor="ctr"/>
          <a:lstStyle/>
          <a:p>
            <a:pPr indent="0" marL="0">
              <a:spcAft>
                <a:spcPts val="200"/>
              </a:spcAft>
              <a:buNone/>
            </a:pPr>
            <a:r>
              <a:rPr lang="en-US" sz="1200" b="1" dirty="0">
                <a:solidFill>
                  <a:srgbClr val="FFFFFF"/>
                </a:solidFill>
                <a:latin typeface="Calibri" pitchFamily="34" charset="0"/>
                <a:ea typeface="Calibri" pitchFamily="34" charset="-122"/>
                <a:cs typeface="Calibri" pitchFamily="34" charset="-120"/>
              </a:rPr>
              <a:t>[Nombre de la estudiante]</a:t>
            </a:r>
            <a:endParaRPr lang="en-US" sz="1200" dirty="0"/>
          </a:p>
          <a:p>
            <a:pPr indent="0" marL="0">
              <a:spcAft>
                <a:spcPts val="200"/>
              </a:spcAft>
              <a:buNone/>
            </a:pPr>
            <a:r>
              <a:rPr lang="en-US" sz="1200" dirty="0">
                <a:solidFill>
                  <a:srgbClr val="FFFFFF"/>
                </a:solidFill>
                <a:latin typeface="Calibri" pitchFamily="34" charset="0"/>
                <a:ea typeface="Calibri" pitchFamily="34" charset="-122"/>
                <a:cs typeface="Calibri" pitchFamily="34" charset="-120"/>
              </a:rPr>
              <a:t>Director(a): [Ing. Nombre del director]</a:t>
            </a:r>
            <a:endParaRPr lang="en-US" sz="1200" dirty="0"/>
          </a:p>
          <a:p>
            <a:pPr indent="0" marL="0">
              <a:spcAft>
                <a:spcPts val="200"/>
              </a:spcAft>
              <a:buNone/>
            </a:pPr>
            <a:r>
              <a:rPr lang="en-US" sz="1200" dirty="0">
                <a:solidFill>
                  <a:srgbClr val="FFFFFF"/>
                </a:solidFill>
                <a:latin typeface="Calibri" pitchFamily="34" charset="0"/>
                <a:ea typeface="Calibri" pitchFamily="34" charset="-122"/>
                <a:cs typeface="Calibri" pitchFamily="34" charset="-120"/>
              </a:rPr>
              <a:t>[Universidad] · Octubre de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28600"/>
          </a:xfrm>
          <a:prstGeom prst="rect">
            <a:avLst/>
          </a:prstGeom>
          <a:noFill/>
          <a:ln/>
        </p:spPr>
        <p:txBody>
          <a:bodyPr wrap="square" lIns="0" tIns="0" rIns="0" bIns="0" rtlCol="0" anchor="ctr"/>
          <a:lstStyle/>
          <a:p>
            <a:pPr indent="0" marL="0">
              <a:buNone/>
            </a:pPr>
            <a:r>
              <a:rPr lang="en-US" sz="1000" b="1" spc="300" kern="0" dirty="0">
                <a:solidFill>
                  <a:srgbClr val="C4622D"/>
                </a:solidFill>
                <a:latin typeface="Calibri" pitchFamily="34" charset="0"/>
                <a:ea typeface="Calibri" pitchFamily="34" charset="-122"/>
                <a:cs typeface="Calibri" pitchFamily="34" charset="-120"/>
              </a:rPr>
              <a:t>CONTENIDO</a:t>
            </a:r>
            <a:endParaRPr lang="en-US" sz="1000" dirty="0"/>
          </a:p>
        </p:txBody>
      </p:sp>
      <p:sp>
        <p:nvSpPr>
          <p:cNvPr id="3" name="Text 1"/>
          <p:cNvSpPr txBox="1"/>
          <p:nvPr/>
        </p:nvSpPr>
        <p:spPr>
          <a:xfrm>
            <a:off x="457200" y="566928"/>
            <a:ext cx="8229600" cy="640080"/>
          </a:xfrm>
          <a:prstGeom prst="rect">
            <a:avLst/>
          </a:prstGeom>
          <a:noFill/>
          <a:ln/>
        </p:spPr>
        <p:txBody>
          <a:bodyPr wrap="square" lIns="0" tIns="0" rIns="0" bIns="0" rtlCol="0" anchor="t"/>
          <a:lstStyle/>
          <a:p>
            <a:pPr indent="0" marL="0">
              <a:buNone/>
            </a:pPr>
            <a:r>
              <a:rPr lang="en-US" sz="2800" b="1" dirty="0">
                <a:solidFill>
                  <a:srgbClr val="163A2B"/>
                </a:solidFill>
                <a:latin typeface="Cambria" pitchFamily="34" charset="0"/>
                <a:ea typeface="Cambria" pitchFamily="34" charset="-122"/>
                <a:cs typeface="Cambria" pitchFamily="34" charset="-120"/>
              </a:rPr>
              <a:t>Ruta de la presentación</a:t>
            </a:r>
            <a:endParaRPr lang="en-US" sz="2800" dirty="0"/>
          </a:p>
        </p:txBody>
      </p:sp>
      <p:sp>
        <p:nvSpPr>
          <p:cNvPr id="4" name="Shape 2"/>
          <p:cNvSpPr/>
          <p:nvPr/>
        </p:nvSpPr>
        <p:spPr>
          <a:xfrm>
            <a:off x="457200" y="1417320"/>
            <a:ext cx="3931920" cy="640080"/>
          </a:xfrm>
          <a:prstGeom prst="roundRect">
            <a:avLst>
              <a:gd name="adj" fmla="val 11429"/>
            </a:avLst>
          </a:prstGeom>
          <a:solidFill>
            <a:srgbClr val="F3F7F4"/>
          </a:solidFill>
          <a:ln w="12700">
            <a:solidFill>
              <a:srgbClr val="F3F7F4"/>
            </a:solidFill>
            <a:prstDash val="solid"/>
          </a:ln>
        </p:spPr>
      </p:sp>
      <p:sp>
        <p:nvSpPr>
          <p:cNvPr id="5" name="Text 3"/>
          <p:cNvSpPr txBox="1"/>
          <p:nvPr/>
        </p:nvSpPr>
        <p:spPr>
          <a:xfrm>
            <a:off x="640080" y="1417320"/>
            <a:ext cx="640080" cy="640080"/>
          </a:xfrm>
          <a:prstGeom prst="rect">
            <a:avLst/>
          </a:prstGeom>
          <a:noFill/>
          <a:ln/>
        </p:spPr>
        <p:txBody>
          <a:bodyPr wrap="square" lIns="0" tIns="0" rIns="0" bIns="0" rtlCol="0" anchor="ctr"/>
          <a:lstStyle/>
          <a:p>
            <a:pPr indent="0" marL="0">
              <a:buNone/>
            </a:pPr>
            <a:r>
              <a:rPr lang="en-US" sz="2200" b="1" dirty="0">
                <a:solidFill>
                  <a:srgbClr val="C4622D"/>
                </a:solidFill>
                <a:latin typeface="Cambria" pitchFamily="34" charset="0"/>
                <a:ea typeface="Cambria" pitchFamily="34" charset="-122"/>
                <a:cs typeface="Cambria" pitchFamily="34" charset="-120"/>
              </a:rPr>
              <a:t>01</a:t>
            </a:r>
            <a:endParaRPr lang="en-US" sz="2200" dirty="0"/>
          </a:p>
        </p:txBody>
      </p:sp>
      <p:sp>
        <p:nvSpPr>
          <p:cNvPr id="6" name="Text 4"/>
          <p:cNvSpPr txBox="1"/>
          <p:nvPr/>
        </p:nvSpPr>
        <p:spPr>
          <a:xfrm>
            <a:off x="1325880" y="1417320"/>
            <a:ext cx="2926080" cy="640080"/>
          </a:xfrm>
          <a:prstGeom prst="rect">
            <a:avLst/>
          </a:prstGeom>
          <a:noFill/>
          <a:ln/>
        </p:spPr>
        <p:txBody>
          <a:bodyPr wrap="square" lIns="0" tIns="0" rIns="0" bIns="0" rtlCol="0" anchor="ctr"/>
          <a:lstStyle/>
          <a:p>
            <a:pPr indent="0" marL="0">
              <a:buNone/>
            </a:pPr>
            <a:r>
              <a:rPr lang="en-US" sz="1500" dirty="0">
                <a:solidFill>
                  <a:srgbClr val="1D2622"/>
                </a:solidFill>
                <a:latin typeface="Calibri" pitchFamily="34" charset="0"/>
                <a:ea typeface="Calibri" pitchFamily="34" charset="-122"/>
                <a:cs typeface="Calibri" pitchFamily="34" charset="-120"/>
              </a:rPr>
              <a:t>El proyecto y su contexto</a:t>
            </a:r>
            <a:endParaRPr lang="en-US" sz="1500" dirty="0"/>
          </a:p>
        </p:txBody>
      </p:sp>
      <p:sp>
        <p:nvSpPr>
          <p:cNvPr id="7" name="Shape 5"/>
          <p:cNvSpPr/>
          <p:nvPr/>
        </p:nvSpPr>
        <p:spPr>
          <a:xfrm>
            <a:off x="4663440" y="1417320"/>
            <a:ext cx="3931920" cy="640080"/>
          </a:xfrm>
          <a:prstGeom prst="roundRect">
            <a:avLst>
              <a:gd name="adj" fmla="val 11429"/>
            </a:avLst>
          </a:prstGeom>
          <a:solidFill>
            <a:srgbClr val="F3F7F4"/>
          </a:solidFill>
          <a:ln w="12700">
            <a:solidFill>
              <a:srgbClr val="F3F7F4"/>
            </a:solidFill>
            <a:prstDash val="solid"/>
          </a:ln>
        </p:spPr>
      </p:sp>
      <p:sp>
        <p:nvSpPr>
          <p:cNvPr id="8" name="Text 6"/>
          <p:cNvSpPr txBox="1"/>
          <p:nvPr/>
        </p:nvSpPr>
        <p:spPr>
          <a:xfrm>
            <a:off x="4846320" y="1417320"/>
            <a:ext cx="640080" cy="640080"/>
          </a:xfrm>
          <a:prstGeom prst="rect">
            <a:avLst/>
          </a:prstGeom>
          <a:noFill/>
          <a:ln/>
        </p:spPr>
        <p:txBody>
          <a:bodyPr wrap="square" lIns="0" tIns="0" rIns="0" bIns="0" rtlCol="0" anchor="ctr"/>
          <a:lstStyle/>
          <a:p>
            <a:pPr indent="0" marL="0">
              <a:buNone/>
            </a:pPr>
            <a:r>
              <a:rPr lang="en-US" sz="2200" b="1" dirty="0">
                <a:solidFill>
                  <a:srgbClr val="C4622D"/>
                </a:solidFill>
                <a:latin typeface="Cambria" pitchFamily="34" charset="0"/>
                <a:ea typeface="Cambria" pitchFamily="34" charset="-122"/>
                <a:cs typeface="Cambria" pitchFamily="34" charset="-120"/>
              </a:rPr>
              <a:t>02</a:t>
            </a:r>
            <a:endParaRPr lang="en-US" sz="2200" dirty="0"/>
          </a:p>
        </p:txBody>
      </p:sp>
      <p:sp>
        <p:nvSpPr>
          <p:cNvPr id="9" name="Text 7"/>
          <p:cNvSpPr txBox="1"/>
          <p:nvPr/>
        </p:nvSpPr>
        <p:spPr>
          <a:xfrm>
            <a:off x="5532120" y="1417320"/>
            <a:ext cx="2926080" cy="640080"/>
          </a:xfrm>
          <a:prstGeom prst="rect">
            <a:avLst/>
          </a:prstGeom>
          <a:noFill/>
          <a:ln/>
        </p:spPr>
        <p:txBody>
          <a:bodyPr wrap="square" lIns="0" tIns="0" rIns="0" bIns="0" rtlCol="0" anchor="ctr"/>
          <a:lstStyle/>
          <a:p>
            <a:pPr indent="0" marL="0">
              <a:buNone/>
            </a:pPr>
            <a:r>
              <a:rPr lang="en-US" sz="1500" dirty="0">
                <a:solidFill>
                  <a:srgbClr val="1D2622"/>
                </a:solidFill>
                <a:latin typeface="Calibri" pitchFamily="34" charset="0"/>
                <a:ea typeface="Calibri" pitchFamily="34" charset="-122"/>
                <a:cs typeface="Calibri" pitchFamily="34" charset="-120"/>
              </a:rPr>
              <a:t>Problema y pregunta</a:t>
            </a:r>
            <a:endParaRPr lang="en-US" sz="1500" dirty="0"/>
          </a:p>
        </p:txBody>
      </p:sp>
      <p:sp>
        <p:nvSpPr>
          <p:cNvPr id="10" name="Shape 8"/>
          <p:cNvSpPr/>
          <p:nvPr/>
        </p:nvSpPr>
        <p:spPr>
          <a:xfrm>
            <a:off x="457200" y="2221992"/>
            <a:ext cx="3931920" cy="640080"/>
          </a:xfrm>
          <a:prstGeom prst="roundRect">
            <a:avLst>
              <a:gd name="adj" fmla="val 11429"/>
            </a:avLst>
          </a:prstGeom>
          <a:solidFill>
            <a:srgbClr val="F3F7F4"/>
          </a:solidFill>
          <a:ln w="12700">
            <a:solidFill>
              <a:srgbClr val="F3F7F4"/>
            </a:solidFill>
            <a:prstDash val="solid"/>
          </a:ln>
        </p:spPr>
      </p:sp>
      <p:sp>
        <p:nvSpPr>
          <p:cNvPr id="11" name="Text 9"/>
          <p:cNvSpPr txBox="1"/>
          <p:nvPr/>
        </p:nvSpPr>
        <p:spPr>
          <a:xfrm>
            <a:off x="640080" y="2221992"/>
            <a:ext cx="640080" cy="640080"/>
          </a:xfrm>
          <a:prstGeom prst="rect">
            <a:avLst/>
          </a:prstGeom>
          <a:noFill/>
          <a:ln/>
        </p:spPr>
        <p:txBody>
          <a:bodyPr wrap="square" lIns="0" tIns="0" rIns="0" bIns="0" rtlCol="0" anchor="ctr"/>
          <a:lstStyle/>
          <a:p>
            <a:pPr indent="0" marL="0">
              <a:buNone/>
            </a:pPr>
            <a:r>
              <a:rPr lang="en-US" sz="2200" b="1" dirty="0">
                <a:solidFill>
                  <a:srgbClr val="C4622D"/>
                </a:solidFill>
                <a:latin typeface="Cambria" pitchFamily="34" charset="0"/>
                <a:ea typeface="Cambria" pitchFamily="34" charset="-122"/>
                <a:cs typeface="Cambria" pitchFamily="34" charset="-120"/>
              </a:rPr>
              <a:t>03</a:t>
            </a:r>
            <a:endParaRPr lang="en-US" sz="2200" dirty="0"/>
          </a:p>
        </p:txBody>
      </p:sp>
      <p:sp>
        <p:nvSpPr>
          <p:cNvPr id="12" name="Text 10"/>
          <p:cNvSpPr txBox="1"/>
          <p:nvPr/>
        </p:nvSpPr>
        <p:spPr>
          <a:xfrm>
            <a:off x="1325880" y="2221992"/>
            <a:ext cx="2926080" cy="640080"/>
          </a:xfrm>
          <a:prstGeom prst="rect">
            <a:avLst/>
          </a:prstGeom>
          <a:noFill/>
          <a:ln/>
        </p:spPr>
        <p:txBody>
          <a:bodyPr wrap="square" lIns="0" tIns="0" rIns="0" bIns="0" rtlCol="0" anchor="ctr"/>
          <a:lstStyle/>
          <a:p>
            <a:pPr indent="0" marL="0">
              <a:buNone/>
            </a:pPr>
            <a:r>
              <a:rPr lang="en-US" sz="1500" dirty="0">
                <a:solidFill>
                  <a:srgbClr val="1D2622"/>
                </a:solidFill>
                <a:latin typeface="Calibri" pitchFamily="34" charset="0"/>
                <a:ea typeface="Calibri" pitchFamily="34" charset="-122"/>
                <a:cs typeface="Calibri" pitchFamily="34" charset="-120"/>
              </a:rPr>
              <a:t>Justificación y objetivos</a:t>
            </a:r>
            <a:endParaRPr lang="en-US" sz="1500" dirty="0"/>
          </a:p>
        </p:txBody>
      </p:sp>
      <p:sp>
        <p:nvSpPr>
          <p:cNvPr id="13" name="Shape 11"/>
          <p:cNvSpPr/>
          <p:nvPr/>
        </p:nvSpPr>
        <p:spPr>
          <a:xfrm>
            <a:off x="4663440" y="2221992"/>
            <a:ext cx="3931920" cy="640080"/>
          </a:xfrm>
          <a:prstGeom prst="roundRect">
            <a:avLst>
              <a:gd name="adj" fmla="val 11429"/>
            </a:avLst>
          </a:prstGeom>
          <a:solidFill>
            <a:srgbClr val="F3F7F4"/>
          </a:solidFill>
          <a:ln w="12700">
            <a:solidFill>
              <a:srgbClr val="F3F7F4"/>
            </a:solidFill>
            <a:prstDash val="solid"/>
          </a:ln>
        </p:spPr>
      </p:sp>
      <p:sp>
        <p:nvSpPr>
          <p:cNvPr id="14" name="Text 12"/>
          <p:cNvSpPr txBox="1"/>
          <p:nvPr/>
        </p:nvSpPr>
        <p:spPr>
          <a:xfrm>
            <a:off x="4846320" y="2221992"/>
            <a:ext cx="640080" cy="640080"/>
          </a:xfrm>
          <a:prstGeom prst="rect">
            <a:avLst/>
          </a:prstGeom>
          <a:noFill/>
          <a:ln/>
        </p:spPr>
        <p:txBody>
          <a:bodyPr wrap="square" lIns="0" tIns="0" rIns="0" bIns="0" rtlCol="0" anchor="ctr"/>
          <a:lstStyle/>
          <a:p>
            <a:pPr indent="0" marL="0">
              <a:buNone/>
            </a:pPr>
            <a:r>
              <a:rPr lang="en-US" sz="2200" b="1" dirty="0">
                <a:solidFill>
                  <a:srgbClr val="C4622D"/>
                </a:solidFill>
                <a:latin typeface="Cambria" pitchFamily="34" charset="0"/>
                <a:ea typeface="Cambria" pitchFamily="34" charset="-122"/>
                <a:cs typeface="Cambria" pitchFamily="34" charset="-120"/>
              </a:rPr>
              <a:t>04</a:t>
            </a:r>
            <a:endParaRPr lang="en-US" sz="2200" dirty="0"/>
          </a:p>
        </p:txBody>
      </p:sp>
      <p:sp>
        <p:nvSpPr>
          <p:cNvPr id="15" name="Text 13"/>
          <p:cNvSpPr txBox="1"/>
          <p:nvPr/>
        </p:nvSpPr>
        <p:spPr>
          <a:xfrm>
            <a:off x="5532120" y="2221992"/>
            <a:ext cx="2926080" cy="640080"/>
          </a:xfrm>
          <a:prstGeom prst="rect">
            <a:avLst/>
          </a:prstGeom>
          <a:noFill/>
          <a:ln/>
        </p:spPr>
        <p:txBody>
          <a:bodyPr wrap="square" lIns="0" tIns="0" rIns="0" bIns="0" rtlCol="0" anchor="ctr"/>
          <a:lstStyle/>
          <a:p>
            <a:pPr indent="0" marL="0">
              <a:buNone/>
            </a:pPr>
            <a:r>
              <a:rPr lang="en-US" sz="1500" dirty="0">
                <a:solidFill>
                  <a:srgbClr val="1D2622"/>
                </a:solidFill>
                <a:latin typeface="Calibri" pitchFamily="34" charset="0"/>
                <a:ea typeface="Calibri" pitchFamily="34" charset="-122"/>
                <a:cs typeface="Calibri" pitchFamily="34" charset="-120"/>
              </a:rPr>
              <a:t>Antecedentes y marco teórico</a:t>
            </a:r>
            <a:endParaRPr lang="en-US" sz="1500" dirty="0"/>
          </a:p>
        </p:txBody>
      </p:sp>
      <p:sp>
        <p:nvSpPr>
          <p:cNvPr id="16" name="Shape 14"/>
          <p:cNvSpPr/>
          <p:nvPr/>
        </p:nvSpPr>
        <p:spPr>
          <a:xfrm>
            <a:off x="457200" y="3026664"/>
            <a:ext cx="3931920" cy="640080"/>
          </a:xfrm>
          <a:prstGeom prst="roundRect">
            <a:avLst>
              <a:gd name="adj" fmla="val 11429"/>
            </a:avLst>
          </a:prstGeom>
          <a:solidFill>
            <a:srgbClr val="F3F7F4"/>
          </a:solidFill>
          <a:ln w="12700">
            <a:solidFill>
              <a:srgbClr val="F3F7F4"/>
            </a:solidFill>
            <a:prstDash val="solid"/>
          </a:ln>
        </p:spPr>
      </p:sp>
      <p:sp>
        <p:nvSpPr>
          <p:cNvPr id="17" name="Text 15"/>
          <p:cNvSpPr txBox="1"/>
          <p:nvPr/>
        </p:nvSpPr>
        <p:spPr>
          <a:xfrm>
            <a:off x="640080" y="3026664"/>
            <a:ext cx="640080" cy="640080"/>
          </a:xfrm>
          <a:prstGeom prst="rect">
            <a:avLst/>
          </a:prstGeom>
          <a:noFill/>
          <a:ln/>
        </p:spPr>
        <p:txBody>
          <a:bodyPr wrap="square" lIns="0" tIns="0" rIns="0" bIns="0" rtlCol="0" anchor="ctr"/>
          <a:lstStyle/>
          <a:p>
            <a:pPr indent="0" marL="0">
              <a:buNone/>
            </a:pPr>
            <a:r>
              <a:rPr lang="en-US" sz="2200" b="1" dirty="0">
                <a:solidFill>
                  <a:srgbClr val="C4622D"/>
                </a:solidFill>
                <a:latin typeface="Cambria" pitchFamily="34" charset="0"/>
                <a:ea typeface="Cambria" pitchFamily="34" charset="-122"/>
                <a:cs typeface="Cambria" pitchFamily="34" charset="-120"/>
              </a:rPr>
              <a:t>05</a:t>
            </a:r>
            <a:endParaRPr lang="en-US" sz="2200" dirty="0"/>
          </a:p>
        </p:txBody>
      </p:sp>
      <p:sp>
        <p:nvSpPr>
          <p:cNvPr id="18" name="Text 16"/>
          <p:cNvSpPr txBox="1"/>
          <p:nvPr/>
        </p:nvSpPr>
        <p:spPr>
          <a:xfrm>
            <a:off x="1325880" y="3026664"/>
            <a:ext cx="2926080" cy="640080"/>
          </a:xfrm>
          <a:prstGeom prst="rect">
            <a:avLst/>
          </a:prstGeom>
          <a:noFill/>
          <a:ln/>
        </p:spPr>
        <p:txBody>
          <a:bodyPr wrap="square" lIns="0" tIns="0" rIns="0" bIns="0" rtlCol="0" anchor="ctr"/>
          <a:lstStyle/>
          <a:p>
            <a:pPr indent="0" marL="0">
              <a:buNone/>
            </a:pPr>
            <a:r>
              <a:rPr lang="en-US" sz="1500" dirty="0">
                <a:solidFill>
                  <a:srgbClr val="1D2622"/>
                </a:solidFill>
                <a:latin typeface="Calibri" pitchFamily="34" charset="0"/>
                <a:ea typeface="Calibri" pitchFamily="34" charset="-122"/>
                <a:cs typeface="Calibri" pitchFamily="34" charset="-120"/>
              </a:rPr>
              <a:t>Marco legal y ambiental</a:t>
            </a:r>
            <a:endParaRPr lang="en-US" sz="1500" dirty="0"/>
          </a:p>
        </p:txBody>
      </p:sp>
      <p:sp>
        <p:nvSpPr>
          <p:cNvPr id="19" name="Shape 17"/>
          <p:cNvSpPr/>
          <p:nvPr/>
        </p:nvSpPr>
        <p:spPr>
          <a:xfrm>
            <a:off x="4663440" y="3026664"/>
            <a:ext cx="3931920" cy="640080"/>
          </a:xfrm>
          <a:prstGeom prst="roundRect">
            <a:avLst>
              <a:gd name="adj" fmla="val 11429"/>
            </a:avLst>
          </a:prstGeom>
          <a:solidFill>
            <a:srgbClr val="F3F7F4"/>
          </a:solidFill>
          <a:ln w="12700">
            <a:solidFill>
              <a:srgbClr val="F3F7F4"/>
            </a:solidFill>
            <a:prstDash val="solid"/>
          </a:ln>
        </p:spPr>
      </p:sp>
      <p:sp>
        <p:nvSpPr>
          <p:cNvPr id="20" name="Text 18"/>
          <p:cNvSpPr txBox="1"/>
          <p:nvPr/>
        </p:nvSpPr>
        <p:spPr>
          <a:xfrm>
            <a:off x="4846320" y="3026664"/>
            <a:ext cx="640080" cy="640080"/>
          </a:xfrm>
          <a:prstGeom prst="rect">
            <a:avLst/>
          </a:prstGeom>
          <a:noFill/>
          <a:ln/>
        </p:spPr>
        <p:txBody>
          <a:bodyPr wrap="square" lIns="0" tIns="0" rIns="0" bIns="0" rtlCol="0" anchor="ctr"/>
          <a:lstStyle/>
          <a:p>
            <a:pPr indent="0" marL="0">
              <a:buNone/>
            </a:pPr>
            <a:r>
              <a:rPr lang="en-US" sz="2200" b="1" dirty="0">
                <a:solidFill>
                  <a:srgbClr val="C4622D"/>
                </a:solidFill>
                <a:latin typeface="Cambria" pitchFamily="34" charset="0"/>
                <a:ea typeface="Cambria" pitchFamily="34" charset="-122"/>
                <a:cs typeface="Cambria" pitchFamily="34" charset="-120"/>
              </a:rPr>
              <a:t>06</a:t>
            </a:r>
            <a:endParaRPr lang="en-US" sz="2200" dirty="0"/>
          </a:p>
        </p:txBody>
      </p:sp>
      <p:sp>
        <p:nvSpPr>
          <p:cNvPr id="21" name="Text 19"/>
          <p:cNvSpPr txBox="1"/>
          <p:nvPr/>
        </p:nvSpPr>
        <p:spPr>
          <a:xfrm>
            <a:off x="5532120" y="3026664"/>
            <a:ext cx="2926080" cy="640080"/>
          </a:xfrm>
          <a:prstGeom prst="rect">
            <a:avLst/>
          </a:prstGeom>
          <a:noFill/>
          <a:ln/>
        </p:spPr>
        <p:txBody>
          <a:bodyPr wrap="square" lIns="0" tIns="0" rIns="0" bIns="0" rtlCol="0" anchor="ctr"/>
          <a:lstStyle/>
          <a:p>
            <a:pPr indent="0" marL="0">
              <a:buNone/>
            </a:pPr>
            <a:r>
              <a:rPr lang="en-US" sz="1500" dirty="0">
                <a:solidFill>
                  <a:srgbClr val="1D2622"/>
                </a:solidFill>
                <a:latin typeface="Calibri" pitchFamily="34" charset="0"/>
                <a:ea typeface="Calibri" pitchFamily="34" charset="-122"/>
                <a:cs typeface="Calibri" pitchFamily="34" charset="-120"/>
              </a:rPr>
              <a:t>Metodología</a:t>
            </a:r>
            <a:endParaRPr lang="en-US" sz="1500" dirty="0"/>
          </a:p>
        </p:txBody>
      </p:sp>
      <p:sp>
        <p:nvSpPr>
          <p:cNvPr id="22" name="Shape 20"/>
          <p:cNvSpPr/>
          <p:nvPr/>
        </p:nvSpPr>
        <p:spPr>
          <a:xfrm>
            <a:off x="457200" y="3831336"/>
            <a:ext cx="3931920" cy="640080"/>
          </a:xfrm>
          <a:prstGeom prst="roundRect">
            <a:avLst>
              <a:gd name="adj" fmla="val 11429"/>
            </a:avLst>
          </a:prstGeom>
          <a:solidFill>
            <a:srgbClr val="F3F7F4"/>
          </a:solidFill>
          <a:ln w="12700">
            <a:solidFill>
              <a:srgbClr val="F3F7F4"/>
            </a:solidFill>
            <a:prstDash val="solid"/>
          </a:ln>
        </p:spPr>
      </p:sp>
      <p:sp>
        <p:nvSpPr>
          <p:cNvPr id="23" name="Text 21"/>
          <p:cNvSpPr txBox="1"/>
          <p:nvPr/>
        </p:nvSpPr>
        <p:spPr>
          <a:xfrm>
            <a:off x="640080" y="3831336"/>
            <a:ext cx="640080" cy="640080"/>
          </a:xfrm>
          <a:prstGeom prst="rect">
            <a:avLst/>
          </a:prstGeom>
          <a:noFill/>
          <a:ln/>
        </p:spPr>
        <p:txBody>
          <a:bodyPr wrap="square" lIns="0" tIns="0" rIns="0" bIns="0" rtlCol="0" anchor="ctr"/>
          <a:lstStyle/>
          <a:p>
            <a:pPr indent="0" marL="0">
              <a:buNone/>
            </a:pPr>
            <a:r>
              <a:rPr lang="en-US" sz="2200" b="1" dirty="0">
                <a:solidFill>
                  <a:srgbClr val="C4622D"/>
                </a:solidFill>
                <a:latin typeface="Cambria" pitchFamily="34" charset="0"/>
                <a:ea typeface="Cambria" pitchFamily="34" charset="-122"/>
                <a:cs typeface="Cambria" pitchFamily="34" charset="-120"/>
              </a:rPr>
              <a:t>07</a:t>
            </a:r>
            <a:endParaRPr lang="en-US" sz="2200" dirty="0"/>
          </a:p>
        </p:txBody>
      </p:sp>
      <p:sp>
        <p:nvSpPr>
          <p:cNvPr id="24" name="Text 22"/>
          <p:cNvSpPr txBox="1"/>
          <p:nvPr/>
        </p:nvSpPr>
        <p:spPr>
          <a:xfrm>
            <a:off x="1325880" y="3831336"/>
            <a:ext cx="2926080" cy="640080"/>
          </a:xfrm>
          <a:prstGeom prst="rect">
            <a:avLst/>
          </a:prstGeom>
          <a:noFill/>
          <a:ln/>
        </p:spPr>
        <p:txBody>
          <a:bodyPr wrap="square" lIns="0" tIns="0" rIns="0" bIns="0" rtlCol="0" anchor="ctr"/>
          <a:lstStyle/>
          <a:p>
            <a:pPr indent="0" marL="0">
              <a:buNone/>
            </a:pPr>
            <a:r>
              <a:rPr lang="en-US" sz="1500" dirty="0">
                <a:solidFill>
                  <a:srgbClr val="1D2622"/>
                </a:solidFill>
                <a:latin typeface="Calibri" pitchFamily="34" charset="0"/>
                <a:ea typeface="Calibri" pitchFamily="34" charset="-122"/>
                <a:cs typeface="Calibri" pitchFamily="34" charset="-120"/>
              </a:rPr>
              <a:t>Cronograma y presupuesto</a:t>
            </a:r>
            <a:endParaRPr lang="en-US" sz="1500" dirty="0"/>
          </a:p>
        </p:txBody>
      </p:sp>
      <p:sp>
        <p:nvSpPr>
          <p:cNvPr id="25" name="Shape 23"/>
          <p:cNvSpPr/>
          <p:nvPr/>
        </p:nvSpPr>
        <p:spPr>
          <a:xfrm>
            <a:off x="4663440" y="3831336"/>
            <a:ext cx="3931920" cy="640080"/>
          </a:xfrm>
          <a:prstGeom prst="roundRect">
            <a:avLst>
              <a:gd name="adj" fmla="val 11429"/>
            </a:avLst>
          </a:prstGeom>
          <a:solidFill>
            <a:srgbClr val="F3F7F4"/>
          </a:solidFill>
          <a:ln w="12700">
            <a:solidFill>
              <a:srgbClr val="F3F7F4"/>
            </a:solidFill>
            <a:prstDash val="solid"/>
          </a:ln>
        </p:spPr>
      </p:sp>
      <p:sp>
        <p:nvSpPr>
          <p:cNvPr id="26" name="Text 24"/>
          <p:cNvSpPr txBox="1"/>
          <p:nvPr/>
        </p:nvSpPr>
        <p:spPr>
          <a:xfrm>
            <a:off x="4846320" y="3831336"/>
            <a:ext cx="640080" cy="640080"/>
          </a:xfrm>
          <a:prstGeom prst="rect">
            <a:avLst/>
          </a:prstGeom>
          <a:noFill/>
          <a:ln/>
        </p:spPr>
        <p:txBody>
          <a:bodyPr wrap="square" lIns="0" tIns="0" rIns="0" bIns="0" rtlCol="0" anchor="ctr"/>
          <a:lstStyle/>
          <a:p>
            <a:pPr indent="0" marL="0">
              <a:buNone/>
            </a:pPr>
            <a:r>
              <a:rPr lang="en-US" sz="2200" b="1" dirty="0">
                <a:solidFill>
                  <a:srgbClr val="C4622D"/>
                </a:solidFill>
                <a:latin typeface="Cambria" pitchFamily="34" charset="0"/>
                <a:ea typeface="Cambria" pitchFamily="34" charset="-122"/>
                <a:cs typeface="Cambria" pitchFamily="34" charset="-120"/>
              </a:rPr>
              <a:t>08</a:t>
            </a:r>
            <a:endParaRPr lang="en-US" sz="2200" dirty="0"/>
          </a:p>
        </p:txBody>
      </p:sp>
      <p:sp>
        <p:nvSpPr>
          <p:cNvPr id="27" name="Text 25"/>
          <p:cNvSpPr txBox="1"/>
          <p:nvPr/>
        </p:nvSpPr>
        <p:spPr>
          <a:xfrm>
            <a:off x="5532120" y="3831336"/>
            <a:ext cx="2926080" cy="640080"/>
          </a:xfrm>
          <a:prstGeom prst="rect">
            <a:avLst/>
          </a:prstGeom>
          <a:noFill/>
          <a:ln/>
        </p:spPr>
        <p:txBody>
          <a:bodyPr wrap="square" lIns="0" tIns="0" rIns="0" bIns="0" rtlCol="0" anchor="ctr"/>
          <a:lstStyle/>
          <a:p>
            <a:pPr indent="0" marL="0">
              <a:buNone/>
            </a:pPr>
            <a:r>
              <a:rPr lang="en-US" sz="1500" dirty="0">
                <a:solidFill>
                  <a:srgbClr val="1D2622"/>
                </a:solidFill>
                <a:latin typeface="Calibri" pitchFamily="34" charset="0"/>
                <a:ea typeface="Calibri" pitchFamily="34" charset="-122"/>
                <a:cs typeface="Calibri" pitchFamily="34" charset="-120"/>
              </a:rPr>
              <a:t>Resultados esperados</a:t>
            </a:r>
            <a:endParaRPr lang="en-US" sz="1500" dirty="0"/>
          </a:p>
        </p:txBody>
      </p:sp>
      <p:sp>
        <p:nvSpPr>
          <p:cNvPr id="28" name="Text 26"/>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E6B65"/>
                </a:solidFill>
                <a:latin typeface="Calibri" pitchFamily="34" charset="0"/>
                <a:ea typeface="Calibri" pitchFamily="34" charset="-122"/>
                <a:cs typeface="Calibri" pitchFamily="34" charset="-120"/>
              </a:rPr>
              <a:t>Parque Temático El Cacique · Cácota, N. de S.</a:t>
            </a:r>
            <a:endParaRPr lang="en-US" sz="900" dirty="0"/>
          </a:p>
        </p:txBody>
      </p:sp>
      <p:sp>
        <p:nvSpPr>
          <p:cNvPr id="29" name="Text 27"/>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E6B65"/>
                </a:solidFill>
                <a:latin typeface="Calibri" pitchFamily="34" charset="0"/>
                <a:ea typeface="Calibri" pitchFamily="34" charset="-122"/>
                <a:cs typeface="Calibri" pitchFamily="34" charset="-120"/>
              </a:rPr>
              <a:t>02 / 19</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303520" y="0"/>
            <a:ext cx="3840480" cy="5143500"/>
          </a:xfrm>
          <a:prstGeom prst="rect">
            <a:avLst/>
          </a:prstGeom>
        </p:spPr>
      </p:pic>
      <p:sp>
        <p:nvSpPr>
          <p:cNvPr id="3" name="Text 0"/>
          <p:cNvSpPr txBox="1"/>
          <p:nvPr/>
        </p:nvSpPr>
        <p:spPr>
          <a:xfrm>
            <a:off x="5486400" y="4709160"/>
            <a:ext cx="3474720"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Foto de campo · 18 ene 2025</a:t>
            </a:r>
            <a:endParaRPr lang="en-US" sz="900" dirty="0"/>
          </a:p>
        </p:txBody>
      </p:sp>
      <p:sp>
        <p:nvSpPr>
          <p:cNvPr id="4" name="Text 1"/>
          <p:cNvSpPr txBox="1"/>
          <p:nvPr/>
        </p:nvSpPr>
        <p:spPr>
          <a:xfrm>
            <a:off x="457200" y="320040"/>
            <a:ext cx="5486400" cy="228600"/>
          </a:xfrm>
          <a:prstGeom prst="rect">
            <a:avLst/>
          </a:prstGeom>
          <a:noFill/>
          <a:ln/>
        </p:spPr>
        <p:txBody>
          <a:bodyPr wrap="square" lIns="0" tIns="0" rIns="0" bIns="0" rtlCol="0" anchor="ctr"/>
          <a:lstStyle/>
          <a:p>
            <a:pPr indent="0" marL="0">
              <a:buNone/>
            </a:pPr>
            <a:r>
              <a:rPr lang="en-US" sz="1000" b="1" spc="300" kern="0" dirty="0">
                <a:solidFill>
                  <a:srgbClr val="C4622D"/>
                </a:solidFill>
                <a:latin typeface="Calibri" pitchFamily="34" charset="0"/>
                <a:ea typeface="Calibri" pitchFamily="34" charset="-122"/>
                <a:cs typeface="Calibri" pitchFamily="34" charset="-120"/>
              </a:rPr>
              <a:t>01 · EL PROYECTO</a:t>
            </a:r>
            <a:endParaRPr lang="en-US" sz="1000" dirty="0"/>
          </a:p>
        </p:txBody>
      </p:sp>
      <p:sp>
        <p:nvSpPr>
          <p:cNvPr id="5" name="Text 2"/>
          <p:cNvSpPr txBox="1"/>
          <p:nvPr/>
        </p:nvSpPr>
        <p:spPr>
          <a:xfrm>
            <a:off x="457200" y="566928"/>
            <a:ext cx="4663440" cy="640080"/>
          </a:xfrm>
          <a:prstGeom prst="rect">
            <a:avLst/>
          </a:prstGeom>
          <a:noFill/>
          <a:ln/>
        </p:spPr>
        <p:txBody>
          <a:bodyPr wrap="square" lIns="0" tIns="0" rIns="0" bIns="0" rtlCol="0" anchor="t"/>
          <a:lstStyle/>
          <a:p>
            <a:pPr indent="0" marL="0">
              <a:buNone/>
            </a:pPr>
            <a:r>
              <a:rPr lang="en-US" sz="2800" b="1" dirty="0">
                <a:solidFill>
                  <a:srgbClr val="163A2B"/>
                </a:solidFill>
                <a:latin typeface="Cambria" pitchFamily="34" charset="0"/>
                <a:ea typeface="Cambria" pitchFamily="34" charset="-122"/>
                <a:cs typeface="Cambria" pitchFamily="34" charset="-120"/>
              </a:rPr>
              <a:t>Un parque en terrazas sobre la ladera</a:t>
            </a:r>
            <a:endParaRPr lang="en-US" sz="2800" dirty="0"/>
          </a:p>
        </p:txBody>
      </p:sp>
      <p:sp>
        <p:nvSpPr>
          <p:cNvPr id="6" name="Text 3"/>
          <p:cNvSpPr txBox="1"/>
          <p:nvPr/>
        </p:nvSpPr>
        <p:spPr>
          <a:xfrm>
            <a:off x="457200" y="1572768"/>
            <a:ext cx="4572000" cy="685800"/>
          </a:xfrm>
          <a:prstGeom prst="rect">
            <a:avLst/>
          </a:prstGeom>
          <a:noFill/>
          <a:ln/>
        </p:spPr>
        <p:txBody>
          <a:bodyPr wrap="square" lIns="0" tIns="0" rIns="0" bIns="0" rtlCol="0" anchor="ctr"/>
          <a:lstStyle/>
          <a:p>
            <a:pPr indent="0" marL="0">
              <a:buNone/>
            </a:pPr>
            <a:r>
              <a:rPr lang="en-US" sz="1250" dirty="0">
                <a:solidFill>
                  <a:srgbClr val="5E6B65"/>
                </a:solidFill>
                <a:latin typeface="Calibri" pitchFamily="34" charset="0"/>
                <a:ea typeface="Calibri" pitchFamily="34" charset="-122"/>
                <a:cs typeface="Calibri" pitchFamily="34" charset="-120"/>
              </a:rPr>
              <a:t>Espacio ecoturístico y cultural con senderos, miradores, tótems, carpas artesanales y un área de servicios, en el costado norte del casco urbano.</a:t>
            </a:r>
            <a:endParaRPr lang="en-US" sz="1250" dirty="0"/>
          </a:p>
        </p:txBody>
      </p:sp>
      <p:sp>
        <p:nvSpPr>
          <p:cNvPr id="7" name="Shape 4"/>
          <p:cNvSpPr/>
          <p:nvPr/>
        </p:nvSpPr>
        <p:spPr>
          <a:xfrm>
            <a:off x="457200" y="2423160"/>
            <a:ext cx="2194560" cy="1005840"/>
          </a:xfrm>
          <a:prstGeom prst="roundRect">
            <a:avLst>
              <a:gd name="adj" fmla="val 7273"/>
            </a:avLst>
          </a:prstGeom>
          <a:solidFill>
            <a:srgbClr val="DCEADF"/>
          </a:solidFill>
          <a:ln w="12700">
            <a:solidFill>
              <a:srgbClr val="DCEADF"/>
            </a:solidFill>
            <a:prstDash val="solid"/>
          </a:ln>
        </p:spPr>
      </p:sp>
      <p:sp>
        <p:nvSpPr>
          <p:cNvPr id="8" name="Text 5"/>
          <p:cNvSpPr txBox="1"/>
          <p:nvPr/>
        </p:nvSpPr>
        <p:spPr>
          <a:xfrm>
            <a:off x="640080" y="2514600"/>
            <a:ext cx="1920240" cy="502920"/>
          </a:xfrm>
          <a:prstGeom prst="rect">
            <a:avLst/>
          </a:prstGeom>
          <a:noFill/>
          <a:ln/>
        </p:spPr>
        <p:txBody>
          <a:bodyPr wrap="square" lIns="0" tIns="0" rIns="0" bIns="0" rtlCol="0" anchor="ctr"/>
          <a:lstStyle/>
          <a:p>
            <a:pPr indent="0" marL="0">
              <a:buNone/>
            </a:pPr>
            <a:r>
              <a:rPr lang="en-US" sz="2800" b="1" dirty="0">
                <a:solidFill>
                  <a:srgbClr val="163A2B"/>
                </a:solidFill>
                <a:latin typeface="Cambria" pitchFamily="34" charset="0"/>
                <a:ea typeface="Cambria" pitchFamily="34" charset="-122"/>
                <a:cs typeface="Cambria" pitchFamily="34" charset="-120"/>
              </a:rPr>
              <a:t>6.800</a:t>
            </a:r>
            <a:endParaRPr lang="en-US" sz="2800" dirty="0"/>
          </a:p>
        </p:txBody>
      </p:sp>
      <p:sp>
        <p:nvSpPr>
          <p:cNvPr id="9" name="Text 6"/>
          <p:cNvSpPr txBox="1"/>
          <p:nvPr/>
        </p:nvSpPr>
        <p:spPr>
          <a:xfrm>
            <a:off x="640080" y="3017520"/>
            <a:ext cx="1920240" cy="320040"/>
          </a:xfrm>
          <a:prstGeom prst="rect">
            <a:avLst/>
          </a:prstGeom>
          <a:noFill/>
          <a:ln/>
        </p:spPr>
        <p:txBody>
          <a:bodyPr wrap="square" lIns="0" tIns="0" rIns="0" bIns="0" rtlCol="0" anchor="ctr"/>
          <a:lstStyle/>
          <a:p>
            <a:pPr indent="0" marL="0">
              <a:buNone/>
            </a:pPr>
            <a:r>
              <a:rPr lang="en-US" sz="1100" dirty="0">
                <a:solidFill>
                  <a:srgbClr val="5E6B65"/>
                </a:solidFill>
                <a:latin typeface="Calibri" pitchFamily="34" charset="0"/>
                <a:ea typeface="Calibri" pitchFamily="34" charset="-122"/>
                <a:cs typeface="Calibri" pitchFamily="34" charset="-120"/>
              </a:rPr>
              <a:t>m² de área del proyecto</a:t>
            </a:r>
            <a:endParaRPr lang="en-US" sz="1100" dirty="0"/>
          </a:p>
        </p:txBody>
      </p:sp>
      <p:sp>
        <p:nvSpPr>
          <p:cNvPr id="10" name="Shape 7"/>
          <p:cNvSpPr/>
          <p:nvPr/>
        </p:nvSpPr>
        <p:spPr>
          <a:xfrm>
            <a:off x="2834640" y="2423160"/>
            <a:ext cx="2194560" cy="1005840"/>
          </a:xfrm>
          <a:prstGeom prst="roundRect">
            <a:avLst>
              <a:gd name="adj" fmla="val 7273"/>
            </a:avLst>
          </a:prstGeom>
          <a:solidFill>
            <a:srgbClr val="DCEADF"/>
          </a:solidFill>
          <a:ln w="12700">
            <a:solidFill>
              <a:srgbClr val="DCEADF"/>
            </a:solidFill>
            <a:prstDash val="solid"/>
          </a:ln>
        </p:spPr>
      </p:sp>
      <p:sp>
        <p:nvSpPr>
          <p:cNvPr id="11" name="Text 8"/>
          <p:cNvSpPr txBox="1"/>
          <p:nvPr/>
        </p:nvSpPr>
        <p:spPr>
          <a:xfrm>
            <a:off x="3017520" y="2514600"/>
            <a:ext cx="1920240" cy="502920"/>
          </a:xfrm>
          <a:prstGeom prst="rect">
            <a:avLst/>
          </a:prstGeom>
          <a:noFill/>
          <a:ln/>
        </p:spPr>
        <p:txBody>
          <a:bodyPr wrap="square" lIns="0" tIns="0" rIns="0" bIns="0" rtlCol="0" anchor="ctr"/>
          <a:lstStyle/>
          <a:p>
            <a:pPr indent="0" marL="0">
              <a:buNone/>
            </a:pPr>
            <a:r>
              <a:rPr lang="en-US" sz="2800" b="1" dirty="0">
                <a:solidFill>
                  <a:srgbClr val="163A2B"/>
                </a:solidFill>
                <a:latin typeface="Cambria" pitchFamily="34" charset="0"/>
                <a:ea typeface="Cambria" pitchFamily="34" charset="-122"/>
                <a:cs typeface="Cambria" pitchFamily="34" charset="-120"/>
              </a:rPr>
              <a:t>2.437</a:t>
            </a:r>
            <a:endParaRPr lang="en-US" sz="2800" dirty="0"/>
          </a:p>
        </p:txBody>
      </p:sp>
      <p:sp>
        <p:nvSpPr>
          <p:cNvPr id="12" name="Text 9"/>
          <p:cNvSpPr txBox="1"/>
          <p:nvPr/>
        </p:nvSpPr>
        <p:spPr>
          <a:xfrm>
            <a:off x="3017520" y="3017520"/>
            <a:ext cx="1920240" cy="320040"/>
          </a:xfrm>
          <a:prstGeom prst="rect">
            <a:avLst/>
          </a:prstGeom>
          <a:noFill/>
          <a:ln/>
        </p:spPr>
        <p:txBody>
          <a:bodyPr wrap="square" lIns="0" tIns="0" rIns="0" bIns="0" rtlCol="0" anchor="ctr"/>
          <a:lstStyle/>
          <a:p>
            <a:pPr indent="0" marL="0">
              <a:buNone/>
            </a:pPr>
            <a:r>
              <a:rPr lang="en-US" sz="1100" dirty="0">
                <a:solidFill>
                  <a:srgbClr val="5E6B65"/>
                </a:solidFill>
                <a:latin typeface="Calibri" pitchFamily="34" charset="0"/>
                <a:ea typeface="Calibri" pitchFamily="34" charset="-122"/>
                <a:cs typeface="Calibri" pitchFamily="34" charset="-120"/>
              </a:rPr>
              <a:t>m s. n. m. de altitud</a:t>
            </a:r>
            <a:endParaRPr lang="en-US" sz="1100" dirty="0"/>
          </a:p>
        </p:txBody>
      </p:sp>
      <p:sp>
        <p:nvSpPr>
          <p:cNvPr id="13" name="Shape 10"/>
          <p:cNvSpPr/>
          <p:nvPr/>
        </p:nvSpPr>
        <p:spPr>
          <a:xfrm>
            <a:off x="457200" y="3520440"/>
            <a:ext cx="2194560" cy="1005840"/>
          </a:xfrm>
          <a:prstGeom prst="roundRect">
            <a:avLst>
              <a:gd name="adj" fmla="val 7273"/>
            </a:avLst>
          </a:prstGeom>
          <a:solidFill>
            <a:srgbClr val="DCEADF"/>
          </a:solidFill>
          <a:ln w="12700">
            <a:solidFill>
              <a:srgbClr val="DCEADF"/>
            </a:solidFill>
            <a:prstDash val="solid"/>
          </a:ln>
        </p:spPr>
      </p:sp>
      <p:sp>
        <p:nvSpPr>
          <p:cNvPr id="14" name="Text 11"/>
          <p:cNvSpPr txBox="1"/>
          <p:nvPr/>
        </p:nvSpPr>
        <p:spPr>
          <a:xfrm>
            <a:off x="640080" y="3611880"/>
            <a:ext cx="1920240" cy="502920"/>
          </a:xfrm>
          <a:prstGeom prst="rect">
            <a:avLst/>
          </a:prstGeom>
          <a:noFill/>
          <a:ln/>
        </p:spPr>
        <p:txBody>
          <a:bodyPr wrap="square" lIns="0" tIns="0" rIns="0" bIns="0" rtlCol="0" anchor="ctr"/>
          <a:lstStyle/>
          <a:p>
            <a:pPr indent="0" marL="0">
              <a:buNone/>
            </a:pPr>
            <a:r>
              <a:rPr lang="en-US" sz="2800" b="1" dirty="0">
                <a:solidFill>
                  <a:srgbClr val="163A2B"/>
                </a:solidFill>
                <a:latin typeface="Cambria" pitchFamily="34" charset="0"/>
                <a:ea typeface="Cambria" pitchFamily="34" charset="-122"/>
                <a:cs typeface="Cambria" pitchFamily="34" charset="-120"/>
              </a:rPr>
              <a:t>15–20 %</a:t>
            </a:r>
            <a:endParaRPr lang="en-US" sz="2800" dirty="0"/>
          </a:p>
        </p:txBody>
      </p:sp>
      <p:sp>
        <p:nvSpPr>
          <p:cNvPr id="15" name="Text 12"/>
          <p:cNvSpPr txBox="1"/>
          <p:nvPr/>
        </p:nvSpPr>
        <p:spPr>
          <a:xfrm>
            <a:off x="640080" y="4114800"/>
            <a:ext cx="1920240" cy="320040"/>
          </a:xfrm>
          <a:prstGeom prst="rect">
            <a:avLst/>
          </a:prstGeom>
          <a:noFill/>
          <a:ln/>
        </p:spPr>
        <p:txBody>
          <a:bodyPr wrap="square" lIns="0" tIns="0" rIns="0" bIns="0" rtlCol="0" anchor="ctr"/>
          <a:lstStyle/>
          <a:p>
            <a:pPr indent="0" marL="0">
              <a:buNone/>
            </a:pPr>
            <a:r>
              <a:rPr lang="en-US" sz="1100" dirty="0">
                <a:solidFill>
                  <a:srgbClr val="5E6B65"/>
                </a:solidFill>
                <a:latin typeface="Calibri" pitchFamily="34" charset="0"/>
                <a:ea typeface="Calibri" pitchFamily="34" charset="-122"/>
                <a:cs typeface="Calibri" pitchFamily="34" charset="-120"/>
              </a:rPr>
              <a:t>pendiente del lote</a:t>
            </a:r>
            <a:endParaRPr lang="en-US" sz="1100" dirty="0"/>
          </a:p>
        </p:txBody>
      </p:sp>
      <p:sp>
        <p:nvSpPr>
          <p:cNvPr id="16" name="Shape 13"/>
          <p:cNvSpPr/>
          <p:nvPr/>
        </p:nvSpPr>
        <p:spPr>
          <a:xfrm>
            <a:off x="2834640" y="3520440"/>
            <a:ext cx="2194560" cy="1005840"/>
          </a:xfrm>
          <a:prstGeom prst="roundRect">
            <a:avLst>
              <a:gd name="adj" fmla="val 7273"/>
            </a:avLst>
          </a:prstGeom>
          <a:solidFill>
            <a:srgbClr val="DCEADF"/>
          </a:solidFill>
          <a:ln w="12700">
            <a:solidFill>
              <a:srgbClr val="DCEADF"/>
            </a:solidFill>
            <a:prstDash val="solid"/>
          </a:ln>
        </p:spPr>
      </p:sp>
      <p:sp>
        <p:nvSpPr>
          <p:cNvPr id="17" name="Text 14"/>
          <p:cNvSpPr txBox="1"/>
          <p:nvPr/>
        </p:nvSpPr>
        <p:spPr>
          <a:xfrm>
            <a:off x="3017520" y="3611880"/>
            <a:ext cx="1920240" cy="502920"/>
          </a:xfrm>
          <a:prstGeom prst="rect">
            <a:avLst/>
          </a:prstGeom>
          <a:noFill/>
          <a:ln/>
        </p:spPr>
        <p:txBody>
          <a:bodyPr wrap="square" lIns="0" tIns="0" rIns="0" bIns="0" rtlCol="0" anchor="ctr"/>
          <a:lstStyle/>
          <a:p>
            <a:pPr indent="0" marL="0">
              <a:buNone/>
            </a:pPr>
            <a:r>
              <a:rPr lang="en-US" sz="2800" b="1" dirty="0">
                <a:solidFill>
                  <a:srgbClr val="163A2B"/>
                </a:solidFill>
                <a:latin typeface="Cambria" pitchFamily="34" charset="0"/>
                <a:ea typeface="Cambria" pitchFamily="34" charset="-122"/>
                <a:cs typeface="Cambria" pitchFamily="34" charset="-120"/>
              </a:rPr>
              <a:t>0,30</a:t>
            </a:r>
            <a:endParaRPr lang="en-US" sz="2800" dirty="0"/>
          </a:p>
        </p:txBody>
      </p:sp>
      <p:sp>
        <p:nvSpPr>
          <p:cNvPr id="18" name="Text 15"/>
          <p:cNvSpPr txBox="1"/>
          <p:nvPr/>
        </p:nvSpPr>
        <p:spPr>
          <a:xfrm>
            <a:off x="3017520" y="4114800"/>
            <a:ext cx="1920240" cy="320040"/>
          </a:xfrm>
          <a:prstGeom prst="rect">
            <a:avLst/>
          </a:prstGeom>
          <a:noFill/>
          <a:ln/>
        </p:spPr>
        <p:txBody>
          <a:bodyPr wrap="square" lIns="0" tIns="0" rIns="0" bIns="0" rtlCol="0" anchor="ctr"/>
          <a:lstStyle/>
          <a:p>
            <a:pPr indent="0" marL="0">
              <a:buNone/>
            </a:pPr>
            <a:r>
              <a:rPr lang="en-US" sz="1100" dirty="0">
                <a:solidFill>
                  <a:srgbClr val="5E6B65"/>
                </a:solidFill>
                <a:latin typeface="Calibri" pitchFamily="34" charset="0"/>
                <a:ea typeface="Calibri" pitchFamily="34" charset="-122"/>
                <a:cs typeface="Calibri" pitchFamily="34" charset="-120"/>
              </a:rPr>
              <a:t>Aa · amenaza sísmica alta</a:t>
            </a:r>
            <a:endParaRPr lang="en-US" sz="1100" dirty="0"/>
          </a:p>
        </p:txBody>
      </p:sp>
      <p:sp>
        <p:nvSpPr>
          <p:cNvPr id="19" name="Text 16"/>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E6B65"/>
                </a:solidFill>
                <a:latin typeface="Calibri" pitchFamily="34" charset="0"/>
                <a:ea typeface="Calibri" pitchFamily="34" charset="-122"/>
                <a:cs typeface="Calibri" pitchFamily="34" charset="-120"/>
              </a:rPr>
              <a:t>Parque Temático El Cacique · Cácota, N. de S.</a:t>
            </a:r>
            <a:endParaRPr lang="en-US" sz="900" dirty="0"/>
          </a:p>
        </p:txBody>
      </p:sp>
      <p:sp>
        <p:nvSpPr>
          <p:cNvPr id="20" name="Text 17"/>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E6B65"/>
                </a:solidFill>
                <a:latin typeface="Calibri" pitchFamily="34" charset="0"/>
                <a:ea typeface="Calibri" pitchFamily="34" charset="-122"/>
                <a:cs typeface="Calibri" pitchFamily="34" charset="-120"/>
              </a:rPr>
              <a:t>03 / 19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28600"/>
          </a:xfrm>
          <a:prstGeom prst="rect">
            <a:avLst/>
          </a:prstGeom>
          <a:noFill/>
          <a:ln/>
        </p:spPr>
        <p:txBody>
          <a:bodyPr wrap="square" lIns="0" tIns="0" rIns="0" bIns="0" rtlCol="0" anchor="ctr"/>
          <a:lstStyle/>
          <a:p>
            <a:pPr indent="0" marL="0">
              <a:buNone/>
            </a:pPr>
            <a:r>
              <a:rPr lang="en-US" sz="1000" b="1" spc="300" kern="0" dirty="0">
                <a:solidFill>
                  <a:srgbClr val="C4622D"/>
                </a:solidFill>
                <a:latin typeface="Calibri" pitchFamily="34" charset="0"/>
                <a:ea typeface="Calibri" pitchFamily="34" charset="-122"/>
                <a:cs typeface="Calibri" pitchFamily="34" charset="-120"/>
              </a:rPr>
              <a:t>01 · MARCO CONTEXTUAL</a:t>
            </a:r>
            <a:endParaRPr lang="en-US" sz="1000" dirty="0"/>
          </a:p>
        </p:txBody>
      </p:sp>
      <p:sp>
        <p:nvSpPr>
          <p:cNvPr id="3" name="Text 1"/>
          <p:cNvSpPr txBox="1"/>
          <p:nvPr/>
        </p:nvSpPr>
        <p:spPr>
          <a:xfrm>
            <a:off x="457200" y="566928"/>
            <a:ext cx="8229600" cy="640080"/>
          </a:xfrm>
          <a:prstGeom prst="rect">
            <a:avLst/>
          </a:prstGeom>
          <a:noFill/>
          <a:ln/>
        </p:spPr>
        <p:txBody>
          <a:bodyPr wrap="square" lIns="0" tIns="0" rIns="0" bIns="0" rtlCol="0" anchor="t"/>
          <a:lstStyle/>
          <a:p>
            <a:pPr indent="0" marL="0">
              <a:buNone/>
            </a:pPr>
            <a:r>
              <a:rPr lang="en-US" sz="2800" b="1" dirty="0">
                <a:solidFill>
                  <a:srgbClr val="163A2B"/>
                </a:solidFill>
                <a:latin typeface="Cambria" pitchFamily="34" charset="0"/>
                <a:ea typeface="Cambria" pitchFamily="34" charset="-122"/>
                <a:cs typeface="Cambria" pitchFamily="34" charset="-120"/>
              </a:rPr>
              <a:t>¿Dónde está y por qué allí?</a:t>
            </a:r>
            <a:endParaRPr lang="en-US" sz="2800" dirty="0"/>
          </a:p>
        </p:txBody>
      </p:sp>
      <p:pic>
        <p:nvPicPr>
          <p:cNvPr id="4" name="Image 0" descr="preencoded.png">    </p:cNvPr>
          <p:cNvPicPr>
            <a:picLocks noChangeAspect="1"/>
          </p:cNvPicPr>
          <p:nvPr/>
        </p:nvPicPr>
        <p:blipFill>
          <a:blip r:embed="rId1"/>
          <a:stretch>
            <a:fillRect/>
          </a:stretch>
        </p:blipFill>
        <p:spPr>
          <a:xfrm>
            <a:off x="457200" y="1325880"/>
            <a:ext cx="4754880" cy="2670048"/>
          </a:xfrm>
          <a:prstGeom prst="rect">
            <a:avLst/>
          </a:prstGeom>
        </p:spPr>
      </p:pic>
      <p:sp>
        <p:nvSpPr>
          <p:cNvPr id="5" name="Text 2"/>
          <p:cNvSpPr txBox="1"/>
          <p:nvPr/>
        </p:nvSpPr>
        <p:spPr>
          <a:xfrm>
            <a:off x="457200" y="4041648"/>
            <a:ext cx="4754880" cy="228600"/>
          </a:xfrm>
          <a:prstGeom prst="rect">
            <a:avLst/>
          </a:prstGeom>
          <a:noFill/>
          <a:ln/>
        </p:spPr>
        <p:txBody>
          <a:bodyPr wrap="square" lIns="0" tIns="0" rIns="0" bIns="0" rtlCol="0" anchor="ctr"/>
          <a:lstStyle/>
          <a:p>
            <a:pPr indent="0" marL="0">
              <a:buNone/>
            </a:pPr>
            <a:r>
              <a:rPr lang="en-US" sz="900" i="1" dirty="0">
                <a:solidFill>
                  <a:srgbClr val="5E6B65"/>
                </a:solidFill>
                <a:latin typeface="Calibri" pitchFamily="34" charset="0"/>
                <a:ea typeface="Calibri" pitchFamily="34" charset="-122"/>
                <a:cs typeface="Calibri" pitchFamily="34" charset="-120"/>
              </a:rPr>
              <a:t>Predio delimitado en naranja · Google Earth Pro (imagen © Airbus, 2022)</a:t>
            </a:r>
            <a:endParaRPr lang="en-US" sz="900" dirty="0"/>
          </a:p>
        </p:txBody>
      </p:sp>
      <p:pic>
        <p:nvPicPr>
          <p:cNvPr id="6" name="Image 1" descr="preencoded.png">    </p:cNvPr>
          <p:cNvPicPr>
            <a:picLocks noChangeAspect="1"/>
          </p:cNvPicPr>
          <p:nvPr/>
        </p:nvPicPr>
        <p:blipFill>
          <a:blip r:embed="rId2"/>
          <a:stretch>
            <a:fillRect/>
          </a:stretch>
        </p:blipFill>
        <p:spPr>
          <a:xfrm>
            <a:off x="5577840" y="1371600"/>
            <a:ext cx="274320" cy="274320"/>
          </a:xfrm>
          <a:prstGeom prst="rect">
            <a:avLst/>
          </a:prstGeom>
        </p:spPr>
      </p:pic>
      <p:sp>
        <p:nvSpPr>
          <p:cNvPr id="7" name="Text 3"/>
          <p:cNvSpPr txBox="1"/>
          <p:nvPr/>
        </p:nvSpPr>
        <p:spPr>
          <a:xfrm>
            <a:off x="5943600" y="1325880"/>
            <a:ext cx="2834640" cy="548640"/>
          </a:xfrm>
          <a:prstGeom prst="rect">
            <a:avLst/>
          </a:prstGeom>
          <a:noFill/>
          <a:ln/>
        </p:spPr>
        <p:txBody>
          <a:bodyPr wrap="square" lIns="0" tIns="0" rIns="0" bIns="0" rtlCol="0" anchor="ctr"/>
          <a:lstStyle/>
          <a:p>
            <a:pPr indent="0" marL="0">
              <a:buNone/>
            </a:pPr>
            <a:r>
              <a:rPr lang="en-US" sz="1200" b="1" dirty="0">
                <a:solidFill>
                  <a:srgbClr val="1D2622"/>
                </a:solidFill>
                <a:latin typeface="Calibri" pitchFamily="34" charset="0"/>
                <a:ea typeface="Calibri" pitchFamily="34" charset="-122"/>
                <a:cs typeface="Calibri" pitchFamily="34" charset="-120"/>
              </a:rPr>
              <a:t>Calle 5 # 1-64, sector La Chorrera</a:t>
            </a:r>
            <a:endParaRPr lang="en-US" sz="1200" dirty="0"/>
          </a:p>
          <a:p>
            <a:pPr indent="0" marL="0">
              <a:buNone/>
            </a:pPr>
            <a:r>
              <a:rPr lang="en-US" sz="1200" dirty="0">
                <a:solidFill>
                  <a:srgbClr val="1D2622"/>
                </a:solidFill>
                <a:latin typeface="Calibri" pitchFamily="34" charset="0"/>
                <a:ea typeface="Calibri" pitchFamily="34" charset="-122"/>
                <a:cs typeface="Calibri" pitchFamily="34" charset="-120"/>
              </a:rPr>
              <a:t>7° 16′ 17″ N · 72° 38′ 33″ O</a:t>
            </a:r>
            <a:endParaRPr lang="en-US" sz="1200" dirty="0"/>
          </a:p>
        </p:txBody>
      </p:sp>
      <p:sp>
        <p:nvSpPr>
          <p:cNvPr id="8" name="Text 4"/>
          <p:cNvSpPr txBox="1"/>
          <p:nvPr/>
        </p:nvSpPr>
        <p:spPr>
          <a:xfrm>
            <a:off x="5577840" y="2057400"/>
            <a:ext cx="3200400" cy="1463040"/>
          </a:xfrm>
          <a:prstGeom prst="rect">
            <a:avLst/>
          </a:prstGeom>
          <a:noFill/>
          <a:ln/>
        </p:spPr>
        <p:txBody>
          <a:bodyPr wrap="square" lIns="0" tIns="0" rIns="0" bIns="0" rtlCol="0" anchor="ctr"/>
          <a:lstStyle/>
          <a:p>
            <a:pPr marL="177800" indent="-177800">
              <a:spcAft>
                <a:spcPts val="600"/>
              </a:spcAft>
              <a:buSzPct val="100000"/>
              <a:buChar char="•"/>
            </a:pPr>
            <a:r>
              <a:rPr lang="en-US" sz="1250" dirty="0">
                <a:solidFill>
                  <a:srgbClr val="1D2622"/>
                </a:solidFill>
                <a:latin typeface="Calibri" pitchFamily="34" charset="0"/>
                <a:ea typeface="Calibri" pitchFamily="34" charset="-122"/>
                <a:cs typeface="Calibri" pitchFamily="34" charset="-120"/>
              </a:rPr>
              <a:t>Predio municipal integrado a la trama urbana</a:t>
            </a:r>
            <a:endParaRPr lang="en-US" sz="1250" dirty="0"/>
          </a:p>
          <a:p>
            <a:pPr marL="177800" indent="-177800">
              <a:spcAft>
                <a:spcPts val="600"/>
              </a:spcAft>
              <a:buSzPct val="100000"/>
              <a:buChar char="•"/>
            </a:pPr>
            <a:r>
              <a:rPr lang="en-US" sz="1250" dirty="0">
                <a:solidFill>
                  <a:srgbClr val="1D2622"/>
                </a:solidFill>
                <a:latin typeface="Calibri" pitchFamily="34" charset="0"/>
                <a:ea typeface="Calibri" pitchFamily="34" charset="-122"/>
                <a:cs typeface="Calibri" pitchFamily="34" charset="-120"/>
              </a:rPr>
              <a:t>Vía de acceso y redes de servicios cercanas</a:t>
            </a:r>
            <a:endParaRPr lang="en-US" sz="1250" dirty="0"/>
          </a:p>
          <a:p>
            <a:pPr marL="177800" indent="-177800">
              <a:spcAft>
                <a:spcPts val="600"/>
              </a:spcAft>
              <a:buSzPct val="100000"/>
              <a:buChar char="•"/>
            </a:pPr>
            <a:r>
              <a:rPr lang="en-US" sz="1250" dirty="0">
                <a:solidFill>
                  <a:srgbClr val="1D2622"/>
                </a:solidFill>
                <a:latin typeface="Calibri" pitchFamily="34" charset="0"/>
                <a:ea typeface="Calibri" pitchFamily="34" charset="-122"/>
                <a:cs typeface="Calibri" pitchFamily="34" charset="-120"/>
              </a:rPr>
              <a:t>Visuales amplias para miradores</a:t>
            </a:r>
            <a:endParaRPr lang="en-US" sz="1250" dirty="0"/>
          </a:p>
          <a:p>
            <a:pPr marL="177800" indent="-177800">
              <a:spcAft>
                <a:spcPts val="600"/>
              </a:spcAft>
              <a:buSzPct val="100000"/>
              <a:buChar char="•"/>
            </a:pPr>
            <a:r>
              <a:rPr lang="en-US" sz="1250" dirty="0">
                <a:solidFill>
                  <a:srgbClr val="1D2622"/>
                </a:solidFill>
                <a:latin typeface="Calibri" pitchFamily="34" charset="0"/>
                <a:ea typeface="Calibri" pitchFamily="34" charset="-122"/>
                <a:cs typeface="Calibri" pitchFamily="34" charset="-120"/>
              </a:rPr>
              <a:t>Valor simbólico: memoria chitarera</a:t>
            </a:r>
            <a:endParaRPr lang="en-US" sz="1250" dirty="0"/>
          </a:p>
        </p:txBody>
      </p:sp>
      <p:sp>
        <p:nvSpPr>
          <p:cNvPr id="9" name="Shape 5"/>
          <p:cNvSpPr/>
          <p:nvPr/>
        </p:nvSpPr>
        <p:spPr>
          <a:xfrm>
            <a:off x="5577840" y="3611880"/>
            <a:ext cx="3200400" cy="658368"/>
          </a:xfrm>
          <a:prstGeom prst="roundRect">
            <a:avLst>
              <a:gd name="adj" fmla="val 11111"/>
            </a:avLst>
          </a:prstGeom>
          <a:solidFill>
            <a:srgbClr val="FBEDE4"/>
          </a:solidFill>
          <a:ln w="12700">
            <a:solidFill>
              <a:srgbClr val="FBEDE4"/>
            </a:solidFill>
            <a:prstDash val="solid"/>
          </a:ln>
        </p:spPr>
      </p:sp>
      <p:sp>
        <p:nvSpPr>
          <p:cNvPr id="10" name="Text 6"/>
          <p:cNvSpPr txBox="1"/>
          <p:nvPr/>
        </p:nvSpPr>
        <p:spPr>
          <a:xfrm>
            <a:off x="5715000" y="3611880"/>
            <a:ext cx="2971800" cy="658368"/>
          </a:xfrm>
          <a:prstGeom prst="rect">
            <a:avLst/>
          </a:prstGeom>
          <a:noFill/>
          <a:ln/>
        </p:spPr>
        <p:txBody>
          <a:bodyPr wrap="square" lIns="0" tIns="0" rIns="0" bIns="0" rtlCol="0" anchor="ctr"/>
          <a:lstStyle/>
          <a:p>
            <a:pPr indent="0" marL="0">
              <a:buNone/>
            </a:pPr>
            <a:r>
              <a:rPr lang="en-US" sz="1150" i="1" dirty="0">
                <a:solidFill>
                  <a:srgbClr val="C4622D"/>
                </a:solidFill>
                <a:latin typeface="Calibri" pitchFamily="34" charset="0"/>
                <a:ea typeface="Calibri" pitchFamily="34" charset="-122"/>
                <a:cs typeface="Calibri" pitchFamily="34" charset="-120"/>
              </a:rPr>
              <a:t>Las mismas ventajas generan los retos: la pendiente obliga a cortar y rellenar.</a:t>
            </a:r>
            <a:endParaRPr lang="en-US" sz="1150" dirty="0"/>
          </a:p>
        </p:txBody>
      </p:sp>
      <p:sp>
        <p:nvSpPr>
          <p:cNvPr id="11" name="Text 7"/>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E6B65"/>
                </a:solidFill>
                <a:latin typeface="Calibri" pitchFamily="34" charset="0"/>
                <a:ea typeface="Calibri" pitchFamily="34" charset="-122"/>
                <a:cs typeface="Calibri" pitchFamily="34" charset="-120"/>
              </a:rPr>
              <a:t>Parque Temático El Cacique · Cácota, N. de S.</a:t>
            </a:r>
            <a:endParaRPr lang="en-US" sz="900" dirty="0"/>
          </a:p>
        </p:txBody>
      </p:sp>
      <p:sp>
        <p:nvSpPr>
          <p:cNvPr id="12" name="Text 8"/>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E6B65"/>
                </a:solidFill>
                <a:latin typeface="Calibri" pitchFamily="34" charset="0"/>
                <a:ea typeface="Calibri" pitchFamily="34" charset="-122"/>
                <a:cs typeface="Calibri" pitchFamily="34" charset="-120"/>
              </a:rPr>
              <a:t>04 / 19</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7F4"/>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28600"/>
          </a:xfrm>
          <a:prstGeom prst="rect">
            <a:avLst/>
          </a:prstGeom>
          <a:noFill/>
          <a:ln/>
        </p:spPr>
        <p:txBody>
          <a:bodyPr wrap="square" lIns="0" tIns="0" rIns="0" bIns="0" rtlCol="0" anchor="ctr"/>
          <a:lstStyle/>
          <a:p>
            <a:pPr indent="0" marL="0">
              <a:buNone/>
            </a:pPr>
            <a:r>
              <a:rPr lang="en-US" sz="1000" b="1" spc="300" kern="0" dirty="0">
                <a:solidFill>
                  <a:srgbClr val="C4622D"/>
                </a:solidFill>
                <a:latin typeface="Calibri" pitchFamily="34" charset="0"/>
                <a:ea typeface="Calibri" pitchFamily="34" charset="-122"/>
                <a:cs typeface="Calibri" pitchFamily="34" charset="-120"/>
              </a:rPr>
              <a:t>02 · PLANTEAMIENTO DEL PROBLEMA</a:t>
            </a:r>
            <a:endParaRPr lang="en-US" sz="1000" dirty="0"/>
          </a:p>
        </p:txBody>
      </p:sp>
      <p:sp>
        <p:nvSpPr>
          <p:cNvPr id="3" name="Text 1"/>
          <p:cNvSpPr txBox="1"/>
          <p:nvPr/>
        </p:nvSpPr>
        <p:spPr>
          <a:xfrm>
            <a:off x="457200" y="566928"/>
            <a:ext cx="8229600" cy="640080"/>
          </a:xfrm>
          <a:prstGeom prst="rect">
            <a:avLst/>
          </a:prstGeom>
          <a:noFill/>
          <a:ln/>
        </p:spPr>
        <p:txBody>
          <a:bodyPr wrap="square" lIns="0" tIns="0" rIns="0" bIns="0" rtlCol="0" anchor="t"/>
          <a:lstStyle/>
          <a:p>
            <a:pPr indent="0" marL="0">
              <a:buNone/>
            </a:pPr>
            <a:r>
              <a:rPr lang="en-US" sz="2800" b="1" dirty="0">
                <a:solidFill>
                  <a:srgbClr val="163A2B"/>
                </a:solidFill>
                <a:latin typeface="Cambria" pitchFamily="34" charset="0"/>
                <a:ea typeface="Cambria" pitchFamily="34" charset="-122"/>
                <a:cs typeface="Cambria" pitchFamily="34" charset="-120"/>
              </a:rPr>
              <a:t>Los estudios existen, pero no dialogan</a:t>
            </a:r>
            <a:endParaRPr lang="en-US" sz="2800" dirty="0"/>
          </a:p>
        </p:txBody>
      </p:sp>
      <p:sp>
        <p:nvSpPr>
          <p:cNvPr id="4" name="Shape 2"/>
          <p:cNvSpPr/>
          <p:nvPr/>
        </p:nvSpPr>
        <p:spPr>
          <a:xfrm>
            <a:off x="457200" y="1417320"/>
            <a:ext cx="1920240" cy="3017520"/>
          </a:xfrm>
          <a:prstGeom prst="roundRect">
            <a:avLst>
              <a:gd name="adj" fmla="val 476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658368" y="1645920"/>
            <a:ext cx="548640" cy="548640"/>
          </a:xfrm>
          <a:prstGeom prst="ellipse">
            <a:avLst/>
          </a:prstGeom>
          <a:solidFill>
            <a:srgbClr val="2F6B4F"/>
          </a:solidFill>
          <a:ln w="12700">
            <a:solidFill>
              <a:srgbClr val="2F6B4F"/>
            </a:solidFill>
            <a:prstDash val="solid"/>
          </a:ln>
        </p:spPr>
      </p:sp>
      <p:pic>
        <p:nvPicPr>
          <p:cNvPr id="6" name="Image 0" descr="preencoded.png">    </p:cNvPr>
          <p:cNvPicPr>
            <a:picLocks noChangeAspect="1"/>
          </p:cNvPicPr>
          <p:nvPr/>
        </p:nvPicPr>
        <p:blipFill>
          <a:blip r:embed="rId1"/>
          <a:stretch>
            <a:fillRect/>
          </a:stretch>
        </p:blipFill>
        <p:spPr>
          <a:xfrm>
            <a:off x="801014" y="1788566"/>
            <a:ext cx="263347" cy="263347"/>
          </a:xfrm>
          <a:prstGeom prst="rect">
            <a:avLst/>
          </a:prstGeom>
        </p:spPr>
      </p:pic>
      <p:sp>
        <p:nvSpPr>
          <p:cNvPr id="7" name="Text 4"/>
          <p:cNvSpPr txBox="1"/>
          <p:nvPr/>
        </p:nvSpPr>
        <p:spPr>
          <a:xfrm>
            <a:off x="658368" y="2331720"/>
            <a:ext cx="1600200" cy="365760"/>
          </a:xfrm>
          <a:prstGeom prst="rect">
            <a:avLst/>
          </a:prstGeom>
          <a:noFill/>
          <a:ln/>
        </p:spPr>
        <p:txBody>
          <a:bodyPr wrap="square" lIns="0" tIns="0" rIns="0" bIns="0" rtlCol="0" anchor="ctr"/>
          <a:lstStyle/>
          <a:p>
            <a:pPr indent="0" marL="0">
              <a:buNone/>
            </a:pPr>
            <a:r>
              <a:rPr lang="en-US" sz="1700" b="1" dirty="0">
                <a:solidFill>
                  <a:srgbClr val="163A2B"/>
                </a:solidFill>
                <a:latin typeface="Cambria" pitchFamily="34" charset="0"/>
                <a:ea typeface="Cambria" pitchFamily="34" charset="-122"/>
                <a:cs typeface="Cambria" pitchFamily="34" charset="-120"/>
              </a:rPr>
              <a:t>Suelos</a:t>
            </a:r>
            <a:endParaRPr lang="en-US" sz="1700" dirty="0"/>
          </a:p>
        </p:txBody>
      </p:sp>
      <p:sp>
        <p:nvSpPr>
          <p:cNvPr id="8" name="Text 5"/>
          <p:cNvSpPr txBox="1"/>
          <p:nvPr/>
        </p:nvSpPr>
        <p:spPr>
          <a:xfrm>
            <a:off x="658368" y="2724912"/>
            <a:ext cx="1572768" cy="1600200"/>
          </a:xfrm>
          <a:prstGeom prst="rect">
            <a:avLst/>
          </a:prstGeom>
          <a:noFill/>
          <a:ln/>
        </p:spPr>
        <p:txBody>
          <a:bodyPr wrap="square" lIns="0" tIns="0" rIns="0" bIns="0" rtlCol="0" anchor="t"/>
          <a:lstStyle/>
          <a:p>
            <a:pPr indent="0" marL="0">
              <a:buNone/>
            </a:pPr>
            <a:r>
              <a:rPr lang="en-US" sz="1150" dirty="0">
                <a:solidFill>
                  <a:srgbClr val="5E6B65"/>
                </a:solidFill>
                <a:latin typeface="Calibri" pitchFamily="34" charset="0"/>
                <a:ea typeface="Calibri" pitchFamily="34" charset="-122"/>
                <a:cs typeface="Calibri" pitchFamily="34" charset="-120"/>
              </a:rPr>
              <a:t>Recomienda muro, subdrenaje y cunetas, pero se hizo sin diseño arquitectónico. Anexos de cálculo de un proyecto de 2014.</a:t>
            </a:r>
            <a:endParaRPr lang="en-US" sz="1150" dirty="0"/>
          </a:p>
        </p:txBody>
      </p:sp>
      <p:sp>
        <p:nvSpPr>
          <p:cNvPr id="9" name="Shape 6"/>
          <p:cNvSpPr/>
          <p:nvPr/>
        </p:nvSpPr>
        <p:spPr>
          <a:xfrm>
            <a:off x="2542032" y="1417320"/>
            <a:ext cx="1920240" cy="3017520"/>
          </a:xfrm>
          <a:prstGeom prst="roundRect">
            <a:avLst>
              <a:gd name="adj" fmla="val 476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0" name="Shape 7"/>
          <p:cNvSpPr/>
          <p:nvPr/>
        </p:nvSpPr>
        <p:spPr>
          <a:xfrm>
            <a:off x="2743200" y="1645920"/>
            <a:ext cx="548640" cy="548640"/>
          </a:xfrm>
          <a:prstGeom prst="ellipse">
            <a:avLst/>
          </a:prstGeom>
          <a:solidFill>
            <a:srgbClr val="2F6B4F"/>
          </a:solidFill>
          <a:ln w="12700">
            <a:solidFill>
              <a:srgbClr val="2F6B4F"/>
            </a:solidFill>
            <a:prstDash val="solid"/>
          </a:ln>
        </p:spPr>
      </p:sp>
      <p:pic>
        <p:nvPicPr>
          <p:cNvPr id="11" name="Image 1" descr="preencoded.png">    </p:cNvPr>
          <p:cNvPicPr>
            <a:picLocks noChangeAspect="1"/>
          </p:cNvPicPr>
          <p:nvPr/>
        </p:nvPicPr>
        <p:blipFill>
          <a:blip r:embed="rId2"/>
          <a:stretch>
            <a:fillRect/>
          </a:stretch>
        </p:blipFill>
        <p:spPr>
          <a:xfrm>
            <a:off x="2885846" y="1788566"/>
            <a:ext cx="263347" cy="263347"/>
          </a:xfrm>
          <a:prstGeom prst="rect">
            <a:avLst/>
          </a:prstGeom>
        </p:spPr>
      </p:pic>
      <p:sp>
        <p:nvSpPr>
          <p:cNvPr id="12" name="Text 8"/>
          <p:cNvSpPr txBox="1"/>
          <p:nvPr/>
        </p:nvSpPr>
        <p:spPr>
          <a:xfrm>
            <a:off x="2743200" y="2331720"/>
            <a:ext cx="1600200" cy="365760"/>
          </a:xfrm>
          <a:prstGeom prst="rect">
            <a:avLst/>
          </a:prstGeom>
          <a:noFill/>
          <a:ln/>
        </p:spPr>
        <p:txBody>
          <a:bodyPr wrap="square" lIns="0" tIns="0" rIns="0" bIns="0" rtlCol="0" anchor="ctr"/>
          <a:lstStyle/>
          <a:p>
            <a:pPr indent="0" marL="0">
              <a:buNone/>
            </a:pPr>
            <a:r>
              <a:rPr lang="en-US" sz="1700" b="1" dirty="0">
                <a:solidFill>
                  <a:srgbClr val="163A2B"/>
                </a:solidFill>
                <a:latin typeface="Cambria" pitchFamily="34" charset="0"/>
                <a:ea typeface="Cambria" pitchFamily="34" charset="-122"/>
                <a:cs typeface="Cambria" pitchFamily="34" charset="-120"/>
              </a:rPr>
              <a:t>Hidráulica</a:t>
            </a:r>
            <a:endParaRPr lang="en-US" sz="1700" dirty="0"/>
          </a:p>
        </p:txBody>
      </p:sp>
      <p:sp>
        <p:nvSpPr>
          <p:cNvPr id="13" name="Text 9"/>
          <p:cNvSpPr txBox="1"/>
          <p:nvPr/>
        </p:nvSpPr>
        <p:spPr>
          <a:xfrm>
            <a:off x="2743200" y="2724912"/>
            <a:ext cx="1572768" cy="1600200"/>
          </a:xfrm>
          <a:prstGeom prst="rect">
            <a:avLst/>
          </a:prstGeom>
          <a:noFill/>
          <a:ln/>
        </p:spPr>
        <p:txBody>
          <a:bodyPr wrap="square" lIns="0" tIns="0" rIns="0" bIns="0" rtlCol="0" anchor="t"/>
          <a:lstStyle/>
          <a:p>
            <a:pPr indent="0" marL="0">
              <a:buNone/>
            </a:pPr>
            <a:r>
              <a:rPr lang="en-US" sz="1150" dirty="0">
                <a:solidFill>
                  <a:srgbClr val="5E6B65"/>
                </a:solidFill>
                <a:latin typeface="Calibri" pitchFamily="34" charset="0"/>
                <a:ea typeface="Calibri" pitchFamily="34" charset="-122"/>
                <a:cs typeface="Calibri" pitchFamily="34" charset="-120"/>
              </a:rPr>
              <a:t>Bajantes calculados con I = 100 mm/h y C = 1. No representa la escorrentía de toda la ladera.</a:t>
            </a:r>
            <a:endParaRPr lang="en-US" sz="1150" dirty="0"/>
          </a:p>
        </p:txBody>
      </p:sp>
      <p:sp>
        <p:nvSpPr>
          <p:cNvPr id="14" name="Shape 10"/>
          <p:cNvSpPr/>
          <p:nvPr/>
        </p:nvSpPr>
        <p:spPr>
          <a:xfrm>
            <a:off x="4626864" y="1417320"/>
            <a:ext cx="1920240" cy="3017520"/>
          </a:xfrm>
          <a:prstGeom prst="roundRect">
            <a:avLst>
              <a:gd name="adj" fmla="val 476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5" name="Shape 11"/>
          <p:cNvSpPr/>
          <p:nvPr/>
        </p:nvSpPr>
        <p:spPr>
          <a:xfrm>
            <a:off x="4828032" y="1645920"/>
            <a:ext cx="548640" cy="548640"/>
          </a:xfrm>
          <a:prstGeom prst="ellipse">
            <a:avLst/>
          </a:prstGeom>
          <a:solidFill>
            <a:srgbClr val="2F6B4F"/>
          </a:solidFill>
          <a:ln w="12700">
            <a:solidFill>
              <a:srgbClr val="2F6B4F"/>
            </a:solidFill>
            <a:prstDash val="solid"/>
          </a:ln>
        </p:spPr>
      </p:sp>
      <p:pic>
        <p:nvPicPr>
          <p:cNvPr id="16" name="Image 2" descr="preencoded.png">    </p:cNvPr>
          <p:cNvPicPr>
            <a:picLocks noChangeAspect="1"/>
          </p:cNvPicPr>
          <p:nvPr/>
        </p:nvPicPr>
        <p:blipFill>
          <a:blip r:embed="rId3"/>
          <a:stretch>
            <a:fillRect/>
          </a:stretch>
        </p:blipFill>
        <p:spPr>
          <a:xfrm>
            <a:off x="4970678" y="1788566"/>
            <a:ext cx="263347" cy="263347"/>
          </a:xfrm>
          <a:prstGeom prst="rect">
            <a:avLst/>
          </a:prstGeom>
        </p:spPr>
      </p:pic>
      <p:sp>
        <p:nvSpPr>
          <p:cNvPr id="17" name="Text 12"/>
          <p:cNvSpPr txBox="1"/>
          <p:nvPr/>
        </p:nvSpPr>
        <p:spPr>
          <a:xfrm>
            <a:off x="4828032" y="2331720"/>
            <a:ext cx="1600200" cy="365760"/>
          </a:xfrm>
          <a:prstGeom prst="rect">
            <a:avLst/>
          </a:prstGeom>
          <a:noFill/>
          <a:ln/>
        </p:spPr>
        <p:txBody>
          <a:bodyPr wrap="square" lIns="0" tIns="0" rIns="0" bIns="0" rtlCol="0" anchor="ctr"/>
          <a:lstStyle/>
          <a:p>
            <a:pPr indent="0" marL="0">
              <a:buNone/>
            </a:pPr>
            <a:r>
              <a:rPr lang="en-US" sz="1700" b="1" dirty="0">
                <a:solidFill>
                  <a:srgbClr val="163A2B"/>
                </a:solidFill>
                <a:latin typeface="Cambria" pitchFamily="34" charset="0"/>
                <a:ea typeface="Cambria" pitchFamily="34" charset="-122"/>
                <a:cs typeface="Cambria" pitchFamily="34" charset="-120"/>
              </a:rPr>
              <a:t>Terrazas</a:t>
            </a:r>
            <a:endParaRPr lang="en-US" sz="1700" dirty="0"/>
          </a:p>
        </p:txBody>
      </p:sp>
      <p:sp>
        <p:nvSpPr>
          <p:cNvPr id="18" name="Text 13"/>
          <p:cNvSpPr txBox="1"/>
          <p:nvPr/>
        </p:nvSpPr>
        <p:spPr>
          <a:xfrm>
            <a:off x="4828032" y="2724912"/>
            <a:ext cx="1572768" cy="1600200"/>
          </a:xfrm>
          <a:prstGeom prst="rect">
            <a:avLst/>
          </a:prstGeom>
          <a:noFill/>
          <a:ln/>
        </p:spPr>
        <p:txBody>
          <a:bodyPr wrap="square" lIns="0" tIns="0" rIns="0" bIns="0" rtlCol="0" anchor="t"/>
          <a:lstStyle/>
          <a:p>
            <a:pPr indent="0" marL="0">
              <a:buNone/>
            </a:pPr>
            <a:r>
              <a:rPr lang="en-US" sz="1150" dirty="0">
                <a:solidFill>
                  <a:srgbClr val="5E6B65"/>
                </a:solidFill>
                <a:latin typeface="Calibri" pitchFamily="34" charset="0"/>
                <a:ea typeface="Calibri" pitchFamily="34" charset="-122"/>
                <a:cs typeface="Calibri" pitchFamily="34" charset="-120"/>
              </a:rPr>
              <a:t>Rellenos de hasta ≈ 4 m sin análisis de estabilidad estático ni sísmico.</a:t>
            </a:r>
            <a:endParaRPr lang="en-US" sz="1150" dirty="0"/>
          </a:p>
        </p:txBody>
      </p:sp>
      <p:sp>
        <p:nvSpPr>
          <p:cNvPr id="19" name="Shape 14"/>
          <p:cNvSpPr/>
          <p:nvPr/>
        </p:nvSpPr>
        <p:spPr>
          <a:xfrm>
            <a:off x="6711696" y="1417320"/>
            <a:ext cx="1920240" cy="3017520"/>
          </a:xfrm>
          <a:prstGeom prst="roundRect">
            <a:avLst>
              <a:gd name="adj" fmla="val 476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20" name="Shape 15"/>
          <p:cNvSpPr/>
          <p:nvPr/>
        </p:nvSpPr>
        <p:spPr>
          <a:xfrm>
            <a:off x="6912864" y="1645920"/>
            <a:ext cx="548640" cy="548640"/>
          </a:xfrm>
          <a:prstGeom prst="ellipse">
            <a:avLst/>
          </a:prstGeom>
          <a:solidFill>
            <a:srgbClr val="C4622D"/>
          </a:solidFill>
          <a:ln w="12700">
            <a:solidFill>
              <a:srgbClr val="C4622D"/>
            </a:solidFill>
            <a:prstDash val="solid"/>
          </a:ln>
        </p:spPr>
      </p:sp>
      <p:pic>
        <p:nvPicPr>
          <p:cNvPr id="21" name="Image 3" descr="preencoded.png">    </p:cNvPr>
          <p:cNvPicPr>
            <a:picLocks noChangeAspect="1"/>
          </p:cNvPicPr>
          <p:nvPr/>
        </p:nvPicPr>
        <p:blipFill>
          <a:blip r:embed="rId4"/>
          <a:stretch>
            <a:fillRect/>
          </a:stretch>
        </p:blipFill>
        <p:spPr>
          <a:xfrm>
            <a:off x="7055510" y="1788566"/>
            <a:ext cx="263347" cy="263347"/>
          </a:xfrm>
          <a:prstGeom prst="rect">
            <a:avLst/>
          </a:prstGeom>
        </p:spPr>
      </p:pic>
      <p:sp>
        <p:nvSpPr>
          <p:cNvPr id="22" name="Text 16"/>
          <p:cNvSpPr txBox="1"/>
          <p:nvPr/>
        </p:nvSpPr>
        <p:spPr>
          <a:xfrm>
            <a:off x="6912864" y="2331720"/>
            <a:ext cx="1600200" cy="365760"/>
          </a:xfrm>
          <a:prstGeom prst="rect">
            <a:avLst/>
          </a:prstGeom>
          <a:noFill/>
          <a:ln/>
        </p:spPr>
        <p:txBody>
          <a:bodyPr wrap="square" lIns="0" tIns="0" rIns="0" bIns="0" rtlCol="0" anchor="ctr"/>
          <a:lstStyle/>
          <a:p>
            <a:pPr indent="0" marL="0">
              <a:buNone/>
            </a:pPr>
            <a:r>
              <a:rPr lang="en-US" sz="1700" b="1" dirty="0">
                <a:solidFill>
                  <a:srgbClr val="163A2B"/>
                </a:solidFill>
                <a:latin typeface="Cambria" pitchFamily="34" charset="0"/>
                <a:ea typeface="Cambria" pitchFamily="34" charset="-122"/>
                <a:cs typeface="Cambria" pitchFamily="34" charset="-120"/>
              </a:rPr>
              <a:t>Canal</a:t>
            </a:r>
            <a:endParaRPr lang="en-US" sz="1700" dirty="0"/>
          </a:p>
        </p:txBody>
      </p:sp>
      <p:sp>
        <p:nvSpPr>
          <p:cNvPr id="23" name="Text 17"/>
          <p:cNvSpPr txBox="1"/>
          <p:nvPr/>
        </p:nvSpPr>
        <p:spPr>
          <a:xfrm>
            <a:off x="6912864" y="2724912"/>
            <a:ext cx="1572768" cy="1600200"/>
          </a:xfrm>
          <a:prstGeom prst="rect">
            <a:avLst/>
          </a:prstGeom>
          <a:noFill/>
          <a:ln/>
        </p:spPr>
        <p:txBody>
          <a:bodyPr wrap="square" lIns="0" tIns="0" rIns="0" bIns="0" rtlCol="0" anchor="t"/>
          <a:lstStyle/>
          <a:p>
            <a:pPr indent="0" marL="0">
              <a:buNone/>
            </a:pPr>
            <a:r>
              <a:rPr lang="en-US" sz="1150" dirty="0">
                <a:solidFill>
                  <a:srgbClr val="5E6B65"/>
                </a:solidFill>
                <a:latin typeface="Calibri" pitchFamily="34" charset="0"/>
                <a:ea typeface="Calibri" pitchFamily="34" charset="-122"/>
                <a:cs typeface="Calibri" pitchFamily="34" charset="-120"/>
              </a:rPr>
              <a:t>Agua para consumo humano bordea el predio; riesgo de sedimentos y contaminación.</a:t>
            </a:r>
            <a:endParaRPr lang="en-US" sz="1150" dirty="0"/>
          </a:p>
        </p:txBody>
      </p:sp>
      <p:sp>
        <p:nvSpPr>
          <p:cNvPr id="24" name="Text 18"/>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E6B65"/>
                </a:solidFill>
                <a:latin typeface="Calibri" pitchFamily="34" charset="0"/>
                <a:ea typeface="Calibri" pitchFamily="34" charset="-122"/>
                <a:cs typeface="Calibri" pitchFamily="34" charset="-120"/>
              </a:rPr>
              <a:t>Parque Temático El Cacique · Cácota, N. de S.</a:t>
            </a:r>
            <a:endParaRPr lang="en-US" sz="900" dirty="0"/>
          </a:p>
        </p:txBody>
      </p:sp>
      <p:sp>
        <p:nvSpPr>
          <p:cNvPr id="25" name="Text 19"/>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E6B65"/>
                </a:solidFill>
                <a:latin typeface="Calibri" pitchFamily="34" charset="0"/>
                <a:ea typeface="Calibri" pitchFamily="34" charset="-122"/>
                <a:cs typeface="Calibri" pitchFamily="34" charset="-120"/>
              </a:rPr>
              <a:t>05 / 19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3A2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822960"/>
            <a:ext cx="548640" cy="548640"/>
          </a:xfrm>
          <a:prstGeom prst="rect">
            <a:avLst/>
          </a:prstGeom>
        </p:spPr>
      </p:pic>
      <p:sp>
        <p:nvSpPr>
          <p:cNvPr id="3" name="Text 0"/>
          <p:cNvSpPr txBox="1"/>
          <p:nvPr/>
        </p:nvSpPr>
        <p:spPr>
          <a:xfrm>
            <a:off x="1463040" y="914400"/>
            <a:ext cx="5486400" cy="365760"/>
          </a:xfrm>
          <a:prstGeom prst="rect">
            <a:avLst/>
          </a:prstGeom>
          <a:noFill/>
          <a:ln/>
        </p:spPr>
        <p:txBody>
          <a:bodyPr wrap="square" lIns="0" tIns="0" rIns="0" bIns="0" rtlCol="0" anchor="ctr"/>
          <a:lstStyle/>
          <a:p>
            <a:pPr indent="0" marL="0">
              <a:buNone/>
            </a:pPr>
            <a:r>
              <a:rPr lang="en-US" sz="1100" b="1" spc="300" kern="0" dirty="0">
                <a:solidFill>
                  <a:srgbClr val="E3A43B"/>
                </a:solidFill>
                <a:latin typeface="Calibri" pitchFamily="34" charset="0"/>
                <a:ea typeface="Calibri" pitchFamily="34" charset="-122"/>
                <a:cs typeface="Calibri" pitchFamily="34" charset="-120"/>
              </a:rPr>
              <a:t>PREGUNTA DE INVESTIGACIÓN</a:t>
            </a:r>
            <a:endParaRPr lang="en-US" sz="1100" dirty="0"/>
          </a:p>
        </p:txBody>
      </p:sp>
      <p:sp>
        <p:nvSpPr>
          <p:cNvPr id="4" name="Text 1"/>
          <p:cNvSpPr txBox="1"/>
          <p:nvPr/>
        </p:nvSpPr>
        <p:spPr>
          <a:xfrm>
            <a:off x="731520" y="1554480"/>
            <a:ext cx="7680960" cy="2194560"/>
          </a:xfrm>
          <a:prstGeom prst="rect">
            <a:avLst/>
          </a:prstGeom>
          <a:noFill/>
          <a:ln/>
        </p:spPr>
        <p:txBody>
          <a:bodyPr wrap="square" lIns="0" tIns="0" rIns="0" bIns="0" rtlCol="0" anchor="t"/>
          <a:lstStyle/>
          <a:p>
            <a:pPr indent="0" marL="0">
              <a:buNone/>
            </a:pPr>
            <a:r>
              <a:rPr lang="en-US" sz="2400" i="1" dirty="0">
                <a:solidFill>
                  <a:srgbClr val="FFFFFF"/>
                </a:solidFill>
                <a:latin typeface="Cambria" pitchFamily="34" charset="0"/>
                <a:ea typeface="Cambria" pitchFamily="34" charset="-122"/>
                <a:cs typeface="Cambria" pitchFamily="34" charset="-120"/>
              </a:rPr>
              <a:t>¿Qué condiciones geotécnicas e hidrológicas presentan las laderas del parque, y qué obras de estabilización y drenaje sostenible garantizan la estabilidad de las terrazas sin comprometer el canal de agua para consumo humano?</a:t>
            </a:r>
            <a:endParaRPr lang="en-US" sz="2400" dirty="0"/>
          </a:p>
        </p:txBody>
      </p:sp>
      <p:sp>
        <p:nvSpPr>
          <p:cNvPr id="5" name="Text 2"/>
          <p:cNvSpPr txBox="1"/>
          <p:nvPr/>
        </p:nvSpPr>
        <p:spPr>
          <a:xfrm>
            <a:off x="731520" y="3794760"/>
            <a:ext cx="7680960" cy="640080"/>
          </a:xfrm>
          <a:prstGeom prst="rect">
            <a:avLst/>
          </a:prstGeom>
          <a:noFill/>
          <a:ln/>
        </p:spPr>
        <p:txBody>
          <a:bodyPr wrap="square" lIns="0" tIns="0" rIns="0" bIns="0" rtlCol="0" anchor="ctr"/>
          <a:lstStyle/>
          <a:p>
            <a:pPr indent="0" marL="0">
              <a:buNone/>
            </a:pPr>
            <a:r>
              <a:rPr lang="en-US" sz="1250" dirty="0">
                <a:solidFill>
                  <a:srgbClr val="BFD6C8"/>
                </a:solidFill>
                <a:latin typeface="Calibri" pitchFamily="34" charset="0"/>
                <a:ea typeface="Calibri" pitchFamily="34" charset="-122"/>
                <a:cs typeface="Calibri" pitchFamily="34" charset="-120"/>
              </a:rPr>
              <a:t>Hipótesis: la saturación por escorrentía y el sismo pueden llevar los taludes por debajo del mínimo NSR-10; un sistema combinado drenaje + bioingeniería lo resuelve con menos obra rígida.</a:t>
            </a:r>
            <a:endParaRPr lang="en-US" sz="1250" dirty="0"/>
          </a:p>
        </p:txBody>
      </p:sp>
      <p:sp>
        <p:nvSpPr>
          <p:cNvPr id="6" name="Text 3"/>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A9C2B4"/>
                </a:solidFill>
                <a:latin typeface="Calibri" pitchFamily="34" charset="0"/>
                <a:ea typeface="Calibri" pitchFamily="34" charset="-122"/>
                <a:cs typeface="Calibri" pitchFamily="34" charset="-120"/>
              </a:rPr>
              <a:t>Parque Temático El Cacique · Cácota, N. de S.</a:t>
            </a:r>
            <a:endParaRPr lang="en-US" sz="900" dirty="0"/>
          </a:p>
        </p:txBody>
      </p:sp>
      <p:sp>
        <p:nvSpPr>
          <p:cNvPr id="7" name="Text 4"/>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A9C2B4"/>
                </a:solidFill>
                <a:latin typeface="Calibri" pitchFamily="34" charset="0"/>
                <a:ea typeface="Calibri" pitchFamily="34" charset="-122"/>
                <a:cs typeface="Calibri" pitchFamily="34" charset="-120"/>
              </a:rPr>
              <a:t>06 / 19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28600"/>
          </a:xfrm>
          <a:prstGeom prst="rect">
            <a:avLst/>
          </a:prstGeom>
          <a:noFill/>
          <a:ln/>
        </p:spPr>
        <p:txBody>
          <a:bodyPr wrap="square" lIns="0" tIns="0" rIns="0" bIns="0" rtlCol="0" anchor="ctr"/>
          <a:lstStyle/>
          <a:p>
            <a:pPr indent="0" marL="0">
              <a:buNone/>
            </a:pPr>
            <a:r>
              <a:rPr lang="en-US" sz="1000" b="1" spc="300" kern="0" dirty="0">
                <a:solidFill>
                  <a:srgbClr val="C4622D"/>
                </a:solidFill>
                <a:latin typeface="Calibri" pitchFamily="34" charset="0"/>
                <a:ea typeface="Calibri" pitchFamily="34" charset="-122"/>
                <a:cs typeface="Calibri" pitchFamily="34" charset="-120"/>
              </a:rPr>
              <a:t>03 · JUSTIFICACIÓN</a:t>
            </a:r>
            <a:endParaRPr lang="en-US" sz="1000" dirty="0"/>
          </a:p>
        </p:txBody>
      </p:sp>
      <p:sp>
        <p:nvSpPr>
          <p:cNvPr id="3" name="Text 1"/>
          <p:cNvSpPr txBox="1"/>
          <p:nvPr/>
        </p:nvSpPr>
        <p:spPr>
          <a:xfrm>
            <a:off x="457200" y="566928"/>
            <a:ext cx="8229600" cy="640080"/>
          </a:xfrm>
          <a:prstGeom prst="rect">
            <a:avLst/>
          </a:prstGeom>
          <a:noFill/>
          <a:ln/>
        </p:spPr>
        <p:txBody>
          <a:bodyPr wrap="square" lIns="0" tIns="0" rIns="0" bIns="0" rtlCol="0" anchor="t"/>
          <a:lstStyle/>
          <a:p>
            <a:pPr indent="0" marL="0">
              <a:buNone/>
            </a:pPr>
            <a:r>
              <a:rPr lang="en-US" sz="2800" b="1" dirty="0">
                <a:solidFill>
                  <a:srgbClr val="163A2B"/>
                </a:solidFill>
                <a:latin typeface="Cambria" pitchFamily="34" charset="0"/>
                <a:ea typeface="Cambria" pitchFamily="34" charset="-122"/>
                <a:cs typeface="Cambria" pitchFamily="34" charset="-120"/>
              </a:rPr>
              <a:t>¿Por qué vale la pena estudiarlo?</a:t>
            </a:r>
            <a:endParaRPr lang="en-US" sz="2800" dirty="0"/>
          </a:p>
        </p:txBody>
      </p:sp>
      <p:sp>
        <p:nvSpPr>
          <p:cNvPr id="4" name="Shape 2"/>
          <p:cNvSpPr/>
          <p:nvPr/>
        </p:nvSpPr>
        <p:spPr>
          <a:xfrm>
            <a:off x="457200" y="1463040"/>
            <a:ext cx="566928" cy="566928"/>
          </a:xfrm>
          <a:prstGeom prst="ellipse">
            <a:avLst/>
          </a:prstGeom>
          <a:solidFill>
            <a:srgbClr val="2F6B4F"/>
          </a:solidFill>
          <a:ln w="12700">
            <a:solidFill>
              <a:srgbClr val="2F6B4F"/>
            </a:solidFill>
            <a:prstDash val="solid"/>
          </a:ln>
        </p:spPr>
      </p:sp>
      <p:pic>
        <p:nvPicPr>
          <p:cNvPr id="5" name="Image 0" descr="preencoded.png">    </p:cNvPr>
          <p:cNvPicPr>
            <a:picLocks noChangeAspect="1"/>
          </p:cNvPicPr>
          <p:nvPr/>
        </p:nvPicPr>
        <p:blipFill>
          <a:blip r:embed="rId1"/>
          <a:stretch>
            <a:fillRect/>
          </a:stretch>
        </p:blipFill>
        <p:spPr>
          <a:xfrm>
            <a:off x="604601" y="1610441"/>
            <a:ext cx="272125" cy="272125"/>
          </a:xfrm>
          <a:prstGeom prst="rect">
            <a:avLst/>
          </a:prstGeom>
        </p:spPr>
      </p:pic>
      <p:sp>
        <p:nvSpPr>
          <p:cNvPr id="6" name="Text 3"/>
          <p:cNvSpPr txBox="1"/>
          <p:nvPr/>
        </p:nvSpPr>
        <p:spPr>
          <a:xfrm>
            <a:off x="1207008" y="1444752"/>
            <a:ext cx="3108960" cy="365760"/>
          </a:xfrm>
          <a:prstGeom prst="rect">
            <a:avLst/>
          </a:prstGeom>
          <a:noFill/>
          <a:ln/>
        </p:spPr>
        <p:txBody>
          <a:bodyPr wrap="square" lIns="0" tIns="0" rIns="0" bIns="0" rtlCol="0" anchor="ctr"/>
          <a:lstStyle/>
          <a:p>
            <a:pPr indent="0" marL="0">
              <a:buNone/>
            </a:pPr>
            <a:r>
              <a:rPr lang="en-US" sz="1600" b="1" dirty="0">
                <a:solidFill>
                  <a:srgbClr val="163A2B"/>
                </a:solidFill>
                <a:latin typeface="Cambria" pitchFamily="34" charset="0"/>
                <a:ea typeface="Cambria" pitchFamily="34" charset="-122"/>
                <a:cs typeface="Cambria" pitchFamily="34" charset="-120"/>
              </a:rPr>
              <a:t>Seguridad</a:t>
            </a:r>
            <a:endParaRPr lang="en-US" sz="1600" dirty="0"/>
          </a:p>
        </p:txBody>
      </p:sp>
      <p:sp>
        <p:nvSpPr>
          <p:cNvPr id="7" name="Text 4"/>
          <p:cNvSpPr txBox="1"/>
          <p:nvPr/>
        </p:nvSpPr>
        <p:spPr>
          <a:xfrm>
            <a:off x="1207008" y="1828800"/>
            <a:ext cx="3154680" cy="868680"/>
          </a:xfrm>
          <a:prstGeom prst="rect">
            <a:avLst/>
          </a:prstGeom>
          <a:noFill/>
          <a:ln/>
        </p:spPr>
        <p:txBody>
          <a:bodyPr wrap="square" lIns="0" tIns="0" rIns="0" bIns="0" rtlCol="0" anchor="t"/>
          <a:lstStyle/>
          <a:p>
            <a:pPr indent="0" marL="0">
              <a:buNone/>
            </a:pPr>
            <a:r>
              <a:rPr lang="en-US" sz="1200" dirty="0">
                <a:solidFill>
                  <a:srgbClr val="5E6B65"/>
                </a:solidFill>
                <a:latin typeface="Calibri" pitchFamily="34" charset="0"/>
                <a:ea typeface="Calibri" pitchFamily="34" charset="-122"/>
                <a:cs typeface="Calibri" pitchFamily="34" charset="-120"/>
              </a:rPr>
              <a:t>Edificación pública en zona sísmica alta (I = 1,50). El Título H de la NSR-10 exige verificar la estabilidad.</a:t>
            </a:r>
            <a:endParaRPr lang="en-US" sz="1200" dirty="0"/>
          </a:p>
        </p:txBody>
      </p:sp>
      <p:sp>
        <p:nvSpPr>
          <p:cNvPr id="8" name="Shape 5"/>
          <p:cNvSpPr/>
          <p:nvPr/>
        </p:nvSpPr>
        <p:spPr>
          <a:xfrm>
            <a:off x="4663440" y="1463040"/>
            <a:ext cx="566928" cy="566928"/>
          </a:xfrm>
          <a:prstGeom prst="ellipse">
            <a:avLst/>
          </a:prstGeom>
          <a:solidFill>
            <a:srgbClr val="C4622D"/>
          </a:solidFill>
          <a:ln w="12700">
            <a:solidFill>
              <a:srgbClr val="C4622D"/>
            </a:solidFill>
            <a:prstDash val="solid"/>
          </a:ln>
        </p:spPr>
      </p:sp>
      <p:pic>
        <p:nvPicPr>
          <p:cNvPr id="9" name="Image 1" descr="preencoded.png">    </p:cNvPr>
          <p:cNvPicPr>
            <a:picLocks noChangeAspect="1"/>
          </p:cNvPicPr>
          <p:nvPr/>
        </p:nvPicPr>
        <p:blipFill>
          <a:blip r:embed="rId2"/>
          <a:stretch>
            <a:fillRect/>
          </a:stretch>
        </p:blipFill>
        <p:spPr>
          <a:xfrm>
            <a:off x="4810841" y="1610441"/>
            <a:ext cx="272125" cy="272125"/>
          </a:xfrm>
          <a:prstGeom prst="rect">
            <a:avLst/>
          </a:prstGeom>
        </p:spPr>
      </p:pic>
      <p:sp>
        <p:nvSpPr>
          <p:cNvPr id="10" name="Text 6"/>
          <p:cNvSpPr txBox="1"/>
          <p:nvPr/>
        </p:nvSpPr>
        <p:spPr>
          <a:xfrm>
            <a:off x="5413248" y="1444752"/>
            <a:ext cx="3108960" cy="365760"/>
          </a:xfrm>
          <a:prstGeom prst="rect">
            <a:avLst/>
          </a:prstGeom>
          <a:noFill/>
          <a:ln/>
        </p:spPr>
        <p:txBody>
          <a:bodyPr wrap="square" lIns="0" tIns="0" rIns="0" bIns="0" rtlCol="0" anchor="ctr"/>
          <a:lstStyle/>
          <a:p>
            <a:pPr indent="0" marL="0">
              <a:buNone/>
            </a:pPr>
            <a:r>
              <a:rPr lang="en-US" sz="1600" b="1" dirty="0">
                <a:solidFill>
                  <a:srgbClr val="163A2B"/>
                </a:solidFill>
                <a:latin typeface="Cambria" pitchFamily="34" charset="0"/>
                <a:ea typeface="Cambria" pitchFamily="34" charset="-122"/>
                <a:cs typeface="Cambria" pitchFamily="34" charset="-120"/>
              </a:rPr>
              <a:t>Agua y salud pública</a:t>
            </a:r>
            <a:endParaRPr lang="en-US" sz="1600" dirty="0"/>
          </a:p>
        </p:txBody>
      </p:sp>
      <p:sp>
        <p:nvSpPr>
          <p:cNvPr id="11" name="Text 7"/>
          <p:cNvSpPr txBox="1"/>
          <p:nvPr/>
        </p:nvSpPr>
        <p:spPr>
          <a:xfrm>
            <a:off x="5413248" y="1828800"/>
            <a:ext cx="3154680" cy="868680"/>
          </a:xfrm>
          <a:prstGeom prst="rect">
            <a:avLst/>
          </a:prstGeom>
          <a:noFill/>
          <a:ln/>
        </p:spPr>
        <p:txBody>
          <a:bodyPr wrap="square" lIns="0" tIns="0" rIns="0" bIns="0" rtlCol="0" anchor="t"/>
          <a:lstStyle/>
          <a:p>
            <a:pPr indent="0" marL="0">
              <a:buNone/>
            </a:pPr>
            <a:r>
              <a:rPr lang="en-US" sz="1200" dirty="0">
                <a:solidFill>
                  <a:srgbClr val="5E6B65"/>
                </a:solidFill>
                <a:latin typeface="Calibri" pitchFamily="34" charset="0"/>
                <a:ea typeface="Calibri" pitchFamily="34" charset="-122"/>
                <a:cs typeface="Calibri" pitchFamily="34" charset="-120"/>
              </a:rPr>
              <a:t>La lluvia es el principal detonante de deslizamientos en los Andes; los sedimentos pueden llegar al acueducto.</a:t>
            </a:r>
            <a:endParaRPr lang="en-US" sz="1200" dirty="0"/>
          </a:p>
        </p:txBody>
      </p:sp>
      <p:sp>
        <p:nvSpPr>
          <p:cNvPr id="12" name="Shape 8"/>
          <p:cNvSpPr/>
          <p:nvPr/>
        </p:nvSpPr>
        <p:spPr>
          <a:xfrm>
            <a:off x="457200" y="3017520"/>
            <a:ext cx="566928" cy="566928"/>
          </a:xfrm>
          <a:prstGeom prst="ellipse">
            <a:avLst/>
          </a:prstGeom>
          <a:solidFill>
            <a:srgbClr val="2F6B4F"/>
          </a:solidFill>
          <a:ln w="12700">
            <a:solidFill>
              <a:srgbClr val="2F6B4F"/>
            </a:solidFill>
            <a:prstDash val="solid"/>
          </a:ln>
        </p:spPr>
      </p:sp>
      <p:pic>
        <p:nvPicPr>
          <p:cNvPr id="13" name="Image 2" descr="preencoded.png">    </p:cNvPr>
          <p:cNvPicPr>
            <a:picLocks noChangeAspect="1"/>
          </p:cNvPicPr>
          <p:nvPr/>
        </p:nvPicPr>
        <p:blipFill>
          <a:blip r:embed="rId3"/>
          <a:stretch>
            <a:fillRect/>
          </a:stretch>
        </p:blipFill>
        <p:spPr>
          <a:xfrm>
            <a:off x="604601" y="3164921"/>
            <a:ext cx="272125" cy="272125"/>
          </a:xfrm>
          <a:prstGeom prst="rect">
            <a:avLst/>
          </a:prstGeom>
        </p:spPr>
      </p:pic>
      <p:sp>
        <p:nvSpPr>
          <p:cNvPr id="14" name="Text 9"/>
          <p:cNvSpPr txBox="1"/>
          <p:nvPr/>
        </p:nvSpPr>
        <p:spPr>
          <a:xfrm>
            <a:off x="1207008" y="2999232"/>
            <a:ext cx="3108960" cy="365760"/>
          </a:xfrm>
          <a:prstGeom prst="rect">
            <a:avLst/>
          </a:prstGeom>
          <a:noFill/>
          <a:ln/>
        </p:spPr>
        <p:txBody>
          <a:bodyPr wrap="square" lIns="0" tIns="0" rIns="0" bIns="0" rtlCol="0" anchor="ctr"/>
          <a:lstStyle/>
          <a:p>
            <a:pPr indent="0" marL="0">
              <a:buNone/>
            </a:pPr>
            <a:r>
              <a:rPr lang="en-US" sz="1600" b="1" dirty="0">
                <a:solidFill>
                  <a:srgbClr val="163A2B"/>
                </a:solidFill>
                <a:latin typeface="Cambria" pitchFamily="34" charset="0"/>
                <a:ea typeface="Cambria" pitchFamily="34" charset="-122"/>
                <a:cs typeface="Cambria" pitchFamily="34" charset="-120"/>
              </a:rPr>
              <a:t>Coherencia ecológica</a:t>
            </a:r>
            <a:endParaRPr lang="en-US" sz="1600" dirty="0"/>
          </a:p>
        </p:txBody>
      </p:sp>
      <p:sp>
        <p:nvSpPr>
          <p:cNvPr id="15" name="Text 10"/>
          <p:cNvSpPr txBox="1"/>
          <p:nvPr/>
        </p:nvSpPr>
        <p:spPr>
          <a:xfrm>
            <a:off x="1207008" y="3383280"/>
            <a:ext cx="3154680" cy="868680"/>
          </a:xfrm>
          <a:prstGeom prst="rect">
            <a:avLst/>
          </a:prstGeom>
          <a:noFill/>
          <a:ln/>
        </p:spPr>
        <p:txBody>
          <a:bodyPr wrap="square" lIns="0" tIns="0" rIns="0" bIns="0" rtlCol="0" anchor="t"/>
          <a:lstStyle/>
          <a:p>
            <a:pPr indent="0" marL="0">
              <a:buNone/>
            </a:pPr>
            <a:r>
              <a:rPr lang="en-US" sz="1200" dirty="0">
                <a:solidFill>
                  <a:srgbClr val="5E6B65"/>
                </a:solidFill>
                <a:latin typeface="Calibri" pitchFamily="34" charset="0"/>
                <a:ea typeface="Calibri" pitchFamily="34" charset="-122"/>
                <a:cs typeface="Calibri" pitchFamily="34" charset="-120"/>
              </a:rPr>
              <a:t>Un parque ecoturístico no debería resolverse solo con concreto: bioingeniería y SUDS.</a:t>
            </a:r>
            <a:endParaRPr lang="en-US" sz="1200" dirty="0"/>
          </a:p>
        </p:txBody>
      </p:sp>
      <p:sp>
        <p:nvSpPr>
          <p:cNvPr id="16" name="Shape 11"/>
          <p:cNvSpPr/>
          <p:nvPr/>
        </p:nvSpPr>
        <p:spPr>
          <a:xfrm>
            <a:off x="4663440" y="3017520"/>
            <a:ext cx="566928" cy="566928"/>
          </a:xfrm>
          <a:prstGeom prst="ellipse">
            <a:avLst/>
          </a:prstGeom>
          <a:solidFill>
            <a:srgbClr val="C4622D"/>
          </a:solidFill>
          <a:ln w="12700">
            <a:solidFill>
              <a:srgbClr val="C4622D"/>
            </a:solidFill>
            <a:prstDash val="solid"/>
          </a:ln>
        </p:spPr>
      </p:sp>
      <p:pic>
        <p:nvPicPr>
          <p:cNvPr id="17" name="Image 3" descr="preencoded.png">    </p:cNvPr>
          <p:cNvPicPr>
            <a:picLocks noChangeAspect="1"/>
          </p:cNvPicPr>
          <p:nvPr/>
        </p:nvPicPr>
        <p:blipFill>
          <a:blip r:embed="rId4"/>
          <a:stretch>
            <a:fillRect/>
          </a:stretch>
        </p:blipFill>
        <p:spPr>
          <a:xfrm>
            <a:off x="4810841" y="3164921"/>
            <a:ext cx="272125" cy="272125"/>
          </a:xfrm>
          <a:prstGeom prst="rect">
            <a:avLst/>
          </a:prstGeom>
        </p:spPr>
      </p:pic>
      <p:sp>
        <p:nvSpPr>
          <p:cNvPr id="18" name="Text 12"/>
          <p:cNvSpPr txBox="1"/>
          <p:nvPr/>
        </p:nvSpPr>
        <p:spPr>
          <a:xfrm>
            <a:off x="5413248" y="2999232"/>
            <a:ext cx="3108960" cy="365760"/>
          </a:xfrm>
          <a:prstGeom prst="rect">
            <a:avLst/>
          </a:prstGeom>
          <a:noFill/>
          <a:ln/>
        </p:spPr>
        <p:txBody>
          <a:bodyPr wrap="square" lIns="0" tIns="0" rIns="0" bIns="0" rtlCol="0" anchor="ctr"/>
          <a:lstStyle/>
          <a:p>
            <a:pPr indent="0" marL="0">
              <a:buNone/>
            </a:pPr>
            <a:r>
              <a:rPr lang="en-US" sz="1600" b="1" dirty="0">
                <a:solidFill>
                  <a:srgbClr val="163A2B"/>
                </a:solidFill>
                <a:latin typeface="Cambria" pitchFamily="34" charset="0"/>
                <a:ea typeface="Cambria" pitchFamily="34" charset="-122"/>
                <a:cs typeface="Cambria" pitchFamily="34" charset="-120"/>
              </a:rPr>
              <a:t>Aporte académico</a:t>
            </a:r>
            <a:endParaRPr lang="en-US" sz="1600" dirty="0"/>
          </a:p>
        </p:txBody>
      </p:sp>
      <p:sp>
        <p:nvSpPr>
          <p:cNvPr id="19" name="Text 13"/>
          <p:cNvSpPr txBox="1"/>
          <p:nvPr/>
        </p:nvSpPr>
        <p:spPr>
          <a:xfrm>
            <a:off x="5413248" y="3383280"/>
            <a:ext cx="3154680" cy="868680"/>
          </a:xfrm>
          <a:prstGeom prst="rect">
            <a:avLst/>
          </a:prstGeom>
          <a:noFill/>
          <a:ln/>
        </p:spPr>
        <p:txBody>
          <a:bodyPr wrap="square" lIns="0" tIns="0" rIns="0" bIns="0" rtlCol="0" anchor="t"/>
          <a:lstStyle/>
          <a:p>
            <a:pPr indent="0" marL="0">
              <a:buNone/>
            </a:pPr>
            <a:r>
              <a:rPr lang="en-US" sz="1200" dirty="0">
                <a:solidFill>
                  <a:srgbClr val="5E6B65"/>
                </a:solidFill>
                <a:latin typeface="Calibri" pitchFamily="34" charset="0"/>
                <a:ea typeface="Calibri" pitchFamily="34" charset="-122"/>
                <a:cs typeface="Calibri" pitchFamily="34" charset="-120"/>
              </a:rPr>
              <a:t>Integra geotecnia, hidrología, hidráulica y gestión ambiental en un caso real.</a:t>
            </a:r>
            <a:endParaRPr lang="en-US" sz="1200" dirty="0"/>
          </a:p>
        </p:txBody>
      </p:sp>
      <p:sp>
        <p:nvSpPr>
          <p:cNvPr id="20" name="Text 14"/>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E6B65"/>
                </a:solidFill>
                <a:latin typeface="Calibri" pitchFamily="34" charset="0"/>
                <a:ea typeface="Calibri" pitchFamily="34" charset="-122"/>
                <a:cs typeface="Calibri" pitchFamily="34" charset="-120"/>
              </a:rPr>
              <a:t>Parque Temático El Cacique · Cácota, N. de S.</a:t>
            </a:r>
            <a:endParaRPr lang="en-US" sz="900" dirty="0"/>
          </a:p>
        </p:txBody>
      </p:sp>
      <p:sp>
        <p:nvSpPr>
          <p:cNvPr id="21" name="Text 15"/>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E6B65"/>
                </a:solidFill>
                <a:latin typeface="Calibri" pitchFamily="34" charset="0"/>
                <a:ea typeface="Calibri" pitchFamily="34" charset="-122"/>
                <a:cs typeface="Calibri" pitchFamily="34" charset="-120"/>
              </a:rPr>
              <a:t>07 / 19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383280" cy="5143500"/>
          </a:xfrm>
          <a:prstGeom prst="rect">
            <a:avLst/>
          </a:prstGeom>
          <a:solidFill>
            <a:srgbClr val="163A2B"/>
          </a:solidFill>
          <a:ln w="12700">
            <a:solidFill>
              <a:srgbClr val="163A2B"/>
            </a:solidFill>
            <a:prstDash val="solid"/>
          </a:ln>
        </p:spPr>
      </p:sp>
      <p:sp>
        <p:nvSpPr>
          <p:cNvPr id="3" name="Text 1"/>
          <p:cNvSpPr txBox="1"/>
          <p:nvPr/>
        </p:nvSpPr>
        <p:spPr>
          <a:xfrm>
            <a:off x="411480" y="502920"/>
            <a:ext cx="2743200" cy="274320"/>
          </a:xfrm>
          <a:prstGeom prst="rect">
            <a:avLst/>
          </a:prstGeom>
          <a:noFill/>
          <a:ln/>
        </p:spPr>
        <p:txBody>
          <a:bodyPr wrap="square" lIns="0" tIns="0" rIns="0" bIns="0" rtlCol="0" anchor="ctr"/>
          <a:lstStyle/>
          <a:p>
            <a:pPr indent="0" marL="0">
              <a:buNone/>
            </a:pPr>
            <a:r>
              <a:rPr lang="en-US" sz="1000" b="1" spc="300" kern="0" dirty="0">
                <a:solidFill>
                  <a:srgbClr val="E3A43B"/>
                </a:solidFill>
                <a:latin typeface="Calibri" pitchFamily="34" charset="0"/>
                <a:ea typeface="Calibri" pitchFamily="34" charset="-122"/>
                <a:cs typeface="Calibri" pitchFamily="34" charset="-120"/>
              </a:rPr>
              <a:t>OBJETIVO GENERAL</a:t>
            </a:r>
            <a:endParaRPr lang="en-US" sz="1000" dirty="0"/>
          </a:p>
        </p:txBody>
      </p:sp>
      <p:sp>
        <p:nvSpPr>
          <p:cNvPr id="4" name="Text 2"/>
          <p:cNvSpPr txBox="1"/>
          <p:nvPr/>
        </p:nvSpPr>
        <p:spPr>
          <a:xfrm>
            <a:off x="411480" y="914400"/>
            <a:ext cx="2606040" cy="3108960"/>
          </a:xfrm>
          <a:prstGeom prst="rect">
            <a:avLst/>
          </a:prstGeom>
          <a:noFill/>
          <a:ln/>
        </p:spPr>
        <p:txBody>
          <a:bodyPr wrap="square" lIns="0" tIns="0" rIns="0" bIns="0" rtlCol="0" anchor="t"/>
          <a:lstStyle/>
          <a:p>
            <a:pPr indent="0" marL="0">
              <a:buNone/>
            </a:pPr>
            <a:r>
              <a:rPr lang="en-US" sz="1600" dirty="0">
                <a:solidFill>
                  <a:srgbClr val="FFFFFF"/>
                </a:solidFill>
                <a:latin typeface="Cambria" pitchFamily="34" charset="0"/>
                <a:ea typeface="Cambria" pitchFamily="34" charset="-122"/>
                <a:cs typeface="Cambria" pitchFamily="34" charset="-120"/>
              </a:rPr>
              <a:t>Evaluar las condiciones geotécnicas e hidrológicas de las laderas del parque para proponer, a nivel de prediseño, obras de estabilización y drenaje sostenible que protejan las terrazas y el canal de agua.</a:t>
            </a:r>
            <a:endParaRPr lang="en-US" sz="1600" dirty="0"/>
          </a:p>
        </p:txBody>
      </p:sp>
      <p:sp>
        <p:nvSpPr>
          <p:cNvPr id="5" name="Text 3"/>
          <p:cNvSpPr txBox="1"/>
          <p:nvPr/>
        </p:nvSpPr>
        <p:spPr>
          <a:xfrm>
            <a:off x="3840480" y="502920"/>
            <a:ext cx="4572000" cy="274320"/>
          </a:xfrm>
          <a:prstGeom prst="rect">
            <a:avLst/>
          </a:prstGeom>
          <a:noFill/>
          <a:ln/>
        </p:spPr>
        <p:txBody>
          <a:bodyPr wrap="square" lIns="0" tIns="0" rIns="0" bIns="0" rtlCol="0" anchor="ctr"/>
          <a:lstStyle/>
          <a:p>
            <a:pPr indent="0" marL="0">
              <a:buNone/>
            </a:pPr>
            <a:r>
              <a:rPr lang="en-US" sz="1000" b="1" spc="300" kern="0" dirty="0">
                <a:solidFill>
                  <a:srgbClr val="C4622D"/>
                </a:solidFill>
                <a:latin typeface="Calibri" pitchFamily="34" charset="0"/>
                <a:ea typeface="Calibri" pitchFamily="34" charset="-122"/>
                <a:cs typeface="Calibri" pitchFamily="34" charset="-120"/>
              </a:rPr>
              <a:t>03 · OBJETIVOS ESPECÍFICOS</a:t>
            </a:r>
            <a:endParaRPr lang="en-US" sz="1000" dirty="0"/>
          </a:p>
        </p:txBody>
      </p:sp>
      <p:sp>
        <p:nvSpPr>
          <p:cNvPr id="6" name="Shape 4"/>
          <p:cNvSpPr/>
          <p:nvPr/>
        </p:nvSpPr>
        <p:spPr>
          <a:xfrm>
            <a:off x="3840480" y="960120"/>
            <a:ext cx="502920" cy="502920"/>
          </a:xfrm>
          <a:prstGeom prst="ellipse">
            <a:avLst/>
          </a:prstGeom>
          <a:solidFill>
            <a:srgbClr val="DCEADF"/>
          </a:solidFill>
          <a:ln w="12700">
            <a:solidFill>
              <a:srgbClr val="DCEADF"/>
            </a:solidFill>
            <a:prstDash val="solid"/>
          </a:ln>
        </p:spPr>
      </p:sp>
      <p:sp>
        <p:nvSpPr>
          <p:cNvPr id="7" name="Text 5"/>
          <p:cNvSpPr txBox="1"/>
          <p:nvPr/>
        </p:nvSpPr>
        <p:spPr>
          <a:xfrm>
            <a:off x="3840480" y="960120"/>
            <a:ext cx="502920" cy="502920"/>
          </a:xfrm>
          <a:prstGeom prst="rect">
            <a:avLst/>
          </a:prstGeom>
          <a:noFill/>
          <a:ln/>
        </p:spPr>
        <p:txBody>
          <a:bodyPr wrap="square" lIns="0" tIns="0" rIns="0" bIns="0" rtlCol="0" anchor="ctr"/>
          <a:lstStyle/>
          <a:p>
            <a:pPr algn="ctr" indent="0" marL="0">
              <a:buNone/>
            </a:pPr>
            <a:r>
              <a:rPr lang="en-US" sz="1800" b="1" dirty="0">
                <a:solidFill>
                  <a:srgbClr val="163A2B"/>
                </a:solidFill>
                <a:latin typeface="Cambria" pitchFamily="34" charset="0"/>
                <a:ea typeface="Cambria" pitchFamily="34" charset="-122"/>
                <a:cs typeface="Cambria" pitchFamily="34" charset="-120"/>
              </a:rPr>
              <a:t>1</a:t>
            </a:r>
            <a:endParaRPr lang="en-US" sz="1800" dirty="0"/>
          </a:p>
        </p:txBody>
      </p:sp>
      <p:sp>
        <p:nvSpPr>
          <p:cNvPr id="8" name="Text 6"/>
          <p:cNvSpPr txBox="1"/>
          <p:nvPr/>
        </p:nvSpPr>
        <p:spPr>
          <a:xfrm>
            <a:off x="4526280" y="914400"/>
            <a:ext cx="4160520" cy="640080"/>
          </a:xfrm>
          <a:prstGeom prst="rect">
            <a:avLst/>
          </a:prstGeom>
          <a:noFill/>
          <a:ln/>
        </p:spPr>
        <p:txBody>
          <a:bodyPr wrap="square" lIns="0" tIns="0" rIns="0" bIns="0" rtlCol="0" anchor="ctr"/>
          <a:lstStyle/>
          <a:p>
            <a:pPr indent="0" marL="0">
              <a:buNone/>
            </a:pPr>
            <a:r>
              <a:rPr lang="en-US" sz="1350" b="1" dirty="0">
                <a:solidFill>
                  <a:srgbClr val="163A2B"/>
                </a:solidFill>
                <a:latin typeface="Calibri" pitchFamily="34" charset="0"/>
                <a:ea typeface="Calibri" pitchFamily="34" charset="-122"/>
                <a:cs typeface="Calibri" pitchFamily="34" charset="-120"/>
              </a:rPr>
              <a:t>Caracterizar </a:t>
            </a:r>
            <a:pPr indent="0" marL="0">
              <a:buNone/>
            </a:pPr>
            <a:r>
              <a:rPr lang="en-US" sz="1350" dirty="0">
                <a:solidFill>
                  <a:srgbClr val="1D2622"/>
                </a:solidFill>
                <a:latin typeface="Calibri" pitchFamily="34" charset="0"/>
                <a:ea typeface="Calibri" pitchFamily="34" charset="-122"/>
                <a:cs typeface="Calibri" pitchFamily="34" charset="-120"/>
              </a:rPr>
              <a:t>los materiales del predio con exploración y ensayos complementarios.</a:t>
            </a:r>
            <a:endParaRPr lang="en-US" sz="1350" dirty="0"/>
          </a:p>
        </p:txBody>
      </p:sp>
      <p:sp>
        <p:nvSpPr>
          <p:cNvPr id="9" name="Shape 7"/>
          <p:cNvSpPr/>
          <p:nvPr/>
        </p:nvSpPr>
        <p:spPr>
          <a:xfrm>
            <a:off x="3840480" y="1892808"/>
            <a:ext cx="502920" cy="502920"/>
          </a:xfrm>
          <a:prstGeom prst="ellipse">
            <a:avLst/>
          </a:prstGeom>
          <a:solidFill>
            <a:srgbClr val="DCEADF"/>
          </a:solidFill>
          <a:ln w="12700">
            <a:solidFill>
              <a:srgbClr val="DCEADF"/>
            </a:solidFill>
            <a:prstDash val="solid"/>
          </a:ln>
        </p:spPr>
      </p:sp>
      <p:sp>
        <p:nvSpPr>
          <p:cNvPr id="10" name="Text 8"/>
          <p:cNvSpPr txBox="1"/>
          <p:nvPr/>
        </p:nvSpPr>
        <p:spPr>
          <a:xfrm>
            <a:off x="3840480" y="1892808"/>
            <a:ext cx="502920" cy="502920"/>
          </a:xfrm>
          <a:prstGeom prst="rect">
            <a:avLst/>
          </a:prstGeom>
          <a:noFill/>
          <a:ln/>
        </p:spPr>
        <p:txBody>
          <a:bodyPr wrap="square" lIns="0" tIns="0" rIns="0" bIns="0" rtlCol="0" anchor="ctr"/>
          <a:lstStyle/>
          <a:p>
            <a:pPr algn="ctr" indent="0" marL="0">
              <a:buNone/>
            </a:pPr>
            <a:r>
              <a:rPr lang="en-US" sz="1800" b="1" dirty="0">
                <a:solidFill>
                  <a:srgbClr val="163A2B"/>
                </a:solidFill>
                <a:latin typeface="Cambria" pitchFamily="34" charset="0"/>
                <a:ea typeface="Cambria" pitchFamily="34" charset="-122"/>
                <a:cs typeface="Cambria" pitchFamily="34" charset="-120"/>
              </a:rPr>
              <a:t>2</a:t>
            </a:r>
            <a:endParaRPr lang="en-US" sz="1800" dirty="0"/>
          </a:p>
        </p:txBody>
      </p:sp>
      <p:sp>
        <p:nvSpPr>
          <p:cNvPr id="11" name="Text 9"/>
          <p:cNvSpPr txBox="1"/>
          <p:nvPr/>
        </p:nvSpPr>
        <p:spPr>
          <a:xfrm>
            <a:off x="4526280" y="1847088"/>
            <a:ext cx="4160520" cy="640080"/>
          </a:xfrm>
          <a:prstGeom prst="rect">
            <a:avLst/>
          </a:prstGeom>
          <a:noFill/>
          <a:ln/>
        </p:spPr>
        <p:txBody>
          <a:bodyPr wrap="square" lIns="0" tIns="0" rIns="0" bIns="0" rtlCol="0" anchor="ctr"/>
          <a:lstStyle/>
          <a:p>
            <a:pPr indent="0" marL="0">
              <a:buNone/>
            </a:pPr>
            <a:r>
              <a:rPr lang="en-US" sz="1350" b="1" dirty="0">
                <a:solidFill>
                  <a:srgbClr val="163A2B"/>
                </a:solidFill>
                <a:latin typeface="Calibri" pitchFamily="34" charset="0"/>
                <a:ea typeface="Calibri" pitchFamily="34" charset="-122"/>
                <a:cs typeface="Calibri" pitchFamily="34" charset="-120"/>
              </a:rPr>
              <a:t>Estimar </a:t>
            </a:r>
            <a:pPr indent="0" marL="0">
              <a:buNone/>
            </a:pPr>
            <a:r>
              <a:rPr lang="en-US" sz="1350" dirty="0">
                <a:solidFill>
                  <a:srgbClr val="1D2622"/>
                </a:solidFill>
                <a:latin typeface="Calibri" pitchFamily="34" charset="0"/>
                <a:ea typeface="Calibri" pitchFamily="34" charset="-122"/>
                <a:cs typeface="Calibri" pitchFamily="34" charset="-120"/>
              </a:rPr>
              <a:t>los caudales de escorrentía con curvas IDF regionalizadas.</a:t>
            </a:r>
            <a:endParaRPr lang="en-US" sz="1350" dirty="0"/>
          </a:p>
        </p:txBody>
      </p:sp>
      <p:sp>
        <p:nvSpPr>
          <p:cNvPr id="12" name="Shape 10"/>
          <p:cNvSpPr/>
          <p:nvPr/>
        </p:nvSpPr>
        <p:spPr>
          <a:xfrm>
            <a:off x="3840480" y="2825496"/>
            <a:ext cx="502920" cy="502920"/>
          </a:xfrm>
          <a:prstGeom prst="ellipse">
            <a:avLst/>
          </a:prstGeom>
          <a:solidFill>
            <a:srgbClr val="DCEADF"/>
          </a:solidFill>
          <a:ln w="12700">
            <a:solidFill>
              <a:srgbClr val="DCEADF"/>
            </a:solidFill>
            <a:prstDash val="solid"/>
          </a:ln>
        </p:spPr>
      </p:sp>
      <p:sp>
        <p:nvSpPr>
          <p:cNvPr id="13" name="Text 11"/>
          <p:cNvSpPr txBox="1"/>
          <p:nvPr/>
        </p:nvSpPr>
        <p:spPr>
          <a:xfrm>
            <a:off x="3840480" y="2825496"/>
            <a:ext cx="502920" cy="502920"/>
          </a:xfrm>
          <a:prstGeom prst="rect">
            <a:avLst/>
          </a:prstGeom>
          <a:noFill/>
          <a:ln/>
        </p:spPr>
        <p:txBody>
          <a:bodyPr wrap="square" lIns="0" tIns="0" rIns="0" bIns="0" rtlCol="0" anchor="ctr"/>
          <a:lstStyle/>
          <a:p>
            <a:pPr algn="ctr" indent="0" marL="0">
              <a:buNone/>
            </a:pPr>
            <a:r>
              <a:rPr lang="en-US" sz="1800" b="1" dirty="0">
                <a:solidFill>
                  <a:srgbClr val="163A2B"/>
                </a:solidFill>
                <a:latin typeface="Cambria" pitchFamily="34" charset="0"/>
                <a:ea typeface="Cambria" pitchFamily="34" charset="-122"/>
                <a:cs typeface="Cambria" pitchFamily="34" charset="-120"/>
              </a:rPr>
              <a:t>3</a:t>
            </a:r>
            <a:endParaRPr lang="en-US" sz="1800" dirty="0"/>
          </a:p>
        </p:txBody>
      </p:sp>
      <p:sp>
        <p:nvSpPr>
          <p:cNvPr id="14" name="Text 12"/>
          <p:cNvSpPr txBox="1"/>
          <p:nvPr/>
        </p:nvSpPr>
        <p:spPr>
          <a:xfrm>
            <a:off x="4526280" y="2779776"/>
            <a:ext cx="4160520" cy="640080"/>
          </a:xfrm>
          <a:prstGeom prst="rect">
            <a:avLst/>
          </a:prstGeom>
          <a:noFill/>
          <a:ln/>
        </p:spPr>
        <p:txBody>
          <a:bodyPr wrap="square" lIns="0" tIns="0" rIns="0" bIns="0" rtlCol="0" anchor="ctr"/>
          <a:lstStyle/>
          <a:p>
            <a:pPr indent="0" marL="0">
              <a:buNone/>
            </a:pPr>
            <a:r>
              <a:rPr lang="en-US" sz="1350" b="1" dirty="0">
                <a:solidFill>
                  <a:srgbClr val="163A2B"/>
                </a:solidFill>
                <a:latin typeface="Calibri" pitchFamily="34" charset="0"/>
                <a:ea typeface="Calibri" pitchFamily="34" charset="-122"/>
                <a:cs typeface="Calibri" pitchFamily="34" charset="-120"/>
              </a:rPr>
              <a:t>Analizar </a:t>
            </a:r>
            <a:pPr indent="0" marL="0">
              <a:buNone/>
            </a:pPr>
            <a:r>
              <a:rPr lang="en-US" sz="1350" dirty="0">
                <a:solidFill>
                  <a:srgbClr val="1D2622"/>
                </a:solidFill>
                <a:latin typeface="Calibri" pitchFamily="34" charset="0"/>
                <a:ea typeface="Calibri" pitchFamily="34" charset="-122"/>
                <a:cs typeface="Calibri" pitchFamily="34" charset="-120"/>
              </a:rPr>
              <a:t>la estabilidad de cortes y rellenos: estático, saturado y seudoestático.</a:t>
            </a:r>
            <a:endParaRPr lang="en-US" sz="1350" dirty="0"/>
          </a:p>
        </p:txBody>
      </p:sp>
      <p:sp>
        <p:nvSpPr>
          <p:cNvPr id="15" name="Shape 13"/>
          <p:cNvSpPr/>
          <p:nvPr/>
        </p:nvSpPr>
        <p:spPr>
          <a:xfrm>
            <a:off x="3840480" y="3758184"/>
            <a:ext cx="502920" cy="502920"/>
          </a:xfrm>
          <a:prstGeom prst="ellipse">
            <a:avLst/>
          </a:prstGeom>
          <a:solidFill>
            <a:srgbClr val="DCEADF"/>
          </a:solidFill>
          <a:ln w="12700">
            <a:solidFill>
              <a:srgbClr val="DCEADF"/>
            </a:solidFill>
            <a:prstDash val="solid"/>
          </a:ln>
        </p:spPr>
      </p:sp>
      <p:sp>
        <p:nvSpPr>
          <p:cNvPr id="16" name="Text 14"/>
          <p:cNvSpPr txBox="1"/>
          <p:nvPr/>
        </p:nvSpPr>
        <p:spPr>
          <a:xfrm>
            <a:off x="3840480" y="3758184"/>
            <a:ext cx="502920" cy="502920"/>
          </a:xfrm>
          <a:prstGeom prst="rect">
            <a:avLst/>
          </a:prstGeom>
          <a:noFill/>
          <a:ln/>
        </p:spPr>
        <p:txBody>
          <a:bodyPr wrap="square" lIns="0" tIns="0" rIns="0" bIns="0" rtlCol="0" anchor="ctr"/>
          <a:lstStyle/>
          <a:p>
            <a:pPr algn="ctr" indent="0" marL="0">
              <a:buNone/>
            </a:pPr>
            <a:r>
              <a:rPr lang="en-US" sz="1800" b="1" dirty="0">
                <a:solidFill>
                  <a:srgbClr val="163A2B"/>
                </a:solidFill>
                <a:latin typeface="Cambria" pitchFamily="34" charset="0"/>
                <a:ea typeface="Cambria" pitchFamily="34" charset="-122"/>
                <a:cs typeface="Cambria" pitchFamily="34" charset="-120"/>
              </a:rPr>
              <a:t>4</a:t>
            </a:r>
            <a:endParaRPr lang="en-US" sz="1800" dirty="0"/>
          </a:p>
        </p:txBody>
      </p:sp>
      <p:sp>
        <p:nvSpPr>
          <p:cNvPr id="17" name="Text 15"/>
          <p:cNvSpPr txBox="1"/>
          <p:nvPr/>
        </p:nvSpPr>
        <p:spPr>
          <a:xfrm>
            <a:off x="4526280" y="3712464"/>
            <a:ext cx="4160520" cy="640080"/>
          </a:xfrm>
          <a:prstGeom prst="rect">
            <a:avLst/>
          </a:prstGeom>
          <a:noFill/>
          <a:ln/>
        </p:spPr>
        <p:txBody>
          <a:bodyPr wrap="square" lIns="0" tIns="0" rIns="0" bIns="0" rtlCol="0" anchor="ctr"/>
          <a:lstStyle/>
          <a:p>
            <a:pPr indent="0" marL="0">
              <a:buNone/>
            </a:pPr>
            <a:r>
              <a:rPr lang="en-US" sz="1350" b="1" dirty="0">
                <a:solidFill>
                  <a:srgbClr val="163A2B"/>
                </a:solidFill>
                <a:latin typeface="Calibri" pitchFamily="34" charset="0"/>
                <a:ea typeface="Calibri" pitchFamily="34" charset="-122"/>
                <a:cs typeface="Calibri" pitchFamily="34" charset="-120"/>
              </a:rPr>
              <a:t>Proponer </a:t>
            </a:r>
            <a:pPr indent="0" marL="0">
              <a:buNone/>
            </a:pPr>
            <a:r>
              <a:rPr lang="en-US" sz="1350" dirty="0">
                <a:solidFill>
                  <a:srgbClr val="1D2622"/>
                </a:solidFill>
                <a:latin typeface="Calibri" pitchFamily="34" charset="0"/>
                <a:ea typeface="Calibri" pitchFamily="34" charset="-122"/>
                <a:cs typeface="Calibri" pitchFamily="34" charset="-120"/>
              </a:rPr>
              <a:t>alternativas de estabilización, SUDS y bioingeniería con especies nativas.</a:t>
            </a:r>
            <a:endParaRPr lang="en-US" sz="1350" dirty="0"/>
          </a:p>
        </p:txBody>
      </p:sp>
      <p:sp>
        <p:nvSpPr>
          <p:cNvPr id="18" name="Text 16"/>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E6B65"/>
                </a:solidFill>
                <a:latin typeface="Calibri" pitchFamily="34" charset="0"/>
                <a:ea typeface="Calibri" pitchFamily="34" charset="-122"/>
                <a:cs typeface="Calibri" pitchFamily="34" charset="-120"/>
              </a:rPr>
              <a:t>Parque Temático El Cacique · Cácota, N. de S.</a:t>
            </a:r>
            <a:endParaRPr lang="en-US" sz="900" dirty="0"/>
          </a:p>
        </p:txBody>
      </p:sp>
      <p:sp>
        <p:nvSpPr>
          <p:cNvPr id="19" name="Text 17"/>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E6B65"/>
                </a:solidFill>
                <a:latin typeface="Calibri" pitchFamily="34" charset="0"/>
                <a:ea typeface="Calibri" pitchFamily="34" charset="-122"/>
                <a:cs typeface="Calibri" pitchFamily="34" charset="-120"/>
              </a:rPr>
              <a:t>08 / 19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7F4"/>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28600"/>
          </a:xfrm>
          <a:prstGeom prst="rect">
            <a:avLst/>
          </a:prstGeom>
          <a:noFill/>
          <a:ln/>
        </p:spPr>
        <p:txBody>
          <a:bodyPr wrap="square" lIns="0" tIns="0" rIns="0" bIns="0" rtlCol="0" anchor="ctr"/>
          <a:lstStyle/>
          <a:p>
            <a:pPr indent="0" marL="0">
              <a:buNone/>
            </a:pPr>
            <a:r>
              <a:rPr lang="en-US" sz="1000" b="1" spc="300" kern="0" dirty="0">
                <a:solidFill>
                  <a:srgbClr val="C4622D"/>
                </a:solidFill>
                <a:latin typeface="Calibri" pitchFamily="34" charset="0"/>
                <a:ea typeface="Calibri" pitchFamily="34" charset="-122"/>
                <a:cs typeface="Calibri" pitchFamily="34" charset="-120"/>
              </a:rPr>
              <a:t>04 · ANTECEDENTES</a:t>
            </a:r>
            <a:endParaRPr lang="en-US" sz="1000" dirty="0"/>
          </a:p>
        </p:txBody>
      </p:sp>
      <p:sp>
        <p:nvSpPr>
          <p:cNvPr id="3" name="Text 1"/>
          <p:cNvSpPr txBox="1"/>
          <p:nvPr/>
        </p:nvSpPr>
        <p:spPr>
          <a:xfrm>
            <a:off x="457200" y="566928"/>
            <a:ext cx="8229600" cy="640080"/>
          </a:xfrm>
          <a:prstGeom prst="rect">
            <a:avLst/>
          </a:prstGeom>
          <a:noFill/>
          <a:ln/>
        </p:spPr>
        <p:txBody>
          <a:bodyPr wrap="square" lIns="0" tIns="0" rIns="0" bIns="0" rtlCol="0" anchor="t"/>
          <a:lstStyle/>
          <a:p>
            <a:pPr indent="0" marL="0">
              <a:buNone/>
            </a:pPr>
            <a:r>
              <a:rPr lang="en-US" sz="2800" b="1" dirty="0">
                <a:solidFill>
                  <a:srgbClr val="163A2B"/>
                </a:solidFill>
                <a:latin typeface="Cambria" pitchFamily="34" charset="0"/>
                <a:ea typeface="Cambria" pitchFamily="34" charset="-122"/>
                <a:cs typeface="Cambria" pitchFamily="34" charset="-120"/>
              </a:rPr>
              <a:t>Lo que ya se ha investigado</a:t>
            </a:r>
            <a:endParaRPr lang="en-US" sz="2800" dirty="0"/>
          </a:p>
        </p:txBody>
      </p:sp>
      <p:sp>
        <p:nvSpPr>
          <p:cNvPr id="4" name="Shape 2"/>
          <p:cNvSpPr/>
          <p:nvPr/>
        </p:nvSpPr>
        <p:spPr>
          <a:xfrm>
            <a:off x="731520" y="2148840"/>
            <a:ext cx="7680960" cy="0"/>
          </a:xfrm>
          <a:prstGeom prst="line">
            <a:avLst/>
          </a:prstGeom>
          <a:noFill/>
          <a:ln w="25400">
            <a:solidFill>
              <a:srgbClr val="2F6B4F"/>
            </a:solidFill>
            <a:prstDash val="solid"/>
          </a:ln>
        </p:spPr>
      </p:sp>
      <p:sp>
        <p:nvSpPr>
          <p:cNvPr id="5" name="Shape 3"/>
          <p:cNvSpPr/>
          <p:nvPr/>
        </p:nvSpPr>
        <p:spPr>
          <a:xfrm>
            <a:off x="886968" y="2048256"/>
            <a:ext cx="201168" cy="201168"/>
          </a:xfrm>
          <a:prstGeom prst="ellipse">
            <a:avLst/>
          </a:prstGeom>
          <a:solidFill>
            <a:srgbClr val="2F6B4F"/>
          </a:solidFill>
          <a:ln w="25400">
            <a:solidFill>
              <a:srgbClr val="FFFFFF"/>
            </a:solidFill>
            <a:prstDash val="solid"/>
          </a:ln>
        </p:spPr>
      </p:sp>
      <p:sp>
        <p:nvSpPr>
          <p:cNvPr id="6" name="Text 4"/>
          <p:cNvSpPr txBox="1"/>
          <p:nvPr/>
        </p:nvSpPr>
        <p:spPr>
          <a:xfrm>
            <a:off x="457200" y="1463040"/>
            <a:ext cx="1280160" cy="411480"/>
          </a:xfrm>
          <a:prstGeom prst="rect">
            <a:avLst/>
          </a:prstGeom>
          <a:noFill/>
          <a:ln/>
        </p:spPr>
        <p:txBody>
          <a:bodyPr wrap="square" lIns="0" tIns="0" rIns="0" bIns="0" rtlCol="0" anchor="ctr"/>
          <a:lstStyle/>
          <a:p>
            <a:pPr algn="ctr" indent="0" marL="0">
              <a:buNone/>
            </a:pPr>
            <a:r>
              <a:rPr lang="en-US" sz="2000" b="1" dirty="0">
                <a:solidFill>
                  <a:srgbClr val="163A2B"/>
                </a:solidFill>
                <a:latin typeface="Cambria" pitchFamily="34" charset="0"/>
                <a:ea typeface="Cambria" pitchFamily="34" charset="-122"/>
                <a:cs typeface="Cambria" pitchFamily="34" charset="-120"/>
              </a:rPr>
              <a:t>1998</a:t>
            </a:r>
            <a:endParaRPr lang="en-US" sz="2000" dirty="0"/>
          </a:p>
        </p:txBody>
      </p:sp>
      <p:sp>
        <p:nvSpPr>
          <p:cNvPr id="7" name="Shape 5"/>
          <p:cNvSpPr/>
          <p:nvPr/>
        </p:nvSpPr>
        <p:spPr>
          <a:xfrm>
            <a:off x="484632" y="2468880"/>
            <a:ext cx="1243584" cy="2011680"/>
          </a:xfrm>
          <a:prstGeom prst="roundRect">
            <a:avLst>
              <a:gd name="adj" fmla="val 588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8" name="Text 6"/>
          <p:cNvSpPr txBox="1"/>
          <p:nvPr/>
        </p:nvSpPr>
        <p:spPr>
          <a:xfrm>
            <a:off x="576072" y="2560320"/>
            <a:ext cx="1060704" cy="457200"/>
          </a:xfrm>
          <a:prstGeom prst="rect">
            <a:avLst/>
          </a:prstGeom>
          <a:noFill/>
          <a:ln/>
        </p:spPr>
        <p:txBody>
          <a:bodyPr wrap="square" lIns="0" tIns="0" rIns="0" bIns="0" rtlCol="0" anchor="t"/>
          <a:lstStyle/>
          <a:p>
            <a:pPr indent="0" marL="0">
              <a:buNone/>
            </a:pPr>
            <a:r>
              <a:rPr lang="en-US" sz="1100" b="1" dirty="0">
                <a:solidFill>
                  <a:srgbClr val="C4622D"/>
                </a:solidFill>
                <a:latin typeface="Calibri" pitchFamily="34" charset="0"/>
                <a:ea typeface="Calibri" pitchFamily="34" charset="-122"/>
                <a:cs typeface="Calibri" pitchFamily="34" charset="-120"/>
              </a:rPr>
              <a:t>Suárez Díaz</a:t>
            </a:r>
            <a:endParaRPr lang="en-US" sz="1100" dirty="0"/>
          </a:p>
        </p:txBody>
      </p:sp>
      <p:sp>
        <p:nvSpPr>
          <p:cNvPr id="9" name="Text 7"/>
          <p:cNvSpPr txBox="1"/>
          <p:nvPr/>
        </p:nvSpPr>
        <p:spPr>
          <a:xfrm>
            <a:off x="576072" y="3017520"/>
            <a:ext cx="1060704" cy="1371600"/>
          </a:xfrm>
          <a:prstGeom prst="rect">
            <a:avLst/>
          </a:prstGeom>
          <a:noFill/>
          <a:ln/>
        </p:spPr>
        <p:txBody>
          <a:bodyPr wrap="square" lIns="0" tIns="0" rIns="0" bIns="0" rtlCol="0" anchor="t"/>
          <a:lstStyle/>
          <a:p>
            <a:pPr indent="0" marL="0">
              <a:buNone/>
            </a:pPr>
            <a:r>
              <a:rPr lang="en-US" sz="1050" dirty="0">
                <a:solidFill>
                  <a:srgbClr val="5E6B65"/>
                </a:solidFill>
                <a:latin typeface="Calibri" pitchFamily="34" charset="0"/>
                <a:ea typeface="Calibri" pitchFamily="34" charset="-122"/>
                <a:cs typeface="Calibri" pitchFamily="34" charset="-120"/>
              </a:rPr>
              <a:t>Coluviones: sensibles a la saturación; el drenaje es la primera medida.</a:t>
            </a:r>
            <a:endParaRPr lang="en-US" sz="1050" dirty="0"/>
          </a:p>
        </p:txBody>
      </p:sp>
      <p:sp>
        <p:nvSpPr>
          <p:cNvPr id="10" name="Shape 8"/>
          <p:cNvSpPr/>
          <p:nvPr/>
        </p:nvSpPr>
        <p:spPr>
          <a:xfrm>
            <a:off x="2258568" y="2048256"/>
            <a:ext cx="201168" cy="201168"/>
          </a:xfrm>
          <a:prstGeom prst="ellipse">
            <a:avLst/>
          </a:prstGeom>
          <a:solidFill>
            <a:srgbClr val="C4622D"/>
          </a:solidFill>
          <a:ln w="25400">
            <a:solidFill>
              <a:srgbClr val="FFFFFF"/>
            </a:solidFill>
            <a:prstDash val="solid"/>
          </a:ln>
        </p:spPr>
      </p:sp>
      <p:sp>
        <p:nvSpPr>
          <p:cNvPr id="11" name="Text 9"/>
          <p:cNvSpPr txBox="1"/>
          <p:nvPr/>
        </p:nvSpPr>
        <p:spPr>
          <a:xfrm>
            <a:off x="1828800" y="1463040"/>
            <a:ext cx="1280160" cy="411480"/>
          </a:xfrm>
          <a:prstGeom prst="rect">
            <a:avLst/>
          </a:prstGeom>
          <a:noFill/>
          <a:ln/>
        </p:spPr>
        <p:txBody>
          <a:bodyPr wrap="square" lIns="0" tIns="0" rIns="0" bIns="0" rtlCol="0" anchor="ctr"/>
          <a:lstStyle/>
          <a:p>
            <a:pPr algn="ctr" indent="0" marL="0">
              <a:buNone/>
            </a:pPr>
            <a:r>
              <a:rPr lang="en-US" sz="2000" b="1" dirty="0">
                <a:solidFill>
                  <a:srgbClr val="163A2B"/>
                </a:solidFill>
                <a:latin typeface="Cambria" pitchFamily="34" charset="0"/>
                <a:ea typeface="Cambria" pitchFamily="34" charset="-122"/>
                <a:cs typeface="Cambria" pitchFamily="34" charset="-120"/>
              </a:rPr>
              <a:t>2009</a:t>
            </a:r>
            <a:endParaRPr lang="en-US" sz="2000" dirty="0"/>
          </a:p>
        </p:txBody>
      </p:sp>
      <p:sp>
        <p:nvSpPr>
          <p:cNvPr id="12" name="Shape 10"/>
          <p:cNvSpPr/>
          <p:nvPr/>
        </p:nvSpPr>
        <p:spPr>
          <a:xfrm>
            <a:off x="1856232" y="2468880"/>
            <a:ext cx="1243584" cy="2011680"/>
          </a:xfrm>
          <a:prstGeom prst="roundRect">
            <a:avLst>
              <a:gd name="adj" fmla="val 588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11"/>
          <p:cNvSpPr txBox="1"/>
          <p:nvPr/>
        </p:nvSpPr>
        <p:spPr>
          <a:xfrm>
            <a:off x="1947672" y="2560320"/>
            <a:ext cx="1060704" cy="457200"/>
          </a:xfrm>
          <a:prstGeom prst="rect">
            <a:avLst/>
          </a:prstGeom>
          <a:noFill/>
          <a:ln/>
        </p:spPr>
        <p:txBody>
          <a:bodyPr wrap="square" lIns="0" tIns="0" rIns="0" bIns="0" rtlCol="0" anchor="t"/>
          <a:lstStyle/>
          <a:p>
            <a:pPr indent="0" marL="0">
              <a:buNone/>
            </a:pPr>
            <a:r>
              <a:rPr lang="en-US" sz="1100" b="1" dirty="0">
                <a:solidFill>
                  <a:srgbClr val="C4622D"/>
                </a:solidFill>
                <a:latin typeface="Calibri" pitchFamily="34" charset="0"/>
                <a:ea typeface="Calibri" pitchFamily="34" charset="-122"/>
                <a:cs typeface="Calibri" pitchFamily="34" charset="-120"/>
              </a:rPr>
              <a:t>Stokes et al.</a:t>
            </a:r>
            <a:endParaRPr lang="en-US" sz="1100" dirty="0"/>
          </a:p>
        </p:txBody>
      </p:sp>
      <p:sp>
        <p:nvSpPr>
          <p:cNvPr id="14" name="Text 12"/>
          <p:cNvSpPr txBox="1"/>
          <p:nvPr/>
        </p:nvSpPr>
        <p:spPr>
          <a:xfrm>
            <a:off x="1947672" y="3017520"/>
            <a:ext cx="1060704" cy="1371600"/>
          </a:xfrm>
          <a:prstGeom prst="rect">
            <a:avLst/>
          </a:prstGeom>
          <a:noFill/>
          <a:ln/>
        </p:spPr>
        <p:txBody>
          <a:bodyPr wrap="square" lIns="0" tIns="0" rIns="0" bIns="0" rtlCol="0" anchor="t"/>
          <a:lstStyle/>
          <a:p>
            <a:pPr indent="0" marL="0">
              <a:buNone/>
            </a:pPr>
            <a:r>
              <a:rPr lang="en-US" sz="1050" dirty="0">
                <a:solidFill>
                  <a:srgbClr val="5E6B65"/>
                </a:solidFill>
                <a:latin typeface="Calibri" pitchFamily="34" charset="0"/>
                <a:ea typeface="Calibri" pitchFamily="34" charset="-122"/>
                <a:cs typeface="Calibri" pitchFamily="34" charset="-120"/>
              </a:rPr>
              <a:t>Qué raíces refuerzan realmente un talud.</a:t>
            </a:r>
            <a:endParaRPr lang="en-US" sz="1050" dirty="0"/>
          </a:p>
        </p:txBody>
      </p:sp>
      <p:sp>
        <p:nvSpPr>
          <p:cNvPr id="15" name="Shape 13"/>
          <p:cNvSpPr/>
          <p:nvPr/>
        </p:nvSpPr>
        <p:spPr>
          <a:xfrm>
            <a:off x="3630168" y="2048256"/>
            <a:ext cx="201168" cy="201168"/>
          </a:xfrm>
          <a:prstGeom prst="ellipse">
            <a:avLst/>
          </a:prstGeom>
          <a:solidFill>
            <a:srgbClr val="2F6B4F"/>
          </a:solidFill>
          <a:ln w="25400">
            <a:solidFill>
              <a:srgbClr val="FFFFFF"/>
            </a:solidFill>
            <a:prstDash val="solid"/>
          </a:ln>
        </p:spPr>
      </p:sp>
      <p:sp>
        <p:nvSpPr>
          <p:cNvPr id="16" name="Text 14"/>
          <p:cNvSpPr txBox="1"/>
          <p:nvPr/>
        </p:nvSpPr>
        <p:spPr>
          <a:xfrm>
            <a:off x="3200400" y="1463040"/>
            <a:ext cx="1280160" cy="411480"/>
          </a:xfrm>
          <a:prstGeom prst="rect">
            <a:avLst/>
          </a:prstGeom>
          <a:noFill/>
          <a:ln/>
        </p:spPr>
        <p:txBody>
          <a:bodyPr wrap="square" lIns="0" tIns="0" rIns="0" bIns="0" rtlCol="0" anchor="ctr"/>
          <a:lstStyle/>
          <a:p>
            <a:pPr algn="ctr" indent="0" marL="0">
              <a:buNone/>
            </a:pPr>
            <a:r>
              <a:rPr lang="en-US" sz="2000" b="1" dirty="0">
                <a:solidFill>
                  <a:srgbClr val="163A2B"/>
                </a:solidFill>
                <a:latin typeface="Cambria" pitchFamily="34" charset="0"/>
                <a:ea typeface="Cambria" pitchFamily="34" charset="-122"/>
                <a:cs typeface="Cambria" pitchFamily="34" charset="-120"/>
              </a:rPr>
              <a:t>2015</a:t>
            </a:r>
            <a:endParaRPr lang="en-US" sz="2000" dirty="0"/>
          </a:p>
        </p:txBody>
      </p:sp>
      <p:sp>
        <p:nvSpPr>
          <p:cNvPr id="17" name="Shape 15"/>
          <p:cNvSpPr/>
          <p:nvPr/>
        </p:nvSpPr>
        <p:spPr>
          <a:xfrm>
            <a:off x="3227832" y="2468880"/>
            <a:ext cx="1243584" cy="2011680"/>
          </a:xfrm>
          <a:prstGeom prst="roundRect">
            <a:avLst>
              <a:gd name="adj" fmla="val 588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8" name="Text 16"/>
          <p:cNvSpPr txBox="1"/>
          <p:nvPr/>
        </p:nvSpPr>
        <p:spPr>
          <a:xfrm>
            <a:off x="3319272" y="2560320"/>
            <a:ext cx="1060704" cy="457200"/>
          </a:xfrm>
          <a:prstGeom prst="rect">
            <a:avLst/>
          </a:prstGeom>
          <a:noFill/>
          <a:ln/>
        </p:spPr>
        <p:txBody>
          <a:bodyPr wrap="square" lIns="0" tIns="0" rIns="0" bIns="0" rtlCol="0" anchor="t"/>
          <a:lstStyle/>
          <a:p>
            <a:pPr indent="0" marL="0">
              <a:buNone/>
            </a:pPr>
            <a:r>
              <a:rPr lang="en-US" sz="1100" b="1" dirty="0">
                <a:solidFill>
                  <a:srgbClr val="C4622D"/>
                </a:solidFill>
                <a:latin typeface="Calibri" pitchFamily="34" charset="0"/>
                <a:ea typeface="Calibri" pitchFamily="34" charset="-122"/>
                <a:cs typeface="Calibri" pitchFamily="34" charset="-120"/>
              </a:rPr>
              <a:t>Fletcher et al.</a:t>
            </a:r>
            <a:endParaRPr lang="en-US" sz="1100" dirty="0"/>
          </a:p>
        </p:txBody>
      </p:sp>
      <p:sp>
        <p:nvSpPr>
          <p:cNvPr id="19" name="Text 17"/>
          <p:cNvSpPr txBox="1"/>
          <p:nvPr/>
        </p:nvSpPr>
        <p:spPr>
          <a:xfrm>
            <a:off x="3319272" y="3017520"/>
            <a:ext cx="1060704" cy="1371600"/>
          </a:xfrm>
          <a:prstGeom prst="rect">
            <a:avLst/>
          </a:prstGeom>
          <a:noFill/>
          <a:ln/>
        </p:spPr>
        <p:txBody>
          <a:bodyPr wrap="square" lIns="0" tIns="0" rIns="0" bIns="0" rtlCol="0" anchor="t"/>
          <a:lstStyle/>
          <a:p>
            <a:pPr indent="0" marL="0">
              <a:buNone/>
            </a:pPr>
            <a:r>
              <a:rPr lang="en-US" sz="1050" dirty="0">
                <a:solidFill>
                  <a:srgbClr val="5E6B65"/>
                </a:solidFill>
                <a:latin typeface="Calibri" pitchFamily="34" charset="0"/>
                <a:ea typeface="Calibri" pitchFamily="34" charset="-122"/>
                <a:cs typeface="Calibri" pitchFamily="34" charset="-120"/>
              </a:rPr>
              <a:t>Evolución del drenaje sostenible (SUDS, LID).</a:t>
            </a:r>
            <a:endParaRPr lang="en-US" sz="1050" dirty="0"/>
          </a:p>
        </p:txBody>
      </p:sp>
      <p:sp>
        <p:nvSpPr>
          <p:cNvPr id="20" name="Shape 18"/>
          <p:cNvSpPr/>
          <p:nvPr/>
        </p:nvSpPr>
        <p:spPr>
          <a:xfrm>
            <a:off x="5001768" y="2048256"/>
            <a:ext cx="201168" cy="201168"/>
          </a:xfrm>
          <a:prstGeom prst="ellipse">
            <a:avLst/>
          </a:prstGeom>
          <a:solidFill>
            <a:srgbClr val="C4622D"/>
          </a:solidFill>
          <a:ln w="25400">
            <a:solidFill>
              <a:srgbClr val="FFFFFF"/>
            </a:solidFill>
            <a:prstDash val="solid"/>
          </a:ln>
        </p:spPr>
      </p:sp>
      <p:sp>
        <p:nvSpPr>
          <p:cNvPr id="21" name="Text 19"/>
          <p:cNvSpPr txBox="1"/>
          <p:nvPr/>
        </p:nvSpPr>
        <p:spPr>
          <a:xfrm>
            <a:off x="4572000" y="1463040"/>
            <a:ext cx="1280160" cy="411480"/>
          </a:xfrm>
          <a:prstGeom prst="rect">
            <a:avLst/>
          </a:prstGeom>
          <a:noFill/>
          <a:ln/>
        </p:spPr>
        <p:txBody>
          <a:bodyPr wrap="square" lIns="0" tIns="0" rIns="0" bIns="0" rtlCol="0" anchor="ctr"/>
          <a:lstStyle/>
          <a:p>
            <a:pPr algn="ctr" indent="0" marL="0">
              <a:buNone/>
            </a:pPr>
            <a:r>
              <a:rPr lang="en-US" sz="2000" b="1" dirty="0">
                <a:solidFill>
                  <a:srgbClr val="163A2B"/>
                </a:solidFill>
                <a:latin typeface="Cambria" pitchFamily="34" charset="0"/>
                <a:ea typeface="Cambria" pitchFamily="34" charset="-122"/>
                <a:cs typeface="Cambria" pitchFamily="34" charset="-120"/>
              </a:rPr>
              <a:t>2016</a:t>
            </a:r>
            <a:endParaRPr lang="en-US" sz="2000" dirty="0"/>
          </a:p>
        </p:txBody>
      </p:sp>
      <p:sp>
        <p:nvSpPr>
          <p:cNvPr id="22" name="Shape 20"/>
          <p:cNvSpPr/>
          <p:nvPr/>
        </p:nvSpPr>
        <p:spPr>
          <a:xfrm>
            <a:off x="4599432" y="2468880"/>
            <a:ext cx="1243584" cy="2011680"/>
          </a:xfrm>
          <a:prstGeom prst="roundRect">
            <a:avLst>
              <a:gd name="adj" fmla="val 588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23" name="Text 21"/>
          <p:cNvSpPr txBox="1"/>
          <p:nvPr/>
        </p:nvSpPr>
        <p:spPr>
          <a:xfrm>
            <a:off x="4690872" y="2560320"/>
            <a:ext cx="1060704" cy="457200"/>
          </a:xfrm>
          <a:prstGeom prst="rect">
            <a:avLst/>
          </a:prstGeom>
          <a:noFill/>
          <a:ln/>
        </p:spPr>
        <p:txBody>
          <a:bodyPr wrap="square" lIns="0" tIns="0" rIns="0" bIns="0" rtlCol="0" anchor="t"/>
          <a:lstStyle/>
          <a:p>
            <a:pPr indent="0" marL="0">
              <a:buNone/>
            </a:pPr>
            <a:r>
              <a:rPr lang="en-US" sz="1100" b="1" dirty="0">
                <a:solidFill>
                  <a:srgbClr val="C4622D"/>
                </a:solidFill>
                <a:latin typeface="Calibri" pitchFamily="34" charset="0"/>
                <a:ea typeface="Calibri" pitchFamily="34" charset="-122"/>
                <a:cs typeface="Calibri" pitchFamily="34" charset="-120"/>
              </a:rPr>
              <a:t>SGC</a:t>
            </a:r>
            <a:endParaRPr lang="en-US" sz="1100" dirty="0"/>
          </a:p>
        </p:txBody>
      </p:sp>
      <p:sp>
        <p:nvSpPr>
          <p:cNvPr id="24" name="Text 22"/>
          <p:cNvSpPr txBox="1"/>
          <p:nvPr/>
        </p:nvSpPr>
        <p:spPr>
          <a:xfrm>
            <a:off x="4690872" y="3017520"/>
            <a:ext cx="1060704" cy="1371600"/>
          </a:xfrm>
          <a:prstGeom prst="rect">
            <a:avLst/>
          </a:prstGeom>
          <a:noFill/>
          <a:ln/>
        </p:spPr>
        <p:txBody>
          <a:bodyPr wrap="square" lIns="0" tIns="0" rIns="0" bIns="0" rtlCol="0" anchor="t"/>
          <a:lstStyle/>
          <a:p>
            <a:pPr indent="0" marL="0">
              <a:buNone/>
            </a:pPr>
            <a:r>
              <a:rPr lang="en-US" sz="1050" dirty="0">
                <a:solidFill>
                  <a:srgbClr val="5E6B65"/>
                </a:solidFill>
                <a:latin typeface="Calibri" pitchFamily="34" charset="0"/>
                <a:ea typeface="Calibri" pitchFamily="34" charset="-122"/>
                <a:cs typeface="Calibri" pitchFamily="34" charset="-120"/>
              </a:rPr>
              <a:t>Guía para estudios de amenaza por movimientos en masa.</a:t>
            </a:r>
            <a:endParaRPr lang="en-US" sz="1050" dirty="0"/>
          </a:p>
        </p:txBody>
      </p:sp>
      <p:sp>
        <p:nvSpPr>
          <p:cNvPr id="25" name="Shape 23"/>
          <p:cNvSpPr/>
          <p:nvPr/>
        </p:nvSpPr>
        <p:spPr>
          <a:xfrm>
            <a:off x="6373368" y="2048256"/>
            <a:ext cx="201168" cy="201168"/>
          </a:xfrm>
          <a:prstGeom prst="ellipse">
            <a:avLst/>
          </a:prstGeom>
          <a:solidFill>
            <a:srgbClr val="2F6B4F"/>
          </a:solidFill>
          <a:ln w="25400">
            <a:solidFill>
              <a:srgbClr val="FFFFFF"/>
            </a:solidFill>
            <a:prstDash val="solid"/>
          </a:ln>
        </p:spPr>
      </p:sp>
      <p:sp>
        <p:nvSpPr>
          <p:cNvPr id="26" name="Text 24"/>
          <p:cNvSpPr txBox="1"/>
          <p:nvPr/>
        </p:nvSpPr>
        <p:spPr>
          <a:xfrm>
            <a:off x="5943600" y="1463040"/>
            <a:ext cx="1280160" cy="411480"/>
          </a:xfrm>
          <a:prstGeom prst="rect">
            <a:avLst/>
          </a:prstGeom>
          <a:noFill/>
          <a:ln/>
        </p:spPr>
        <p:txBody>
          <a:bodyPr wrap="square" lIns="0" tIns="0" rIns="0" bIns="0" rtlCol="0" anchor="ctr"/>
          <a:lstStyle/>
          <a:p>
            <a:pPr algn="ctr" indent="0" marL="0">
              <a:buNone/>
            </a:pPr>
            <a:r>
              <a:rPr lang="en-US" sz="2000" b="1" dirty="0">
                <a:solidFill>
                  <a:srgbClr val="163A2B"/>
                </a:solidFill>
                <a:latin typeface="Cambria" pitchFamily="34" charset="0"/>
                <a:ea typeface="Cambria" pitchFamily="34" charset="-122"/>
                <a:cs typeface="Cambria" pitchFamily="34" charset="-120"/>
              </a:rPr>
              <a:t>2019</a:t>
            </a:r>
            <a:endParaRPr lang="en-US" sz="2000" dirty="0"/>
          </a:p>
        </p:txBody>
      </p:sp>
      <p:sp>
        <p:nvSpPr>
          <p:cNvPr id="27" name="Shape 25"/>
          <p:cNvSpPr/>
          <p:nvPr/>
        </p:nvSpPr>
        <p:spPr>
          <a:xfrm>
            <a:off x="5971032" y="2468880"/>
            <a:ext cx="1243584" cy="2011680"/>
          </a:xfrm>
          <a:prstGeom prst="roundRect">
            <a:avLst>
              <a:gd name="adj" fmla="val 588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28" name="Text 26"/>
          <p:cNvSpPr txBox="1"/>
          <p:nvPr/>
        </p:nvSpPr>
        <p:spPr>
          <a:xfrm>
            <a:off x="6062472" y="2560320"/>
            <a:ext cx="1060704" cy="457200"/>
          </a:xfrm>
          <a:prstGeom prst="rect">
            <a:avLst/>
          </a:prstGeom>
          <a:noFill/>
          <a:ln/>
        </p:spPr>
        <p:txBody>
          <a:bodyPr wrap="square" lIns="0" tIns="0" rIns="0" bIns="0" rtlCol="0" anchor="t"/>
          <a:lstStyle/>
          <a:p>
            <a:pPr indent="0" marL="0">
              <a:buNone/>
            </a:pPr>
            <a:r>
              <a:rPr lang="en-US" sz="1100" b="1" dirty="0">
                <a:solidFill>
                  <a:srgbClr val="C4622D"/>
                </a:solidFill>
                <a:latin typeface="Calibri" pitchFamily="34" charset="0"/>
                <a:ea typeface="Calibri" pitchFamily="34" charset="-122"/>
                <a:cs typeface="Calibri" pitchFamily="34" charset="-120"/>
              </a:rPr>
              <a:t>Rey et al.</a:t>
            </a:r>
            <a:endParaRPr lang="en-US" sz="1100" dirty="0"/>
          </a:p>
        </p:txBody>
      </p:sp>
      <p:sp>
        <p:nvSpPr>
          <p:cNvPr id="29" name="Text 27"/>
          <p:cNvSpPr txBox="1"/>
          <p:nvPr/>
        </p:nvSpPr>
        <p:spPr>
          <a:xfrm>
            <a:off x="6062472" y="3017520"/>
            <a:ext cx="1060704" cy="1371600"/>
          </a:xfrm>
          <a:prstGeom prst="rect">
            <a:avLst/>
          </a:prstGeom>
          <a:noFill/>
          <a:ln/>
        </p:spPr>
        <p:txBody>
          <a:bodyPr wrap="square" lIns="0" tIns="0" rIns="0" bIns="0" rtlCol="0" anchor="t"/>
          <a:lstStyle/>
          <a:p>
            <a:pPr indent="0" marL="0">
              <a:buNone/>
            </a:pPr>
            <a:r>
              <a:rPr lang="en-US" sz="1050" dirty="0">
                <a:solidFill>
                  <a:srgbClr val="5E6B65"/>
                </a:solidFill>
                <a:latin typeface="Calibri" pitchFamily="34" charset="0"/>
                <a:ea typeface="Calibri" pitchFamily="34" charset="-122"/>
                <a:cs typeface="Calibri" pitchFamily="34" charset="-120"/>
              </a:rPr>
              <a:t>Bioingeniería: controlar amenazas y restaurar.</a:t>
            </a:r>
            <a:endParaRPr lang="en-US" sz="1050" dirty="0"/>
          </a:p>
        </p:txBody>
      </p:sp>
      <p:sp>
        <p:nvSpPr>
          <p:cNvPr id="30" name="Shape 28"/>
          <p:cNvSpPr/>
          <p:nvPr/>
        </p:nvSpPr>
        <p:spPr>
          <a:xfrm>
            <a:off x="7744968" y="2048256"/>
            <a:ext cx="201168" cy="201168"/>
          </a:xfrm>
          <a:prstGeom prst="ellipse">
            <a:avLst/>
          </a:prstGeom>
          <a:solidFill>
            <a:srgbClr val="C4622D"/>
          </a:solidFill>
          <a:ln w="25400">
            <a:solidFill>
              <a:srgbClr val="FFFFFF"/>
            </a:solidFill>
            <a:prstDash val="solid"/>
          </a:ln>
        </p:spPr>
      </p:sp>
      <p:sp>
        <p:nvSpPr>
          <p:cNvPr id="31" name="Text 29"/>
          <p:cNvSpPr txBox="1"/>
          <p:nvPr/>
        </p:nvSpPr>
        <p:spPr>
          <a:xfrm>
            <a:off x="7315200" y="1463040"/>
            <a:ext cx="1280160" cy="411480"/>
          </a:xfrm>
          <a:prstGeom prst="rect">
            <a:avLst/>
          </a:prstGeom>
          <a:noFill/>
          <a:ln/>
        </p:spPr>
        <p:txBody>
          <a:bodyPr wrap="square" lIns="0" tIns="0" rIns="0" bIns="0" rtlCol="0" anchor="ctr"/>
          <a:lstStyle/>
          <a:p>
            <a:pPr algn="ctr" indent="0" marL="0">
              <a:buNone/>
            </a:pPr>
            <a:r>
              <a:rPr lang="en-US" sz="2000" b="1" dirty="0">
                <a:solidFill>
                  <a:srgbClr val="163A2B"/>
                </a:solidFill>
                <a:latin typeface="Cambria" pitchFamily="34" charset="0"/>
                <a:ea typeface="Cambria" pitchFamily="34" charset="-122"/>
                <a:cs typeface="Cambria" pitchFamily="34" charset="-120"/>
              </a:rPr>
              <a:t>2020</a:t>
            </a:r>
            <a:endParaRPr lang="en-US" sz="2000" dirty="0"/>
          </a:p>
        </p:txBody>
      </p:sp>
      <p:sp>
        <p:nvSpPr>
          <p:cNvPr id="32" name="Shape 30"/>
          <p:cNvSpPr/>
          <p:nvPr/>
        </p:nvSpPr>
        <p:spPr>
          <a:xfrm>
            <a:off x="7342632" y="2468880"/>
            <a:ext cx="1243584" cy="2011680"/>
          </a:xfrm>
          <a:prstGeom prst="roundRect">
            <a:avLst>
              <a:gd name="adj" fmla="val 588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33" name="Text 31"/>
          <p:cNvSpPr txBox="1"/>
          <p:nvPr/>
        </p:nvSpPr>
        <p:spPr>
          <a:xfrm>
            <a:off x="7434072" y="2560320"/>
            <a:ext cx="1060704" cy="457200"/>
          </a:xfrm>
          <a:prstGeom prst="rect">
            <a:avLst/>
          </a:prstGeom>
          <a:noFill/>
          <a:ln/>
        </p:spPr>
        <p:txBody>
          <a:bodyPr wrap="square" lIns="0" tIns="0" rIns="0" bIns="0" rtlCol="0" anchor="t"/>
          <a:lstStyle/>
          <a:p>
            <a:pPr indent="0" marL="0">
              <a:buNone/>
            </a:pPr>
            <a:r>
              <a:rPr lang="en-US" sz="1100" b="1" dirty="0">
                <a:solidFill>
                  <a:srgbClr val="C4622D"/>
                </a:solidFill>
                <a:latin typeface="Calibri" pitchFamily="34" charset="0"/>
                <a:ea typeface="Calibri" pitchFamily="34" charset="-122"/>
                <a:cs typeface="Calibri" pitchFamily="34" charset="-120"/>
              </a:rPr>
              <a:t>Aristizábal &amp; Sánchez</a:t>
            </a:r>
            <a:endParaRPr lang="en-US" sz="1100" dirty="0"/>
          </a:p>
        </p:txBody>
      </p:sp>
      <p:sp>
        <p:nvSpPr>
          <p:cNvPr id="34" name="Text 32"/>
          <p:cNvSpPr txBox="1"/>
          <p:nvPr/>
        </p:nvSpPr>
        <p:spPr>
          <a:xfrm>
            <a:off x="7434072" y="3017520"/>
            <a:ext cx="1060704" cy="1371600"/>
          </a:xfrm>
          <a:prstGeom prst="rect">
            <a:avLst/>
          </a:prstGeom>
          <a:noFill/>
          <a:ln/>
        </p:spPr>
        <p:txBody>
          <a:bodyPr wrap="square" lIns="0" tIns="0" rIns="0" bIns="0" rtlCol="0" anchor="t"/>
          <a:lstStyle/>
          <a:p>
            <a:pPr indent="0" marL="0">
              <a:buNone/>
            </a:pPr>
            <a:r>
              <a:rPr lang="en-US" sz="1050" dirty="0">
                <a:solidFill>
                  <a:srgbClr val="5E6B65"/>
                </a:solidFill>
                <a:latin typeface="Calibri" pitchFamily="34" charset="0"/>
                <a:ea typeface="Calibri" pitchFamily="34" charset="-122"/>
                <a:cs typeface="Calibri" pitchFamily="34" charset="-120"/>
              </a:rPr>
              <a:t>Deslizamientos en los Andes colombianos: la lluvia manda.</a:t>
            </a:r>
            <a:endParaRPr lang="en-US" sz="1050" dirty="0"/>
          </a:p>
        </p:txBody>
      </p:sp>
      <p:sp>
        <p:nvSpPr>
          <p:cNvPr id="35" name="Text 33"/>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E6B65"/>
                </a:solidFill>
                <a:latin typeface="Calibri" pitchFamily="34" charset="0"/>
                <a:ea typeface="Calibri" pitchFamily="34" charset="-122"/>
                <a:cs typeface="Calibri" pitchFamily="34" charset="-120"/>
              </a:rPr>
              <a:t>Parque Temático El Cacique · Cácota, N. de S.</a:t>
            </a:r>
            <a:endParaRPr lang="en-US" sz="900" dirty="0"/>
          </a:p>
        </p:txBody>
      </p:sp>
      <p:sp>
        <p:nvSpPr>
          <p:cNvPr id="36" name="Text 34"/>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E6B65"/>
                </a:solidFill>
                <a:latin typeface="Calibri" pitchFamily="34" charset="0"/>
                <a:ea typeface="Calibri" pitchFamily="34" charset="-122"/>
                <a:cs typeface="Calibri" pitchFamily="34" charset="-120"/>
              </a:rPr>
              <a:t>09 / 19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28600"/>
          </a:xfrm>
          <a:prstGeom prst="rect">
            <a:avLst/>
          </a:prstGeom>
          <a:noFill/>
          <a:ln/>
        </p:spPr>
        <p:txBody>
          <a:bodyPr wrap="square" lIns="0" tIns="0" rIns="0" bIns="0" rtlCol="0" anchor="ctr"/>
          <a:lstStyle/>
          <a:p>
            <a:pPr indent="0" marL="0">
              <a:buNone/>
            </a:pPr>
            <a:r>
              <a:rPr lang="en-US" sz="1000" b="1" spc="300" kern="0" dirty="0">
                <a:solidFill>
                  <a:srgbClr val="C4622D"/>
                </a:solidFill>
                <a:latin typeface="Calibri" pitchFamily="34" charset="0"/>
                <a:ea typeface="Calibri" pitchFamily="34" charset="-122"/>
                <a:cs typeface="Calibri" pitchFamily="34" charset="-120"/>
              </a:rPr>
              <a:t>04 · MARCO TEÓRICO</a:t>
            </a:r>
            <a:endParaRPr lang="en-US" sz="1000" dirty="0"/>
          </a:p>
        </p:txBody>
      </p:sp>
      <p:sp>
        <p:nvSpPr>
          <p:cNvPr id="3" name="Text 1"/>
          <p:cNvSpPr txBox="1"/>
          <p:nvPr/>
        </p:nvSpPr>
        <p:spPr>
          <a:xfrm>
            <a:off x="457200" y="566928"/>
            <a:ext cx="8229600" cy="640080"/>
          </a:xfrm>
          <a:prstGeom prst="rect">
            <a:avLst/>
          </a:prstGeom>
          <a:noFill/>
          <a:ln/>
        </p:spPr>
        <p:txBody>
          <a:bodyPr wrap="square" lIns="0" tIns="0" rIns="0" bIns="0" rtlCol="0" anchor="t"/>
          <a:lstStyle/>
          <a:p>
            <a:pPr indent="0" marL="0">
              <a:buNone/>
            </a:pPr>
            <a:r>
              <a:rPr lang="en-US" sz="2800" b="1" dirty="0">
                <a:solidFill>
                  <a:srgbClr val="163A2B"/>
                </a:solidFill>
                <a:latin typeface="Cambria" pitchFamily="34" charset="0"/>
                <a:ea typeface="Cambria" pitchFamily="34" charset="-122"/>
                <a:cs typeface="Cambria" pitchFamily="34" charset="-120"/>
              </a:rPr>
              <a:t>Tres herramientas del análisis</a:t>
            </a:r>
            <a:endParaRPr lang="en-US" sz="2800" dirty="0"/>
          </a:p>
        </p:txBody>
      </p:sp>
      <p:sp>
        <p:nvSpPr>
          <p:cNvPr id="4" name="Shape 2"/>
          <p:cNvSpPr/>
          <p:nvPr/>
        </p:nvSpPr>
        <p:spPr>
          <a:xfrm>
            <a:off x="457200" y="1417320"/>
            <a:ext cx="2606040" cy="3063240"/>
          </a:xfrm>
          <a:prstGeom prst="roundRect">
            <a:avLst>
              <a:gd name="adj" fmla="val 3509"/>
            </a:avLst>
          </a:prstGeom>
          <a:solidFill>
            <a:srgbClr val="F3F7F4"/>
          </a:solidFill>
          <a:ln w="12700">
            <a:solidFill>
              <a:srgbClr val="F3F7F4"/>
            </a:solidFill>
            <a:prstDash val="solid"/>
          </a:ln>
        </p:spPr>
      </p:sp>
      <p:sp>
        <p:nvSpPr>
          <p:cNvPr id="5" name="Shape 3"/>
          <p:cNvSpPr/>
          <p:nvPr/>
        </p:nvSpPr>
        <p:spPr>
          <a:xfrm>
            <a:off x="685800" y="1645920"/>
            <a:ext cx="548640" cy="548640"/>
          </a:xfrm>
          <a:prstGeom prst="ellipse">
            <a:avLst/>
          </a:prstGeom>
          <a:solidFill>
            <a:srgbClr val="2F6B4F"/>
          </a:solidFill>
          <a:ln w="12700">
            <a:solidFill>
              <a:srgbClr val="2F6B4F"/>
            </a:solidFill>
            <a:prstDash val="solid"/>
          </a:ln>
        </p:spPr>
      </p:sp>
      <p:pic>
        <p:nvPicPr>
          <p:cNvPr id="6" name="Image 0" descr="preencoded.png">    </p:cNvPr>
          <p:cNvPicPr>
            <a:picLocks noChangeAspect="1"/>
          </p:cNvPicPr>
          <p:nvPr/>
        </p:nvPicPr>
        <p:blipFill>
          <a:blip r:embed="rId1"/>
          <a:stretch>
            <a:fillRect/>
          </a:stretch>
        </p:blipFill>
        <p:spPr>
          <a:xfrm>
            <a:off x="828446" y="1788566"/>
            <a:ext cx="263347" cy="263347"/>
          </a:xfrm>
          <a:prstGeom prst="rect">
            <a:avLst/>
          </a:prstGeom>
        </p:spPr>
      </p:pic>
      <p:sp>
        <p:nvSpPr>
          <p:cNvPr id="7" name="Text 4"/>
          <p:cNvSpPr txBox="1"/>
          <p:nvPr/>
        </p:nvSpPr>
        <p:spPr>
          <a:xfrm>
            <a:off x="685800" y="2331720"/>
            <a:ext cx="2194560" cy="365760"/>
          </a:xfrm>
          <a:prstGeom prst="rect">
            <a:avLst/>
          </a:prstGeom>
          <a:noFill/>
          <a:ln/>
        </p:spPr>
        <p:txBody>
          <a:bodyPr wrap="square" lIns="0" tIns="0" rIns="0" bIns="0" rtlCol="0" anchor="ctr"/>
          <a:lstStyle/>
          <a:p>
            <a:pPr indent="0" marL="0">
              <a:buNone/>
            </a:pPr>
            <a:r>
              <a:rPr lang="en-US" sz="1600" b="1" dirty="0">
                <a:solidFill>
                  <a:srgbClr val="163A2B"/>
                </a:solidFill>
                <a:latin typeface="Cambria" pitchFamily="34" charset="0"/>
                <a:ea typeface="Cambria" pitchFamily="34" charset="-122"/>
                <a:cs typeface="Cambria" pitchFamily="34" charset="-120"/>
              </a:rPr>
              <a:t>Resistencia al corte</a:t>
            </a:r>
            <a:endParaRPr lang="en-US" sz="1600" dirty="0"/>
          </a:p>
        </p:txBody>
      </p:sp>
      <p:sp>
        <p:nvSpPr>
          <p:cNvPr id="8" name="Shape 5"/>
          <p:cNvSpPr/>
          <p:nvPr/>
        </p:nvSpPr>
        <p:spPr>
          <a:xfrm>
            <a:off x="685800" y="2743200"/>
            <a:ext cx="2148840" cy="457200"/>
          </a:xfrm>
          <a:prstGeom prst="roundRect">
            <a:avLst>
              <a:gd name="adj" fmla="val 12000"/>
            </a:avLst>
          </a:prstGeom>
          <a:solidFill>
            <a:srgbClr val="FFFFFF"/>
          </a:solidFill>
          <a:ln w="12700">
            <a:solidFill>
              <a:srgbClr val="DCEADF"/>
            </a:solidFill>
            <a:prstDash val="solid"/>
          </a:ln>
        </p:spPr>
      </p:sp>
      <p:sp>
        <p:nvSpPr>
          <p:cNvPr id="9" name="Text 6"/>
          <p:cNvSpPr txBox="1"/>
          <p:nvPr/>
        </p:nvSpPr>
        <p:spPr>
          <a:xfrm>
            <a:off x="685800" y="2743200"/>
            <a:ext cx="2148840" cy="457200"/>
          </a:xfrm>
          <a:prstGeom prst="rect">
            <a:avLst/>
          </a:prstGeom>
          <a:noFill/>
          <a:ln/>
        </p:spPr>
        <p:txBody>
          <a:bodyPr wrap="square" lIns="0" tIns="0" rIns="0" bIns="0" rtlCol="0" anchor="ctr"/>
          <a:lstStyle/>
          <a:p>
            <a:pPr algn="ctr" indent="0" marL="0">
              <a:buNone/>
            </a:pPr>
            <a:r>
              <a:rPr lang="en-US" sz="1150" i="1" dirty="0">
                <a:solidFill>
                  <a:srgbClr val="C4622D"/>
                </a:solidFill>
                <a:latin typeface="Cambria" pitchFamily="34" charset="0"/>
                <a:ea typeface="Cambria" pitchFamily="34" charset="-122"/>
                <a:cs typeface="Cambria" pitchFamily="34" charset="-120"/>
              </a:rPr>
              <a:t>τ = c′ + (σ − u)·tan φ′</a:t>
            </a:r>
            <a:endParaRPr lang="en-US" sz="1150" dirty="0"/>
          </a:p>
        </p:txBody>
      </p:sp>
      <p:sp>
        <p:nvSpPr>
          <p:cNvPr id="10" name="Text 7"/>
          <p:cNvSpPr txBox="1"/>
          <p:nvPr/>
        </p:nvSpPr>
        <p:spPr>
          <a:xfrm>
            <a:off x="685800" y="3291840"/>
            <a:ext cx="2194560" cy="1097280"/>
          </a:xfrm>
          <a:prstGeom prst="rect">
            <a:avLst/>
          </a:prstGeom>
          <a:noFill/>
          <a:ln/>
        </p:spPr>
        <p:txBody>
          <a:bodyPr wrap="square" lIns="0" tIns="0" rIns="0" bIns="0" rtlCol="0" anchor="t"/>
          <a:lstStyle/>
          <a:p>
            <a:pPr indent="0" marL="0">
              <a:buNone/>
            </a:pPr>
            <a:r>
              <a:rPr lang="en-US" sz="1150" dirty="0">
                <a:solidFill>
                  <a:srgbClr val="5E6B65"/>
                </a:solidFill>
                <a:latin typeface="Calibri" pitchFamily="34" charset="0"/>
                <a:ea typeface="Calibri" pitchFamily="34" charset="-122"/>
                <a:cs typeface="Calibri" pitchFamily="34" charset="-120"/>
              </a:rPr>
              <a:t>Mohr-Coulomb en esfuerzos efectivos: si sube la presión de poros u, baja la resistencia.</a:t>
            </a:r>
            <a:endParaRPr lang="en-US" sz="1150" dirty="0"/>
          </a:p>
        </p:txBody>
      </p:sp>
      <p:sp>
        <p:nvSpPr>
          <p:cNvPr id="11" name="Shape 8"/>
          <p:cNvSpPr/>
          <p:nvPr/>
        </p:nvSpPr>
        <p:spPr>
          <a:xfrm>
            <a:off x="3246120" y="1417320"/>
            <a:ext cx="2606040" cy="3063240"/>
          </a:xfrm>
          <a:prstGeom prst="roundRect">
            <a:avLst>
              <a:gd name="adj" fmla="val 3509"/>
            </a:avLst>
          </a:prstGeom>
          <a:solidFill>
            <a:srgbClr val="F3F7F4"/>
          </a:solidFill>
          <a:ln w="12700">
            <a:solidFill>
              <a:srgbClr val="F3F7F4"/>
            </a:solidFill>
            <a:prstDash val="solid"/>
          </a:ln>
        </p:spPr>
      </p:sp>
      <p:sp>
        <p:nvSpPr>
          <p:cNvPr id="12" name="Shape 9"/>
          <p:cNvSpPr/>
          <p:nvPr/>
        </p:nvSpPr>
        <p:spPr>
          <a:xfrm>
            <a:off x="3474720" y="1645920"/>
            <a:ext cx="548640" cy="548640"/>
          </a:xfrm>
          <a:prstGeom prst="ellipse">
            <a:avLst/>
          </a:prstGeom>
          <a:solidFill>
            <a:srgbClr val="2F6B4F"/>
          </a:solidFill>
          <a:ln w="12700">
            <a:solidFill>
              <a:srgbClr val="2F6B4F"/>
            </a:solidFill>
            <a:prstDash val="solid"/>
          </a:ln>
        </p:spPr>
      </p:sp>
      <p:pic>
        <p:nvPicPr>
          <p:cNvPr id="13" name="Image 1" descr="preencoded.png">    </p:cNvPr>
          <p:cNvPicPr>
            <a:picLocks noChangeAspect="1"/>
          </p:cNvPicPr>
          <p:nvPr/>
        </p:nvPicPr>
        <p:blipFill>
          <a:blip r:embed="rId2"/>
          <a:stretch>
            <a:fillRect/>
          </a:stretch>
        </p:blipFill>
        <p:spPr>
          <a:xfrm>
            <a:off x="3617366" y="1788566"/>
            <a:ext cx="263347" cy="263347"/>
          </a:xfrm>
          <a:prstGeom prst="rect">
            <a:avLst/>
          </a:prstGeom>
        </p:spPr>
      </p:pic>
      <p:sp>
        <p:nvSpPr>
          <p:cNvPr id="14" name="Text 10"/>
          <p:cNvSpPr txBox="1"/>
          <p:nvPr/>
        </p:nvSpPr>
        <p:spPr>
          <a:xfrm>
            <a:off x="3474720" y="2331720"/>
            <a:ext cx="2194560" cy="365760"/>
          </a:xfrm>
          <a:prstGeom prst="rect">
            <a:avLst/>
          </a:prstGeom>
          <a:noFill/>
          <a:ln/>
        </p:spPr>
        <p:txBody>
          <a:bodyPr wrap="square" lIns="0" tIns="0" rIns="0" bIns="0" rtlCol="0" anchor="ctr"/>
          <a:lstStyle/>
          <a:p>
            <a:pPr indent="0" marL="0">
              <a:buNone/>
            </a:pPr>
            <a:r>
              <a:rPr lang="en-US" sz="1600" b="1" dirty="0">
                <a:solidFill>
                  <a:srgbClr val="163A2B"/>
                </a:solidFill>
                <a:latin typeface="Cambria" pitchFamily="34" charset="0"/>
                <a:ea typeface="Cambria" pitchFamily="34" charset="-122"/>
                <a:cs typeface="Cambria" pitchFamily="34" charset="-120"/>
              </a:rPr>
              <a:t>Equilibrio límite</a:t>
            </a:r>
            <a:endParaRPr lang="en-US" sz="1600" dirty="0"/>
          </a:p>
        </p:txBody>
      </p:sp>
      <p:sp>
        <p:nvSpPr>
          <p:cNvPr id="15" name="Shape 11"/>
          <p:cNvSpPr/>
          <p:nvPr/>
        </p:nvSpPr>
        <p:spPr>
          <a:xfrm>
            <a:off x="3474720" y="2743200"/>
            <a:ext cx="2148840" cy="457200"/>
          </a:xfrm>
          <a:prstGeom prst="roundRect">
            <a:avLst>
              <a:gd name="adj" fmla="val 12000"/>
            </a:avLst>
          </a:prstGeom>
          <a:solidFill>
            <a:srgbClr val="FFFFFF"/>
          </a:solidFill>
          <a:ln w="12700">
            <a:solidFill>
              <a:srgbClr val="DCEADF"/>
            </a:solidFill>
            <a:prstDash val="solid"/>
          </a:ln>
        </p:spPr>
      </p:sp>
      <p:sp>
        <p:nvSpPr>
          <p:cNvPr id="16" name="Text 12"/>
          <p:cNvSpPr txBox="1"/>
          <p:nvPr/>
        </p:nvSpPr>
        <p:spPr>
          <a:xfrm>
            <a:off x="3474720" y="2743200"/>
            <a:ext cx="2148840" cy="457200"/>
          </a:xfrm>
          <a:prstGeom prst="rect">
            <a:avLst/>
          </a:prstGeom>
          <a:noFill/>
          <a:ln/>
        </p:spPr>
        <p:txBody>
          <a:bodyPr wrap="square" lIns="0" tIns="0" rIns="0" bIns="0" rtlCol="0" anchor="ctr"/>
          <a:lstStyle/>
          <a:p>
            <a:pPr algn="ctr" indent="0" marL="0">
              <a:buNone/>
            </a:pPr>
            <a:r>
              <a:rPr lang="en-US" sz="1150" i="1" dirty="0">
                <a:solidFill>
                  <a:srgbClr val="C4622D"/>
                </a:solidFill>
                <a:latin typeface="Cambria" pitchFamily="34" charset="0"/>
                <a:ea typeface="Cambria" pitchFamily="34" charset="-122"/>
                <a:cs typeface="Cambria" pitchFamily="34" charset="-120"/>
              </a:rPr>
              <a:t>FS = R / A</a:t>
            </a:r>
            <a:endParaRPr lang="en-US" sz="1150" dirty="0"/>
          </a:p>
        </p:txBody>
      </p:sp>
      <p:sp>
        <p:nvSpPr>
          <p:cNvPr id="17" name="Text 13"/>
          <p:cNvSpPr txBox="1"/>
          <p:nvPr/>
        </p:nvSpPr>
        <p:spPr>
          <a:xfrm>
            <a:off x="3474720" y="3291840"/>
            <a:ext cx="2194560" cy="1097280"/>
          </a:xfrm>
          <a:prstGeom prst="rect">
            <a:avLst/>
          </a:prstGeom>
          <a:noFill/>
          <a:ln/>
        </p:spPr>
        <p:txBody>
          <a:bodyPr wrap="square" lIns="0" tIns="0" rIns="0" bIns="0" rtlCol="0" anchor="t"/>
          <a:lstStyle/>
          <a:p>
            <a:pPr indent="0" marL="0">
              <a:buNone/>
            </a:pPr>
            <a:r>
              <a:rPr lang="en-US" sz="1150" dirty="0">
                <a:solidFill>
                  <a:srgbClr val="5E6B65"/>
                </a:solidFill>
                <a:latin typeface="Calibri" pitchFamily="34" charset="0"/>
                <a:ea typeface="Calibri" pitchFamily="34" charset="-122"/>
                <a:cs typeface="Calibri" pitchFamily="34" charset="-120"/>
              </a:rPr>
              <a:t>Bishop simplificado (1955) y Morgenstern-Price (1965); sismo por análisis seudoestático.</a:t>
            </a:r>
            <a:endParaRPr lang="en-US" sz="1150" dirty="0"/>
          </a:p>
        </p:txBody>
      </p:sp>
      <p:sp>
        <p:nvSpPr>
          <p:cNvPr id="18" name="Shape 14"/>
          <p:cNvSpPr/>
          <p:nvPr/>
        </p:nvSpPr>
        <p:spPr>
          <a:xfrm>
            <a:off x="6035040" y="1417320"/>
            <a:ext cx="2606040" cy="3063240"/>
          </a:xfrm>
          <a:prstGeom prst="roundRect">
            <a:avLst>
              <a:gd name="adj" fmla="val 3509"/>
            </a:avLst>
          </a:prstGeom>
          <a:solidFill>
            <a:srgbClr val="F3F7F4"/>
          </a:solidFill>
          <a:ln w="12700">
            <a:solidFill>
              <a:srgbClr val="F3F7F4"/>
            </a:solidFill>
            <a:prstDash val="solid"/>
          </a:ln>
        </p:spPr>
      </p:sp>
      <p:sp>
        <p:nvSpPr>
          <p:cNvPr id="19" name="Shape 15"/>
          <p:cNvSpPr/>
          <p:nvPr/>
        </p:nvSpPr>
        <p:spPr>
          <a:xfrm>
            <a:off x="6263640" y="1645920"/>
            <a:ext cx="548640" cy="548640"/>
          </a:xfrm>
          <a:prstGeom prst="ellipse">
            <a:avLst/>
          </a:prstGeom>
          <a:solidFill>
            <a:srgbClr val="2F6B4F"/>
          </a:solidFill>
          <a:ln w="12700">
            <a:solidFill>
              <a:srgbClr val="2F6B4F"/>
            </a:solidFill>
            <a:prstDash val="solid"/>
          </a:ln>
        </p:spPr>
      </p:sp>
      <p:pic>
        <p:nvPicPr>
          <p:cNvPr id="20" name="Image 2" descr="preencoded.png">    </p:cNvPr>
          <p:cNvPicPr>
            <a:picLocks noChangeAspect="1"/>
          </p:cNvPicPr>
          <p:nvPr/>
        </p:nvPicPr>
        <p:blipFill>
          <a:blip r:embed="rId3"/>
          <a:stretch>
            <a:fillRect/>
          </a:stretch>
        </p:blipFill>
        <p:spPr>
          <a:xfrm>
            <a:off x="6406286" y="1788566"/>
            <a:ext cx="263347" cy="263347"/>
          </a:xfrm>
          <a:prstGeom prst="rect">
            <a:avLst/>
          </a:prstGeom>
        </p:spPr>
      </p:pic>
      <p:sp>
        <p:nvSpPr>
          <p:cNvPr id="21" name="Text 16"/>
          <p:cNvSpPr txBox="1"/>
          <p:nvPr/>
        </p:nvSpPr>
        <p:spPr>
          <a:xfrm>
            <a:off x="6263640" y="2331720"/>
            <a:ext cx="2194560" cy="365760"/>
          </a:xfrm>
          <a:prstGeom prst="rect">
            <a:avLst/>
          </a:prstGeom>
          <a:noFill/>
          <a:ln/>
        </p:spPr>
        <p:txBody>
          <a:bodyPr wrap="square" lIns="0" tIns="0" rIns="0" bIns="0" rtlCol="0" anchor="ctr"/>
          <a:lstStyle/>
          <a:p>
            <a:pPr indent="0" marL="0">
              <a:buNone/>
            </a:pPr>
            <a:r>
              <a:rPr lang="en-US" sz="1600" b="1" dirty="0">
                <a:solidFill>
                  <a:srgbClr val="163A2B"/>
                </a:solidFill>
                <a:latin typeface="Cambria" pitchFamily="34" charset="0"/>
                <a:ea typeface="Cambria" pitchFamily="34" charset="-122"/>
                <a:cs typeface="Cambria" pitchFamily="34" charset="-120"/>
              </a:rPr>
              <a:t>Hidrología e hidráulica</a:t>
            </a:r>
            <a:endParaRPr lang="en-US" sz="1600" dirty="0"/>
          </a:p>
        </p:txBody>
      </p:sp>
      <p:sp>
        <p:nvSpPr>
          <p:cNvPr id="22" name="Shape 17"/>
          <p:cNvSpPr/>
          <p:nvPr/>
        </p:nvSpPr>
        <p:spPr>
          <a:xfrm>
            <a:off x="6263640" y="2743200"/>
            <a:ext cx="2148840" cy="457200"/>
          </a:xfrm>
          <a:prstGeom prst="roundRect">
            <a:avLst>
              <a:gd name="adj" fmla="val 12000"/>
            </a:avLst>
          </a:prstGeom>
          <a:solidFill>
            <a:srgbClr val="FFFFFF"/>
          </a:solidFill>
          <a:ln w="12700">
            <a:solidFill>
              <a:srgbClr val="DCEADF"/>
            </a:solidFill>
            <a:prstDash val="solid"/>
          </a:ln>
        </p:spPr>
      </p:sp>
      <p:sp>
        <p:nvSpPr>
          <p:cNvPr id="23" name="Text 18"/>
          <p:cNvSpPr txBox="1"/>
          <p:nvPr/>
        </p:nvSpPr>
        <p:spPr>
          <a:xfrm>
            <a:off x="6263640" y="2743200"/>
            <a:ext cx="2148840" cy="457200"/>
          </a:xfrm>
          <a:prstGeom prst="rect">
            <a:avLst/>
          </a:prstGeom>
          <a:noFill/>
          <a:ln/>
        </p:spPr>
        <p:txBody>
          <a:bodyPr wrap="square" lIns="0" tIns="0" rIns="0" bIns="0" rtlCol="0" anchor="ctr"/>
          <a:lstStyle/>
          <a:p>
            <a:pPr algn="ctr" indent="0" marL="0">
              <a:buNone/>
            </a:pPr>
            <a:r>
              <a:rPr lang="en-US" sz="1150" i="1" dirty="0">
                <a:solidFill>
                  <a:srgbClr val="C4622D"/>
                </a:solidFill>
                <a:latin typeface="Cambria" pitchFamily="34" charset="0"/>
                <a:ea typeface="Cambria" pitchFamily="34" charset="-122"/>
                <a:cs typeface="Cambria" pitchFamily="34" charset="-120"/>
              </a:rPr>
              <a:t>Q = C·I·A / 360</a:t>
            </a:r>
            <a:endParaRPr lang="en-US" sz="1150" dirty="0"/>
          </a:p>
        </p:txBody>
      </p:sp>
      <p:sp>
        <p:nvSpPr>
          <p:cNvPr id="24" name="Text 19"/>
          <p:cNvSpPr txBox="1"/>
          <p:nvPr/>
        </p:nvSpPr>
        <p:spPr>
          <a:xfrm>
            <a:off x="6263640" y="3291840"/>
            <a:ext cx="2194560" cy="1097280"/>
          </a:xfrm>
          <a:prstGeom prst="rect">
            <a:avLst/>
          </a:prstGeom>
          <a:noFill/>
          <a:ln/>
        </p:spPr>
        <p:txBody>
          <a:bodyPr wrap="square" lIns="0" tIns="0" rIns="0" bIns="0" rtlCol="0" anchor="t"/>
          <a:lstStyle/>
          <a:p>
            <a:pPr indent="0" marL="0">
              <a:buNone/>
            </a:pPr>
            <a:r>
              <a:rPr lang="en-US" sz="1150" dirty="0">
                <a:solidFill>
                  <a:srgbClr val="5E6B65"/>
                </a:solidFill>
                <a:latin typeface="Calibri" pitchFamily="34" charset="0"/>
                <a:ea typeface="Calibri" pitchFamily="34" charset="-122"/>
                <a:cs typeface="Calibri" pitchFamily="34" charset="-120"/>
              </a:rPr>
              <a:t>Método racional con curvas IDF (Vargas &amp; Díaz-Granados, 1998) y Manning para cunetas.</a:t>
            </a:r>
            <a:endParaRPr lang="en-US" sz="1150" dirty="0"/>
          </a:p>
        </p:txBody>
      </p:sp>
      <p:sp>
        <p:nvSpPr>
          <p:cNvPr id="25" name="Text 2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E6B65"/>
                </a:solidFill>
                <a:latin typeface="Calibri" pitchFamily="34" charset="0"/>
                <a:ea typeface="Calibri" pitchFamily="34" charset="-122"/>
                <a:cs typeface="Calibri" pitchFamily="34" charset="-120"/>
              </a:rPr>
              <a:t>Parque Temático El Cacique · Cácota, N. de S.</a:t>
            </a:r>
            <a:endParaRPr lang="en-US" sz="900" dirty="0"/>
          </a:p>
        </p:txBody>
      </p:sp>
      <p:sp>
        <p:nvSpPr>
          <p:cNvPr id="26" name="Text 2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E6B65"/>
                </a:solidFill>
                <a:latin typeface="Calibri" pitchFamily="34" charset="0"/>
                <a:ea typeface="Calibri" pitchFamily="34" charset="-122"/>
                <a:cs typeface="Calibri" pitchFamily="34" charset="-120"/>
              </a:rPr>
              <a:t>10 / 19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28600"/>
          </a:xfrm>
          <a:prstGeom prst="rect">
            <a:avLst/>
          </a:prstGeom>
          <a:noFill/>
          <a:ln/>
        </p:spPr>
        <p:txBody>
          <a:bodyPr wrap="square" lIns="0" tIns="0" rIns="0" bIns="0" rtlCol="0" anchor="ctr"/>
          <a:lstStyle/>
          <a:p>
            <a:pPr indent="0" marL="0">
              <a:buNone/>
            </a:pPr>
            <a:r>
              <a:rPr lang="en-US" sz="1000" b="1" spc="300" kern="0" dirty="0">
                <a:solidFill>
                  <a:srgbClr val="C4622D"/>
                </a:solidFill>
                <a:latin typeface="Calibri" pitchFamily="34" charset="0"/>
                <a:ea typeface="Calibri" pitchFamily="34" charset="-122"/>
                <a:cs typeface="Calibri" pitchFamily="34" charset="-120"/>
              </a:rPr>
              <a:t>04 · CONDICIONES DEL SITIO</a:t>
            </a:r>
            <a:endParaRPr lang="en-US" sz="1000" dirty="0"/>
          </a:p>
        </p:txBody>
      </p:sp>
      <p:sp>
        <p:nvSpPr>
          <p:cNvPr id="3" name="Text 1"/>
          <p:cNvSpPr txBox="1"/>
          <p:nvPr/>
        </p:nvSpPr>
        <p:spPr>
          <a:xfrm>
            <a:off x="457200" y="566928"/>
            <a:ext cx="4572000" cy="640080"/>
          </a:xfrm>
          <a:prstGeom prst="rect">
            <a:avLst/>
          </a:prstGeom>
          <a:noFill/>
          <a:ln/>
        </p:spPr>
        <p:txBody>
          <a:bodyPr wrap="square" lIns="0" tIns="0" rIns="0" bIns="0" rtlCol="0" anchor="t"/>
          <a:lstStyle/>
          <a:p>
            <a:pPr indent="0" marL="0">
              <a:buNone/>
            </a:pPr>
            <a:r>
              <a:rPr lang="en-US" sz="2800" b="1" dirty="0">
                <a:solidFill>
                  <a:srgbClr val="163A2B"/>
                </a:solidFill>
                <a:latin typeface="Cambria" pitchFamily="34" charset="0"/>
                <a:ea typeface="Cambria" pitchFamily="34" charset="-122"/>
                <a:cs typeface="Cambria" pitchFamily="34" charset="-120"/>
              </a:rPr>
              <a:t>Lo que dice el suelo</a:t>
            </a:r>
            <a:endParaRPr lang="en-US" sz="2800" dirty="0"/>
          </a:p>
        </p:txBody>
      </p:sp>
      <p:pic>
        <p:nvPicPr>
          <p:cNvPr id="4" name="Image 0" descr="preencoded.png">    </p:cNvPr>
          <p:cNvPicPr>
            <a:picLocks noChangeAspect="1"/>
          </p:cNvPicPr>
          <p:nvPr/>
        </p:nvPicPr>
        <p:blipFill>
          <a:blip r:embed="rId1"/>
          <a:stretch>
            <a:fillRect/>
          </a:stretch>
        </p:blipFill>
        <p:spPr>
          <a:xfrm>
            <a:off x="5074920" y="457200"/>
            <a:ext cx="3611880" cy="2926080"/>
          </a:xfrm>
          <a:prstGeom prst="rect">
            <a:avLst/>
          </a:prstGeom>
        </p:spPr>
      </p:pic>
      <p:sp>
        <p:nvSpPr>
          <p:cNvPr id="5" name="Text 2"/>
          <p:cNvSpPr txBox="1"/>
          <p:nvPr/>
        </p:nvSpPr>
        <p:spPr>
          <a:xfrm>
            <a:off x="5074920" y="3429000"/>
            <a:ext cx="3611880" cy="228600"/>
          </a:xfrm>
          <a:prstGeom prst="rect">
            <a:avLst/>
          </a:prstGeom>
          <a:noFill/>
          <a:ln/>
        </p:spPr>
        <p:txBody>
          <a:bodyPr wrap="square" lIns="0" tIns="0" rIns="0" bIns="0" rtlCol="0" anchor="ctr"/>
          <a:lstStyle/>
          <a:p>
            <a:pPr indent="0" marL="0">
              <a:buNone/>
            </a:pPr>
            <a:r>
              <a:rPr lang="en-US" sz="900" i="1" dirty="0">
                <a:solidFill>
                  <a:srgbClr val="5E6B65"/>
                </a:solidFill>
                <a:latin typeface="Calibri" pitchFamily="34" charset="0"/>
                <a:ea typeface="Calibri" pitchFamily="34" charset="-122"/>
                <a:cs typeface="Calibri" pitchFamily="34" charset="-120"/>
              </a:rPr>
              <a:t>Perfil en apiques AP1 y AP2 · Tecnosuelos Ltda.</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4297680" cy="914400"/>
        </p:xfrm>
        <a:graphic>
          <a:graphicData uri="http://schemas.openxmlformats.org/drawingml/2006/table">
            <a:tbl>
              <a:tblPr/>
              <a:tblGrid>
                <a:gridCol w="1645920"/>
                <a:gridCol w="2651760"/>
              </a:tblGrid>
              <a:tr h="384048">
                <a:tc>
                  <a:txBody>
                    <a:bodyPr/>
                    <a:lstStyle/>
                    <a:p>
                      <a:pPr indent="0" marL="0">
                        <a:buNone/>
                      </a:pPr>
                      <a:r>
                        <a:rPr lang="en-US" sz="1150" b="1" dirty="0">
                          <a:solidFill>
                            <a:srgbClr val="163A2B"/>
                          </a:solidFill>
                          <a:latin typeface="Calibri" pitchFamily="34" charset="0"/>
                          <a:ea typeface="Calibri" pitchFamily="34" charset="-122"/>
                          <a:cs typeface="Calibri" pitchFamily="34" charset="-120"/>
                        </a:rPr>
                        <a:t>Capa superficial</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7F4"/>
                    </a:solidFill>
                  </a:tcPr>
                </a:tc>
                <a:tc>
                  <a:txBody>
                    <a:bodyPr/>
                    <a:lstStyle/>
                    <a:p>
                      <a:pPr indent="0" marL="0">
                        <a:buNone/>
                      </a:pPr>
                      <a:r>
                        <a:rPr lang="en-US" sz="1150" dirty="0">
                          <a:solidFill>
                            <a:srgbClr val="1D2622"/>
                          </a:solidFill>
                          <a:latin typeface="Calibri" pitchFamily="34" charset="0"/>
                          <a:ea typeface="Calibri" pitchFamily="34" charset="-122"/>
                          <a:cs typeface="Calibri" pitchFamily="34" charset="-120"/>
                        </a:rPr>
                        <a:t>Arcilla arenosa CL · 0,30–0,50 m</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7F4"/>
                    </a:solidFill>
                  </a:tcPr>
                </a:tc>
              </a:tr>
              <a:tr h="384048">
                <a:tc>
                  <a:txBody>
                    <a:bodyPr/>
                    <a:lstStyle/>
                    <a:p>
                      <a:pPr indent="0" marL="0">
                        <a:buNone/>
                      </a:pPr>
                      <a:r>
                        <a:rPr lang="en-US" sz="1150" b="1" dirty="0">
                          <a:solidFill>
                            <a:srgbClr val="163A2B"/>
                          </a:solidFill>
                          <a:latin typeface="Calibri" pitchFamily="34" charset="0"/>
                          <a:ea typeface="Calibri" pitchFamily="34" charset="-122"/>
                          <a:cs typeface="Calibri" pitchFamily="34" charset="-120"/>
                        </a:rPr>
                        <a:t>Estrato portante</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50" dirty="0">
                          <a:solidFill>
                            <a:srgbClr val="1D2622"/>
                          </a:solidFill>
                          <a:latin typeface="Calibri" pitchFamily="34" charset="0"/>
                          <a:ea typeface="Calibri" pitchFamily="34" charset="-122"/>
                          <a:cs typeface="Calibri" pitchFamily="34" charset="-120"/>
                        </a:rPr>
                        <a:t>Conglomerado denso GC-GM</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indent="0" marL="0">
                        <a:buNone/>
                      </a:pPr>
                      <a:r>
                        <a:rPr lang="en-US" sz="1150" b="1" dirty="0">
                          <a:solidFill>
                            <a:srgbClr val="163A2B"/>
                          </a:solidFill>
                          <a:latin typeface="Calibri" pitchFamily="34" charset="0"/>
                          <a:ea typeface="Calibri" pitchFamily="34" charset="-122"/>
                          <a:cs typeface="Calibri" pitchFamily="34" charset="-120"/>
                        </a:rPr>
                        <a:t>Resistencia qu</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7F4"/>
                    </a:solidFill>
                  </a:tcPr>
                </a:tc>
                <a:tc>
                  <a:txBody>
                    <a:bodyPr/>
                    <a:lstStyle/>
                    <a:p>
                      <a:pPr indent="0" marL="0">
                        <a:buNone/>
                      </a:pPr>
                      <a:r>
                        <a:rPr lang="en-US" sz="1150" dirty="0">
                          <a:solidFill>
                            <a:srgbClr val="1D2622"/>
                          </a:solidFill>
                          <a:latin typeface="Calibri" pitchFamily="34" charset="0"/>
                          <a:ea typeface="Calibri" pitchFamily="34" charset="-122"/>
                          <a:cs typeface="Calibri" pitchFamily="34" charset="-120"/>
                        </a:rPr>
                        <a:t>1,75 – 2,50 kg/cm²</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7F4"/>
                    </a:solidFill>
                  </a:tcPr>
                </a:tc>
              </a:tr>
              <a:tr h="384048">
                <a:tc>
                  <a:txBody>
                    <a:bodyPr/>
                    <a:lstStyle/>
                    <a:p>
                      <a:pPr indent="0" marL="0">
                        <a:buNone/>
                      </a:pPr>
                      <a:r>
                        <a:rPr lang="en-US" sz="1150" b="1" dirty="0">
                          <a:solidFill>
                            <a:srgbClr val="163A2B"/>
                          </a:solidFill>
                          <a:latin typeface="Calibri" pitchFamily="34" charset="0"/>
                          <a:ea typeface="Calibri" pitchFamily="34" charset="-122"/>
                          <a:cs typeface="Calibri" pitchFamily="34" charset="-120"/>
                        </a:rPr>
                        <a:t>Capacidad admisible</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50" dirty="0">
                          <a:solidFill>
                            <a:srgbClr val="1D2622"/>
                          </a:solidFill>
                          <a:latin typeface="Calibri" pitchFamily="34" charset="0"/>
                          <a:ea typeface="Calibri" pitchFamily="34" charset="-122"/>
                          <a:cs typeface="Calibri" pitchFamily="34" charset="-120"/>
                        </a:rPr>
                        <a:t>qa = 2,0 kg/cm²</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indent="0" marL="0">
                        <a:buNone/>
                      </a:pPr>
                      <a:r>
                        <a:rPr lang="en-US" sz="1150" b="1" dirty="0">
                          <a:solidFill>
                            <a:srgbClr val="163A2B"/>
                          </a:solidFill>
                          <a:latin typeface="Calibri" pitchFamily="34" charset="0"/>
                          <a:ea typeface="Calibri" pitchFamily="34" charset="-122"/>
                          <a:cs typeface="Calibri" pitchFamily="34" charset="-120"/>
                        </a:rPr>
                        <a:t>Permeabilidad</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7F4"/>
                    </a:solidFill>
                  </a:tcPr>
                </a:tc>
                <a:tc>
                  <a:txBody>
                    <a:bodyPr/>
                    <a:lstStyle/>
                    <a:p>
                      <a:pPr indent="0" marL="0">
                        <a:buNone/>
                      </a:pPr>
                      <a:r>
                        <a:rPr lang="en-US" sz="1150" dirty="0">
                          <a:solidFill>
                            <a:srgbClr val="1D2622"/>
                          </a:solidFill>
                          <a:latin typeface="Calibri" pitchFamily="34" charset="0"/>
                          <a:ea typeface="Calibri" pitchFamily="34" charset="-122"/>
                          <a:cs typeface="Calibri" pitchFamily="34" charset="-120"/>
                        </a:rPr>
                        <a:t>10⁻⁴ – 10⁻⁶ cm/s (baja)</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7F4"/>
                    </a:solidFill>
                  </a:tcPr>
                </a:tc>
              </a:tr>
              <a:tr h="384048">
                <a:tc>
                  <a:txBody>
                    <a:bodyPr/>
                    <a:lstStyle/>
                    <a:p>
                      <a:pPr indent="0" marL="0">
                        <a:buNone/>
                      </a:pPr>
                      <a:r>
                        <a:rPr lang="en-US" sz="1150" b="1" dirty="0">
                          <a:solidFill>
                            <a:srgbClr val="163A2B"/>
                          </a:solidFill>
                          <a:latin typeface="Calibri" pitchFamily="34" charset="0"/>
                          <a:ea typeface="Calibri" pitchFamily="34" charset="-122"/>
                          <a:cs typeface="Calibri" pitchFamily="34" charset="-120"/>
                        </a:rPr>
                        <a:t>Nivel freático</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50" dirty="0">
                          <a:solidFill>
                            <a:srgbClr val="1D2622"/>
                          </a:solidFill>
                          <a:latin typeface="Calibri" pitchFamily="34" charset="0"/>
                          <a:ea typeface="Calibri" pitchFamily="34" charset="-122"/>
                          <a:cs typeface="Calibri" pitchFamily="34" charset="-120"/>
                        </a:rPr>
                        <a:t>No detectado · humedad ↑ a 5 m</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indent="0" marL="0">
                        <a:buNone/>
                      </a:pPr>
                      <a:r>
                        <a:rPr lang="en-US" sz="1150" b="1" dirty="0">
                          <a:solidFill>
                            <a:srgbClr val="163A2B"/>
                          </a:solidFill>
                          <a:latin typeface="Calibri" pitchFamily="34" charset="0"/>
                          <a:ea typeface="Calibri" pitchFamily="34" charset="-122"/>
                          <a:cs typeface="Calibri" pitchFamily="34" charset="-120"/>
                        </a:rPr>
                        <a:t>Perfil sísmico</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7F4"/>
                    </a:solidFill>
                  </a:tcPr>
                </a:tc>
                <a:tc>
                  <a:txBody>
                    <a:bodyPr/>
                    <a:lstStyle/>
                    <a:p>
                      <a:pPr indent="0" marL="0">
                        <a:buNone/>
                      </a:pPr>
                      <a:r>
                        <a:rPr lang="en-US" sz="1150" dirty="0">
                          <a:solidFill>
                            <a:srgbClr val="1D2622"/>
                          </a:solidFill>
                          <a:latin typeface="Calibri" pitchFamily="34" charset="0"/>
                          <a:ea typeface="Calibri" pitchFamily="34" charset="-122"/>
                          <a:cs typeface="Calibri" pitchFamily="34" charset="-120"/>
                        </a:rPr>
                        <a:t>D · Aa 0,30 · Av 0,25</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7F4"/>
                    </a:solidFill>
                  </a:tcPr>
                </a:tc>
              </a:tr>
            </a:tbl>
          </a:graphicData>
        </a:graphic>
      </p:graphicFrame>
      <p:sp>
        <p:nvSpPr>
          <p:cNvPr id="7" name="Shape 3"/>
          <p:cNvSpPr/>
          <p:nvPr/>
        </p:nvSpPr>
        <p:spPr>
          <a:xfrm>
            <a:off x="5074920" y="3794760"/>
            <a:ext cx="3611880" cy="731520"/>
          </a:xfrm>
          <a:prstGeom prst="roundRect">
            <a:avLst>
              <a:gd name="adj" fmla="val 10000"/>
            </a:avLst>
          </a:prstGeom>
          <a:solidFill>
            <a:srgbClr val="FBEDE4"/>
          </a:solidFill>
          <a:ln w="12700">
            <a:solidFill>
              <a:srgbClr val="FBEDE4"/>
            </a:solidFill>
            <a:prstDash val="solid"/>
          </a:ln>
        </p:spPr>
      </p:sp>
      <p:sp>
        <p:nvSpPr>
          <p:cNvPr id="8" name="Text 4"/>
          <p:cNvSpPr txBox="1"/>
          <p:nvPr/>
        </p:nvSpPr>
        <p:spPr>
          <a:xfrm>
            <a:off x="5212080" y="3794760"/>
            <a:ext cx="3383280" cy="731520"/>
          </a:xfrm>
          <a:prstGeom prst="rect">
            <a:avLst/>
          </a:prstGeom>
          <a:noFill/>
          <a:ln/>
        </p:spPr>
        <p:txBody>
          <a:bodyPr wrap="square" lIns="0" tIns="0" rIns="0" bIns="0" rtlCol="0" anchor="ctr"/>
          <a:lstStyle/>
          <a:p>
            <a:pPr indent="0" marL="0">
              <a:buNone/>
            </a:pPr>
            <a:r>
              <a:rPr lang="en-US" sz="1200" i="1" dirty="0">
                <a:solidFill>
                  <a:srgbClr val="C4622D"/>
                </a:solidFill>
                <a:latin typeface="Calibri" pitchFamily="34" charset="0"/>
                <a:ea typeface="Calibri" pitchFamily="34" charset="-122"/>
                <a:cs typeface="Calibri" pitchFamily="34" charset="-120"/>
              </a:rPr>
              <a:t>Buen suelo para cimentar; el riesgo está en el agua que percola ladera abajo.</a:t>
            </a:r>
            <a:endParaRPr lang="en-US" sz="1200" dirty="0"/>
          </a:p>
        </p:txBody>
      </p:sp>
      <p:sp>
        <p:nvSpPr>
          <p:cNvPr id="9" name="Text 5"/>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E6B65"/>
                </a:solidFill>
                <a:latin typeface="Calibri" pitchFamily="34" charset="0"/>
                <a:ea typeface="Calibri" pitchFamily="34" charset="-122"/>
                <a:cs typeface="Calibri" pitchFamily="34" charset="-120"/>
              </a:rPr>
              <a:t>Parque Temático El Cacique · Cácota, N. de S.</a:t>
            </a:r>
            <a:endParaRPr lang="en-US" sz="900" dirty="0"/>
          </a:p>
        </p:txBody>
      </p:sp>
      <p:sp>
        <p:nvSpPr>
          <p:cNvPr id="10" name="Text 6"/>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E6B65"/>
                </a:solidFill>
                <a:latin typeface="Calibri" pitchFamily="34" charset="0"/>
                <a:ea typeface="Calibri" pitchFamily="34" charset="-122"/>
                <a:cs typeface="Calibri" pitchFamily="34" charset="-120"/>
              </a:rPr>
              <a:t>11 / 19</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7F4"/>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28600"/>
          </a:xfrm>
          <a:prstGeom prst="rect">
            <a:avLst/>
          </a:prstGeom>
          <a:noFill/>
          <a:ln/>
        </p:spPr>
        <p:txBody>
          <a:bodyPr wrap="square" lIns="0" tIns="0" rIns="0" bIns="0" rtlCol="0" anchor="ctr"/>
          <a:lstStyle/>
          <a:p>
            <a:pPr indent="0" marL="0">
              <a:buNone/>
            </a:pPr>
            <a:r>
              <a:rPr lang="en-US" sz="1000" b="1" spc="300" kern="0" dirty="0">
                <a:solidFill>
                  <a:srgbClr val="C4622D"/>
                </a:solidFill>
                <a:latin typeface="Calibri" pitchFamily="34" charset="0"/>
                <a:ea typeface="Calibri" pitchFamily="34" charset="-122"/>
                <a:cs typeface="Calibri" pitchFamily="34" charset="-120"/>
              </a:rPr>
              <a:t>05 · MARCO LEGAL</a:t>
            </a:r>
            <a:endParaRPr lang="en-US" sz="1000" dirty="0"/>
          </a:p>
        </p:txBody>
      </p:sp>
      <p:sp>
        <p:nvSpPr>
          <p:cNvPr id="3" name="Text 1"/>
          <p:cNvSpPr txBox="1"/>
          <p:nvPr/>
        </p:nvSpPr>
        <p:spPr>
          <a:xfrm>
            <a:off x="457200" y="566928"/>
            <a:ext cx="8229600" cy="640080"/>
          </a:xfrm>
          <a:prstGeom prst="rect">
            <a:avLst/>
          </a:prstGeom>
          <a:noFill/>
          <a:ln/>
        </p:spPr>
        <p:txBody>
          <a:bodyPr wrap="square" lIns="0" tIns="0" rIns="0" bIns="0" rtlCol="0" anchor="t"/>
          <a:lstStyle/>
          <a:p>
            <a:pPr indent="0" marL="0">
              <a:buNone/>
            </a:pPr>
            <a:r>
              <a:rPr lang="en-US" sz="2800" b="1" dirty="0">
                <a:solidFill>
                  <a:srgbClr val="163A2B"/>
                </a:solidFill>
                <a:latin typeface="Cambria" pitchFamily="34" charset="0"/>
                <a:ea typeface="Cambria" pitchFamily="34" charset="-122"/>
                <a:cs typeface="Cambria" pitchFamily="34" charset="-120"/>
              </a:rPr>
              <a:t>Normativa que enmarca el estudio</a:t>
            </a:r>
            <a:endParaRPr lang="en-US" sz="2800" dirty="0"/>
          </a:p>
        </p:txBody>
      </p:sp>
      <p:sp>
        <p:nvSpPr>
          <p:cNvPr id="4" name="Shape 2"/>
          <p:cNvSpPr/>
          <p:nvPr/>
        </p:nvSpPr>
        <p:spPr>
          <a:xfrm>
            <a:off x="457200" y="1463040"/>
            <a:ext cx="1920240" cy="1325880"/>
          </a:xfrm>
          <a:prstGeom prst="roundRect">
            <a:avLst>
              <a:gd name="adj" fmla="val 6897"/>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621792" y="1627632"/>
            <a:ext cx="384048" cy="384048"/>
          </a:xfrm>
          <a:prstGeom prst="ellipse">
            <a:avLst/>
          </a:prstGeom>
          <a:solidFill>
            <a:srgbClr val="C4622D"/>
          </a:solidFill>
          <a:ln w="12700">
            <a:solidFill>
              <a:srgbClr val="C4622D"/>
            </a:solidFill>
            <a:prstDash val="solid"/>
          </a:ln>
        </p:spPr>
      </p:sp>
      <p:pic>
        <p:nvPicPr>
          <p:cNvPr id="6" name="Image 0" descr="preencoded.png">    </p:cNvPr>
          <p:cNvPicPr>
            <a:picLocks noChangeAspect="1"/>
          </p:cNvPicPr>
          <p:nvPr/>
        </p:nvPicPr>
        <p:blipFill>
          <a:blip r:embed="rId1"/>
          <a:stretch>
            <a:fillRect/>
          </a:stretch>
        </p:blipFill>
        <p:spPr>
          <a:xfrm>
            <a:off x="721644" y="1727484"/>
            <a:ext cx="184343" cy="184343"/>
          </a:xfrm>
          <a:prstGeom prst="rect">
            <a:avLst/>
          </a:prstGeom>
        </p:spPr>
      </p:pic>
      <p:sp>
        <p:nvSpPr>
          <p:cNvPr id="7" name="Text 4"/>
          <p:cNvSpPr txBox="1"/>
          <p:nvPr/>
        </p:nvSpPr>
        <p:spPr>
          <a:xfrm>
            <a:off x="1097280" y="1600200"/>
            <a:ext cx="1234440" cy="457200"/>
          </a:xfrm>
          <a:prstGeom prst="rect">
            <a:avLst/>
          </a:prstGeom>
          <a:noFill/>
          <a:ln/>
        </p:spPr>
        <p:txBody>
          <a:bodyPr wrap="square" lIns="0" tIns="0" rIns="0" bIns="0" rtlCol="0" anchor="ctr"/>
          <a:lstStyle/>
          <a:p>
            <a:pPr indent="0" marL="0">
              <a:buNone/>
            </a:pPr>
            <a:r>
              <a:rPr lang="en-US" sz="1250" b="1" dirty="0">
                <a:solidFill>
                  <a:srgbClr val="163A2B"/>
                </a:solidFill>
                <a:latin typeface="Cambria" pitchFamily="34" charset="0"/>
                <a:ea typeface="Cambria" pitchFamily="34" charset="-122"/>
                <a:cs typeface="Cambria" pitchFamily="34" charset="-120"/>
              </a:rPr>
              <a:t>NSR-10</a:t>
            </a:r>
            <a:endParaRPr lang="en-US" sz="1250" dirty="0"/>
          </a:p>
        </p:txBody>
      </p:sp>
      <p:sp>
        <p:nvSpPr>
          <p:cNvPr id="8" name="Text 5"/>
          <p:cNvSpPr txBox="1"/>
          <p:nvPr/>
        </p:nvSpPr>
        <p:spPr>
          <a:xfrm>
            <a:off x="621792" y="2121408"/>
            <a:ext cx="1645920" cy="566928"/>
          </a:xfrm>
          <a:prstGeom prst="rect">
            <a:avLst/>
          </a:prstGeom>
          <a:noFill/>
          <a:ln/>
        </p:spPr>
        <p:txBody>
          <a:bodyPr wrap="square" lIns="0" tIns="0" rIns="0" bIns="0" rtlCol="0" anchor="t"/>
          <a:lstStyle/>
          <a:p>
            <a:pPr indent="0" marL="0">
              <a:buNone/>
            </a:pPr>
            <a:r>
              <a:rPr lang="en-US" sz="1100" dirty="0">
                <a:solidFill>
                  <a:srgbClr val="5E6B65"/>
                </a:solidFill>
                <a:latin typeface="Calibri" pitchFamily="34" charset="0"/>
                <a:ea typeface="Calibri" pitchFamily="34" charset="-122"/>
                <a:cs typeface="Calibri" pitchFamily="34" charset="-120"/>
              </a:rPr>
              <a:t>Títulos A y H: sismo, sondeos, FS mínimos</a:t>
            </a:r>
            <a:endParaRPr lang="en-US" sz="1100" dirty="0"/>
          </a:p>
        </p:txBody>
      </p:sp>
      <p:sp>
        <p:nvSpPr>
          <p:cNvPr id="9" name="Shape 6"/>
          <p:cNvSpPr/>
          <p:nvPr/>
        </p:nvSpPr>
        <p:spPr>
          <a:xfrm>
            <a:off x="2542032" y="1463040"/>
            <a:ext cx="1920240" cy="1325880"/>
          </a:xfrm>
          <a:prstGeom prst="roundRect">
            <a:avLst>
              <a:gd name="adj" fmla="val 6897"/>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0" name="Shape 7"/>
          <p:cNvSpPr/>
          <p:nvPr/>
        </p:nvSpPr>
        <p:spPr>
          <a:xfrm>
            <a:off x="2706624" y="1627632"/>
            <a:ext cx="384048" cy="384048"/>
          </a:xfrm>
          <a:prstGeom prst="ellipse">
            <a:avLst/>
          </a:prstGeom>
          <a:solidFill>
            <a:srgbClr val="2F6B4F"/>
          </a:solidFill>
          <a:ln w="12700">
            <a:solidFill>
              <a:srgbClr val="2F6B4F"/>
            </a:solidFill>
            <a:prstDash val="solid"/>
          </a:ln>
        </p:spPr>
      </p:sp>
      <p:pic>
        <p:nvPicPr>
          <p:cNvPr id="11" name="Image 1" descr="preencoded.png">    </p:cNvPr>
          <p:cNvPicPr>
            <a:picLocks noChangeAspect="1"/>
          </p:cNvPicPr>
          <p:nvPr/>
        </p:nvPicPr>
        <p:blipFill>
          <a:blip r:embed="rId2"/>
          <a:stretch>
            <a:fillRect/>
          </a:stretch>
        </p:blipFill>
        <p:spPr>
          <a:xfrm>
            <a:off x="2806476" y="1727484"/>
            <a:ext cx="184343" cy="184343"/>
          </a:xfrm>
          <a:prstGeom prst="rect">
            <a:avLst/>
          </a:prstGeom>
        </p:spPr>
      </p:pic>
      <p:sp>
        <p:nvSpPr>
          <p:cNvPr id="12" name="Text 8"/>
          <p:cNvSpPr txBox="1"/>
          <p:nvPr/>
        </p:nvSpPr>
        <p:spPr>
          <a:xfrm>
            <a:off x="3182112" y="1600200"/>
            <a:ext cx="1234440" cy="457200"/>
          </a:xfrm>
          <a:prstGeom prst="rect">
            <a:avLst/>
          </a:prstGeom>
          <a:noFill/>
          <a:ln/>
        </p:spPr>
        <p:txBody>
          <a:bodyPr wrap="square" lIns="0" tIns="0" rIns="0" bIns="0" rtlCol="0" anchor="ctr"/>
          <a:lstStyle/>
          <a:p>
            <a:pPr indent="0" marL="0">
              <a:buNone/>
            </a:pPr>
            <a:r>
              <a:rPr lang="en-US" sz="1250" b="1" dirty="0">
                <a:solidFill>
                  <a:srgbClr val="163A2B"/>
                </a:solidFill>
                <a:latin typeface="Cambria" pitchFamily="34" charset="0"/>
                <a:ea typeface="Cambria" pitchFamily="34" charset="-122"/>
                <a:cs typeface="Cambria" pitchFamily="34" charset="-120"/>
              </a:rPr>
              <a:t>Ley 1523 de 2012</a:t>
            </a:r>
            <a:endParaRPr lang="en-US" sz="1250" dirty="0"/>
          </a:p>
        </p:txBody>
      </p:sp>
      <p:sp>
        <p:nvSpPr>
          <p:cNvPr id="13" name="Text 9"/>
          <p:cNvSpPr txBox="1"/>
          <p:nvPr/>
        </p:nvSpPr>
        <p:spPr>
          <a:xfrm>
            <a:off x="2706624" y="2121408"/>
            <a:ext cx="1645920" cy="566928"/>
          </a:xfrm>
          <a:prstGeom prst="rect">
            <a:avLst/>
          </a:prstGeom>
          <a:noFill/>
          <a:ln/>
        </p:spPr>
        <p:txBody>
          <a:bodyPr wrap="square" lIns="0" tIns="0" rIns="0" bIns="0" rtlCol="0" anchor="t"/>
          <a:lstStyle/>
          <a:p>
            <a:pPr indent="0" marL="0">
              <a:buNone/>
            </a:pPr>
            <a:r>
              <a:rPr lang="en-US" sz="1100" dirty="0">
                <a:solidFill>
                  <a:srgbClr val="5E6B65"/>
                </a:solidFill>
                <a:latin typeface="Calibri" pitchFamily="34" charset="0"/>
                <a:ea typeface="Calibri" pitchFamily="34" charset="-122"/>
                <a:cs typeface="Calibri" pitchFamily="34" charset="-120"/>
              </a:rPr>
              <a:t>Gestión del riesgo de desastres</a:t>
            </a:r>
            <a:endParaRPr lang="en-US" sz="1100" dirty="0"/>
          </a:p>
        </p:txBody>
      </p:sp>
      <p:sp>
        <p:nvSpPr>
          <p:cNvPr id="14" name="Shape 10"/>
          <p:cNvSpPr/>
          <p:nvPr/>
        </p:nvSpPr>
        <p:spPr>
          <a:xfrm>
            <a:off x="4626864" y="1463040"/>
            <a:ext cx="1920240" cy="1325880"/>
          </a:xfrm>
          <a:prstGeom prst="roundRect">
            <a:avLst>
              <a:gd name="adj" fmla="val 6897"/>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5" name="Shape 11"/>
          <p:cNvSpPr/>
          <p:nvPr/>
        </p:nvSpPr>
        <p:spPr>
          <a:xfrm>
            <a:off x="4791456" y="1627632"/>
            <a:ext cx="384048" cy="384048"/>
          </a:xfrm>
          <a:prstGeom prst="ellipse">
            <a:avLst/>
          </a:prstGeom>
          <a:solidFill>
            <a:srgbClr val="2F6B4F"/>
          </a:solidFill>
          <a:ln w="12700">
            <a:solidFill>
              <a:srgbClr val="2F6B4F"/>
            </a:solidFill>
            <a:prstDash val="solid"/>
          </a:ln>
        </p:spPr>
      </p:sp>
      <p:pic>
        <p:nvPicPr>
          <p:cNvPr id="16" name="Image 2" descr="preencoded.png">    </p:cNvPr>
          <p:cNvPicPr>
            <a:picLocks noChangeAspect="1"/>
          </p:cNvPicPr>
          <p:nvPr/>
        </p:nvPicPr>
        <p:blipFill>
          <a:blip r:embed="rId3"/>
          <a:stretch>
            <a:fillRect/>
          </a:stretch>
        </p:blipFill>
        <p:spPr>
          <a:xfrm>
            <a:off x="4891308" y="1727484"/>
            <a:ext cx="184343" cy="184343"/>
          </a:xfrm>
          <a:prstGeom prst="rect">
            <a:avLst/>
          </a:prstGeom>
        </p:spPr>
      </p:pic>
      <p:sp>
        <p:nvSpPr>
          <p:cNvPr id="17" name="Text 12"/>
          <p:cNvSpPr txBox="1"/>
          <p:nvPr/>
        </p:nvSpPr>
        <p:spPr>
          <a:xfrm>
            <a:off x="5266944" y="1600200"/>
            <a:ext cx="1234440" cy="457200"/>
          </a:xfrm>
          <a:prstGeom prst="rect">
            <a:avLst/>
          </a:prstGeom>
          <a:noFill/>
          <a:ln/>
        </p:spPr>
        <p:txBody>
          <a:bodyPr wrap="square" lIns="0" tIns="0" rIns="0" bIns="0" rtlCol="0" anchor="ctr"/>
          <a:lstStyle/>
          <a:p>
            <a:pPr indent="0" marL="0">
              <a:buNone/>
            </a:pPr>
            <a:r>
              <a:rPr lang="en-US" sz="1250" b="1" dirty="0">
                <a:solidFill>
                  <a:srgbClr val="163A2B"/>
                </a:solidFill>
                <a:latin typeface="Cambria" pitchFamily="34" charset="0"/>
                <a:ea typeface="Cambria" pitchFamily="34" charset="-122"/>
                <a:cs typeface="Cambria" pitchFamily="34" charset="-120"/>
              </a:rPr>
              <a:t>Ley 388 de 1997</a:t>
            </a:r>
            <a:endParaRPr lang="en-US" sz="1250" dirty="0"/>
          </a:p>
        </p:txBody>
      </p:sp>
      <p:sp>
        <p:nvSpPr>
          <p:cNvPr id="18" name="Text 13"/>
          <p:cNvSpPr txBox="1"/>
          <p:nvPr/>
        </p:nvSpPr>
        <p:spPr>
          <a:xfrm>
            <a:off x="4791456" y="2121408"/>
            <a:ext cx="1645920" cy="566928"/>
          </a:xfrm>
          <a:prstGeom prst="rect">
            <a:avLst/>
          </a:prstGeom>
          <a:noFill/>
          <a:ln/>
        </p:spPr>
        <p:txBody>
          <a:bodyPr wrap="square" lIns="0" tIns="0" rIns="0" bIns="0" rtlCol="0" anchor="t"/>
          <a:lstStyle/>
          <a:p>
            <a:pPr indent="0" marL="0">
              <a:buNone/>
            </a:pPr>
            <a:r>
              <a:rPr lang="en-US" sz="1100" dirty="0">
                <a:solidFill>
                  <a:srgbClr val="5E6B65"/>
                </a:solidFill>
                <a:latin typeface="Calibri" pitchFamily="34" charset="0"/>
                <a:ea typeface="Calibri" pitchFamily="34" charset="-122"/>
                <a:cs typeface="Calibri" pitchFamily="34" charset="-120"/>
              </a:rPr>
              <a:t>Ordenamiento territorial</a:t>
            </a:r>
            <a:endParaRPr lang="en-US" sz="1100" dirty="0"/>
          </a:p>
        </p:txBody>
      </p:sp>
      <p:sp>
        <p:nvSpPr>
          <p:cNvPr id="19" name="Shape 14"/>
          <p:cNvSpPr/>
          <p:nvPr/>
        </p:nvSpPr>
        <p:spPr>
          <a:xfrm>
            <a:off x="6711696" y="1463040"/>
            <a:ext cx="1920240" cy="1325880"/>
          </a:xfrm>
          <a:prstGeom prst="roundRect">
            <a:avLst>
              <a:gd name="adj" fmla="val 6897"/>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20" name="Shape 15"/>
          <p:cNvSpPr/>
          <p:nvPr/>
        </p:nvSpPr>
        <p:spPr>
          <a:xfrm>
            <a:off x="6876288" y="1627632"/>
            <a:ext cx="384048" cy="384048"/>
          </a:xfrm>
          <a:prstGeom prst="ellipse">
            <a:avLst/>
          </a:prstGeom>
          <a:solidFill>
            <a:srgbClr val="2F6B4F"/>
          </a:solidFill>
          <a:ln w="12700">
            <a:solidFill>
              <a:srgbClr val="2F6B4F"/>
            </a:solidFill>
            <a:prstDash val="solid"/>
          </a:ln>
        </p:spPr>
      </p:sp>
      <p:pic>
        <p:nvPicPr>
          <p:cNvPr id="21" name="Image 3" descr="preencoded.png">    </p:cNvPr>
          <p:cNvPicPr>
            <a:picLocks noChangeAspect="1"/>
          </p:cNvPicPr>
          <p:nvPr/>
        </p:nvPicPr>
        <p:blipFill>
          <a:blip r:embed="rId4"/>
          <a:stretch>
            <a:fillRect/>
          </a:stretch>
        </p:blipFill>
        <p:spPr>
          <a:xfrm>
            <a:off x="6976140" y="1727484"/>
            <a:ext cx="184343" cy="184343"/>
          </a:xfrm>
          <a:prstGeom prst="rect">
            <a:avLst/>
          </a:prstGeom>
        </p:spPr>
      </p:pic>
      <p:sp>
        <p:nvSpPr>
          <p:cNvPr id="22" name="Text 16"/>
          <p:cNvSpPr txBox="1"/>
          <p:nvPr/>
        </p:nvSpPr>
        <p:spPr>
          <a:xfrm>
            <a:off x="7351776" y="1600200"/>
            <a:ext cx="1234440" cy="457200"/>
          </a:xfrm>
          <a:prstGeom prst="rect">
            <a:avLst/>
          </a:prstGeom>
          <a:noFill/>
          <a:ln/>
        </p:spPr>
        <p:txBody>
          <a:bodyPr wrap="square" lIns="0" tIns="0" rIns="0" bIns="0" rtlCol="0" anchor="ctr"/>
          <a:lstStyle/>
          <a:p>
            <a:pPr indent="0" marL="0">
              <a:buNone/>
            </a:pPr>
            <a:r>
              <a:rPr lang="en-US" sz="1250" b="1" dirty="0">
                <a:solidFill>
                  <a:srgbClr val="163A2B"/>
                </a:solidFill>
                <a:latin typeface="Cambria" pitchFamily="34" charset="0"/>
                <a:ea typeface="Cambria" pitchFamily="34" charset="-122"/>
                <a:cs typeface="Cambria" pitchFamily="34" charset="-120"/>
              </a:rPr>
              <a:t>Ley 99 de 1993</a:t>
            </a:r>
            <a:endParaRPr lang="en-US" sz="1250" dirty="0"/>
          </a:p>
        </p:txBody>
      </p:sp>
      <p:sp>
        <p:nvSpPr>
          <p:cNvPr id="23" name="Text 17"/>
          <p:cNvSpPr txBox="1"/>
          <p:nvPr/>
        </p:nvSpPr>
        <p:spPr>
          <a:xfrm>
            <a:off x="6876288" y="2121408"/>
            <a:ext cx="1645920" cy="566928"/>
          </a:xfrm>
          <a:prstGeom prst="rect">
            <a:avLst/>
          </a:prstGeom>
          <a:noFill/>
          <a:ln/>
        </p:spPr>
        <p:txBody>
          <a:bodyPr wrap="square" lIns="0" tIns="0" rIns="0" bIns="0" rtlCol="0" anchor="t"/>
          <a:lstStyle/>
          <a:p>
            <a:pPr indent="0" marL="0">
              <a:buNone/>
            </a:pPr>
            <a:r>
              <a:rPr lang="en-US" sz="1100" dirty="0">
                <a:solidFill>
                  <a:srgbClr val="5E6B65"/>
                </a:solidFill>
                <a:latin typeface="Calibri" pitchFamily="34" charset="0"/>
                <a:ea typeface="Calibri" pitchFamily="34" charset="-122"/>
                <a:cs typeface="Calibri" pitchFamily="34" charset="-120"/>
              </a:rPr>
              <a:t>SINA · jurisdicción de Corponor</a:t>
            </a:r>
            <a:endParaRPr lang="en-US" sz="1100" dirty="0"/>
          </a:p>
        </p:txBody>
      </p:sp>
      <p:sp>
        <p:nvSpPr>
          <p:cNvPr id="24" name="Shape 18"/>
          <p:cNvSpPr/>
          <p:nvPr/>
        </p:nvSpPr>
        <p:spPr>
          <a:xfrm>
            <a:off x="457200" y="2971800"/>
            <a:ext cx="1920240" cy="1325880"/>
          </a:xfrm>
          <a:prstGeom prst="roundRect">
            <a:avLst>
              <a:gd name="adj" fmla="val 6897"/>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25" name="Shape 19"/>
          <p:cNvSpPr/>
          <p:nvPr/>
        </p:nvSpPr>
        <p:spPr>
          <a:xfrm>
            <a:off x="621792" y="3136392"/>
            <a:ext cx="384048" cy="384048"/>
          </a:xfrm>
          <a:prstGeom prst="ellipse">
            <a:avLst/>
          </a:prstGeom>
          <a:solidFill>
            <a:srgbClr val="2F6B4F"/>
          </a:solidFill>
          <a:ln w="12700">
            <a:solidFill>
              <a:srgbClr val="2F6B4F"/>
            </a:solidFill>
            <a:prstDash val="solid"/>
          </a:ln>
        </p:spPr>
      </p:sp>
      <p:pic>
        <p:nvPicPr>
          <p:cNvPr id="26" name="Image 4" descr="preencoded.png">    </p:cNvPr>
          <p:cNvPicPr>
            <a:picLocks noChangeAspect="1"/>
          </p:cNvPicPr>
          <p:nvPr/>
        </p:nvPicPr>
        <p:blipFill>
          <a:blip r:embed="rId5"/>
          <a:stretch>
            <a:fillRect/>
          </a:stretch>
        </p:blipFill>
        <p:spPr>
          <a:xfrm>
            <a:off x="721644" y="3236244"/>
            <a:ext cx="184343" cy="184343"/>
          </a:xfrm>
          <a:prstGeom prst="rect">
            <a:avLst/>
          </a:prstGeom>
        </p:spPr>
      </p:pic>
      <p:sp>
        <p:nvSpPr>
          <p:cNvPr id="27" name="Text 20"/>
          <p:cNvSpPr txBox="1"/>
          <p:nvPr/>
        </p:nvSpPr>
        <p:spPr>
          <a:xfrm>
            <a:off x="1097280" y="3108960"/>
            <a:ext cx="1234440" cy="457200"/>
          </a:xfrm>
          <a:prstGeom prst="rect">
            <a:avLst/>
          </a:prstGeom>
          <a:noFill/>
          <a:ln/>
        </p:spPr>
        <p:txBody>
          <a:bodyPr wrap="square" lIns="0" tIns="0" rIns="0" bIns="0" rtlCol="0" anchor="ctr"/>
          <a:lstStyle/>
          <a:p>
            <a:pPr indent="0" marL="0">
              <a:buNone/>
            </a:pPr>
            <a:r>
              <a:rPr lang="en-US" sz="1250" b="1" dirty="0">
                <a:solidFill>
                  <a:srgbClr val="163A2B"/>
                </a:solidFill>
                <a:latin typeface="Cambria" pitchFamily="34" charset="0"/>
                <a:ea typeface="Cambria" pitchFamily="34" charset="-122"/>
                <a:cs typeface="Cambria" pitchFamily="34" charset="-120"/>
              </a:rPr>
              <a:t>Decreto 1076 de 2015</a:t>
            </a:r>
            <a:endParaRPr lang="en-US" sz="1250" dirty="0"/>
          </a:p>
        </p:txBody>
      </p:sp>
      <p:sp>
        <p:nvSpPr>
          <p:cNvPr id="28" name="Text 21"/>
          <p:cNvSpPr txBox="1"/>
          <p:nvPr/>
        </p:nvSpPr>
        <p:spPr>
          <a:xfrm>
            <a:off x="621792" y="3630168"/>
            <a:ext cx="1645920" cy="566928"/>
          </a:xfrm>
          <a:prstGeom prst="rect">
            <a:avLst/>
          </a:prstGeom>
          <a:noFill/>
          <a:ln/>
        </p:spPr>
        <p:txBody>
          <a:bodyPr wrap="square" lIns="0" tIns="0" rIns="0" bIns="0" rtlCol="0" anchor="t"/>
          <a:lstStyle/>
          <a:p>
            <a:pPr indent="0" marL="0">
              <a:buNone/>
            </a:pPr>
            <a:r>
              <a:rPr lang="en-US" sz="1100" dirty="0">
                <a:solidFill>
                  <a:srgbClr val="5E6B65"/>
                </a:solidFill>
                <a:latin typeface="Calibri" pitchFamily="34" charset="0"/>
                <a:ea typeface="Calibri" pitchFamily="34" charset="-122"/>
                <a:cs typeface="Calibri" pitchFamily="34" charset="-120"/>
              </a:rPr>
              <a:t>Ocupación de cauce, vertimientos</a:t>
            </a:r>
            <a:endParaRPr lang="en-US" sz="1100" dirty="0"/>
          </a:p>
        </p:txBody>
      </p:sp>
      <p:sp>
        <p:nvSpPr>
          <p:cNvPr id="29" name="Shape 22"/>
          <p:cNvSpPr/>
          <p:nvPr/>
        </p:nvSpPr>
        <p:spPr>
          <a:xfrm>
            <a:off x="2542032" y="2971800"/>
            <a:ext cx="1920240" cy="1325880"/>
          </a:xfrm>
          <a:prstGeom prst="roundRect">
            <a:avLst>
              <a:gd name="adj" fmla="val 6897"/>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30" name="Shape 23"/>
          <p:cNvSpPr/>
          <p:nvPr/>
        </p:nvSpPr>
        <p:spPr>
          <a:xfrm>
            <a:off x="2706624" y="3136392"/>
            <a:ext cx="384048" cy="384048"/>
          </a:xfrm>
          <a:prstGeom prst="ellipse">
            <a:avLst/>
          </a:prstGeom>
          <a:solidFill>
            <a:srgbClr val="2F6B4F"/>
          </a:solidFill>
          <a:ln w="12700">
            <a:solidFill>
              <a:srgbClr val="2F6B4F"/>
            </a:solidFill>
            <a:prstDash val="solid"/>
          </a:ln>
        </p:spPr>
      </p:sp>
      <p:pic>
        <p:nvPicPr>
          <p:cNvPr id="31" name="Image 5" descr="preencoded.png">    </p:cNvPr>
          <p:cNvPicPr>
            <a:picLocks noChangeAspect="1"/>
          </p:cNvPicPr>
          <p:nvPr/>
        </p:nvPicPr>
        <p:blipFill>
          <a:blip r:embed="rId6"/>
          <a:stretch>
            <a:fillRect/>
          </a:stretch>
        </p:blipFill>
        <p:spPr>
          <a:xfrm>
            <a:off x="2806476" y="3236244"/>
            <a:ext cx="184343" cy="184343"/>
          </a:xfrm>
          <a:prstGeom prst="rect">
            <a:avLst/>
          </a:prstGeom>
        </p:spPr>
      </p:pic>
      <p:sp>
        <p:nvSpPr>
          <p:cNvPr id="32" name="Text 24"/>
          <p:cNvSpPr txBox="1"/>
          <p:nvPr/>
        </p:nvSpPr>
        <p:spPr>
          <a:xfrm>
            <a:off x="3182112" y="3108960"/>
            <a:ext cx="1234440" cy="457200"/>
          </a:xfrm>
          <a:prstGeom prst="rect">
            <a:avLst/>
          </a:prstGeom>
          <a:noFill/>
          <a:ln/>
        </p:spPr>
        <p:txBody>
          <a:bodyPr wrap="square" lIns="0" tIns="0" rIns="0" bIns="0" rtlCol="0" anchor="ctr"/>
          <a:lstStyle/>
          <a:p>
            <a:pPr indent="0" marL="0">
              <a:buNone/>
            </a:pPr>
            <a:r>
              <a:rPr lang="en-US" sz="1250" b="1" dirty="0">
                <a:solidFill>
                  <a:srgbClr val="163A2B"/>
                </a:solidFill>
                <a:latin typeface="Cambria" pitchFamily="34" charset="0"/>
                <a:ea typeface="Cambria" pitchFamily="34" charset="-122"/>
                <a:cs typeface="Cambria" pitchFamily="34" charset="-120"/>
              </a:rPr>
              <a:t>Res. 0330 de 2017</a:t>
            </a:r>
            <a:endParaRPr lang="en-US" sz="1250" dirty="0"/>
          </a:p>
        </p:txBody>
      </p:sp>
      <p:sp>
        <p:nvSpPr>
          <p:cNvPr id="33" name="Text 25"/>
          <p:cNvSpPr txBox="1"/>
          <p:nvPr/>
        </p:nvSpPr>
        <p:spPr>
          <a:xfrm>
            <a:off x="2706624" y="3630168"/>
            <a:ext cx="1645920" cy="566928"/>
          </a:xfrm>
          <a:prstGeom prst="rect">
            <a:avLst/>
          </a:prstGeom>
          <a:noFill/>
          <a:ln/>
        </p:spPr>
        <p:txBody>
          <a:bodyPr wrap="square" lIns="0" tIns="0" rIns="0" bIns="0" rtlCol="0" anchor="t"/>
          <a:lstStyle/>
          <a:p>
            <a:pPr indent="0" marL="0">
              <a:buNone/>
            </a:pPr>
            <a:r>
              <a:rPr lang="en-US" sz="1100" dirty="0">
                <a:solidFill>
                  <a:srgbClr val="5E6B65"/>
                </a:solidFill>
                <a:latin typeface="Calibri" pitchFamily="34" charset="0"/>
                <a:ea typeface="Calibri" pitchFamily="34" charset="-122"/>
                <a:cs typeface="Calibri" pitchFamily="34" charset="-120"/>
              </a:rPr>
              <a:t>RAS · drenaje pluvial</a:t>
            </a:r>
            <a:endParaRPr lang="en-US" sz="1100" dirty="0"/>
          </a:p>
        </p:txBody>
      </p:sp>
      <p:sp>
        <p:nvSpPr>
          <p:cNvPr id="34" name="Shape 26"/>
          <p:cNvSpPr/>
          <p:nvPr/>
        </p:nvSpPr>
        <p:spPr>
          <a:xfrm>
            <a:off x="4626864" y="2971800"/>
            <a:ext cx="1920240" cy="1325880"/>
          </a:xfrm>
          <a:prstGeom prst="roundRect">
            <a:avLst>
              <a:gd name="adj" fmla="val 6897"/>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35" name="Shape 27"/>
          <p:cNvSpPr/>
          <p:nvPr/>
        </p:nvSpPr>
        <p:spPr>
          <a:xfrm>
            <a:off x="4791456" y="3136392"/>
            <a:ext cx="384048" cy="384048"/>
          </a:xfrm>
          <a:prstGeom prst="ellipse">
            <a:avLst/>
          </a:prstGeom>
          <a:solidFill>
            <a:srgbClr val="2F6B4F"/>
          </a:solidFill>
          <a:ln w="12700">
            <a:solidFill>
              <a:srgbClr val="2F6B4F"/>
            </a:solidFill>
            <a:prstDash val="solid"/>
          </a:ln>
        </p:spPr>
      </p:sp>
      <p:pic>
        <p:nvPicPr>
          <p:cNvPr id="36" name="Image 6" descr="preencoded.png">    </p:cNvPr>
          <p:cNvPicPr>
            <a:picLocks noChangeAspect="1"/>
          </p:cNvPicPr>
          <p:nvPr/>
        </p:nvPicPr>
        <p:blipFill>
          <a:blip r:embed="rId7"/>
          <a:stretch>
            <a:fillRect/>
          </a:stretch>
        </p:blipFill>
        <p:spPr>
          <a:xfrm>
            <a:off x="4891308" y="3236244"/>
            <a:ext cx="184343" cy="184343"/>
          </a:xfrm>
          <a:prstGeom prst="rect">
            <a:avLst/>
          </a:prstGeom>
        </p:spPr>
      </p:pic>
      <p:sp>
        <p:nvSpPr>
          <p:cNvPr id="37" name="Text 28"/>
          <p:cNvSpPr txBox="1"/>
          <p:nvPr/>
        </p:nvSpPr>
        <p:spPr>
          <a:xfrm>
            <a:off x="5266944" y="3108960"/>
            <a:ext cx="1234440" cy="457200"/>
          </a:xfrm>
          <a:prstGeom prst="rect">
            <a:avLst/>
          </a:prstGeom>
          <a:noFill/>
          <a:ln/>
        </p:spPr>
        <p:txBody>
          <a:bodyPr wrap="square" lIns="0" tIns="0" rIns="0" bIns="0" rtlCol="0" anchor="ctr"/>
          <a:lstStyle/>
          <a:p>
            <a:pPr indent="0" marL="0">
              <a:buNone/>
            </a:pPr>
            <a:r>
              <a:rPr lang="en-US" sz="1250" b="1" dirty="0">
                <a:solidFill>
                  <a:srgbClr val="163A2B"/>
                </a:solidFill>
                <a:latin typeface="Cambria" pitchFamily="34" charset="0"/>
                <a:ea typeface="Cambria" pitchFamily="34" charset="-122"/>
                <a:cs typeface="Cambria" pitchFamily="34" charset="-120"/>
              </a:rPr>
              <a:t>Res. 0472 de 2017</a:t>
            </a:r>
            <a:endParaRPr lang="en-US" sz="1250" dirty="0"/>
          </a:p>
        </p:txBody>
      </p:sp>
      <p:sp>
        <p:nvSpPr>
          <p:cNvPr id="38" name="Text 29"/>
          <p:cNvSpPr txBox="1"/>
          <p:nvPr/>
        </p:nvSpPr>
        <p:spPr>
          <a:xfrm>
            <a:off x="4791456" y="3630168"/>
            <a:ext cx="1645920" cy="566928"/>
          </a:xfrm>
          <a:prstGeom prst="rect">
            <a:avLst/>
          </a:prstGeom>
          <a:noFill/>
          <a:ln/>
        </p:spPr>
        <p:txBody>
          <a:bodyPr wrap="square" lIns="0" tIns="0" rIns="0" bIns="0" rtlCol="0" anchor="t"/>
          <a:lstStyle/>
          <a:p>
            <a:pPr indent="0" marL="0">
              <a:buNone/>
            </a:pPr>
            <a:r>
              <a:rPr lang="en-US" sz="1100" dirty="0">
                <a:solidFill>
                  <a:srgbClr val="5E6B65"/>
                </a:solidFill>
                <a:latin typeface="Calibri" pitchFamily="34" charset="0"/>
                <a:ea typeface="Calibri" pitchFamily="34" charset="-122"/>
                <a:cs typeface="Calibri" pitchFamily="34" charset="-120"/>
              </a:rPr>
              <a:t>Residuos de construcción (RCD)</a:t>
            </a:r>
            <a:endParaRPr lang="en-US" sz="1100" dirty="0"/>
          </a:p>
        </p:txBody>
      </p:sp>
      <p:sp>
        <p:nvSpPr>
          <p:cNvPr id="39" name="Shape 30"/>
          <p:cNvSpPr/>
          <p:nvPr/>
        </p:nvSpPr>
        <p:spPr>
          <a:xfrm>
            <a:off x="6711696" y="2971800"/>
            <a:ext cx="1920240" cy="1325880"/>
          </a:xfrm>
          <a:prstGeom prst="roundRect">
            <a:avLst>
              <a:gd name="adj" fmla="val 6897"/>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40" name="Shape 31"/>
          <p:cNvSpPr/>
          <p:nvPr/>
        </p:nvSpPr>
        <p:spPr>
          <a:xfrm>
            <a:off x="6876288" y="3136392"/>
            <a:ext cx="384048" cy="384048"/>
          </a:xfrm>
          <a:prstGeom prst="ellipse">
            <a:avLst/>
          </a:prstGeom>
          <a:solidFill>
            <a:srgbClr val="2F6B4F"/>
          </a:solidFill>
          <a:ln w="12700">
            <a:solidFill>
              <a:srgbClr val="2F6B4F"/>
            </a:solidFill>
            <a:prstDash val="solid"/>
          </a:ln>
        </p:spPr>
      </p:sp>
      <p:pic>
        <p:nvPicPr>
          <p:cNvPr id="41" name="Image 7" descr="preencoded.png">    </p:cNvPr>
          <p:cNvPicPr>
            <a:picLocks noChangeAspect="1"/>
          </p:cNvPicPr>
          <p:nvPr/>
        </p:nvPicPr>
        <p:blipFill>
          <a:blip r:embed="rId8"/>
          <a:stretch>
            <a:fillRect/>
          </a:stretch>
        </p:blipFill>
        <p:spPr>
          <a:xfrm>
            <a:off x="6976140" y="3236244"/>
            <a:ext cx="184343" cy="184343"/>
          </a:xfrm>
          <a:prstGeom prst="rect">
            <a:avLst/>
          </a:prstGeom>
        </p:spPr>
      </p:pic>
      <p:sp>
        <p:nvSpPr>
          <p:cNvPr id="42" name="Text 32"/>
          <p:cNvSpPr txBox="1"/>
          <p:nvPr/>
        </p:nvSpPr>
        <p:spPr>
          <a:xfrm>
            <a:off x="7351776" y="3108960"/>
            <a:ext cx="1234440" cy="457200"/>
          </a:xfrm>
          <a:prstGeom prst="rect">
            <a:avLst/>
          </a:prstGeom>
          <a:noFill/>
          <a:ln/>
        </p:spPr>
        <p:txBody>
          <a:bodyPr wrap="square" lIns="0" tIns="0" rIns="0" bIns="0" rtlCol="0" anchor="ctr"/>
          <a:lstStyle/>
          <a:p>
            <a:pPr indent="0" marL="0">
              <a:buNone/>
            </a:pPr>
            <a:r>
              <a:rPr lang="en-US" sz="1250" b="1" dirty="0">
                <a:solidFill>
                  <a:srgbClr val="163A2B"/>
                </a:solidFill>
                <a:latin typeface="Cambria" pitchFamily="34" charset="0"/>
                <a:ea typeface="Cambria" pitchFamily="34" charset="-122"/>
                <a:cs typeface="Cambria" pitchFamily="34" charset="-120"/>
              </a:rPr>
              <a:t>INVÍAS 2013 · NTC 1500</a:t>
            </a:r>
            <a:endParaRPr lang="en-US" sz="1250" dirty="0"/>
          </a:p>
        </p:txBody>
      </p:sp>
      <p:sp>
        <p:nvSpPr>
          <p:cNvPr id="43" name="Text 33"/>
          <p:cNvSpPr txBox="1"/>
          <p:nvPr/>
        </p:nvSpPr>
        <p:spPr>
          <a:xfrm>
            <a:off x="6876288" y="3630168"/>
            <a:ext cx="1645920" cy="566928"/>
          </a:xfrm>
          <a:prstGeom prst="rect">
            <a:avLst/>
          </a:prstGeom>
          <a:noFill/>
          <a:ln/>
        </p:spPr>
        <p:txBody>
          <a:bodyPr wrap="square" lIns="0" tIns="0" rIns="0" bIns="0" rtlCol="0" anchor="t"/>
          <a:lstStyle/>
          <a:p>
            <a:pPr indent="0" marL="0">
              <a:buNone/>
            </a:pPr>
            <a:r>
              <a:rPr lang="en-US" sz="1100" dirty="0">
                <a:solidFill>
                  <a:srgbClr val="5E6B65"/>
                </a:solidFill>
                <a:latin typeface="Calibri" pitchFamily="34" charset="0"/>
                <a:ea typeface="Calibri" pitchFamily="34" charset="-122"/>
                <a:cs typeface="Calibri" pitchFamily="34" charset="-120"/>
              </a:rPr>
              <a:t>Ensayos de laboratorio · fontanería</a:t>
            </a:r>
            <a:endParaRPr lang="en-US" sz="1100" dirty="0"/>
          </a:p>
        </p:txBody>
      </p:sp>
      <p:sp>
        <p:nvSpPr>
          <p:cNvPr id="44" name="Text 34"/>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E6B65"/>
                </a:solidFill>
                <a:latin typeface="Calibri" pitchFamily="34" charset="0"/>
                <a:ea typeface="Calibri" pitchFamily="34" charset="-122"/>
                <a:cs typeface="Calibri" pitchFamily="34" charset="-120"/>
              </a:rPr>
              <a:t>Parque Temático El Cacique · Cácota, N. de S.</a:t>
            </a:r>
            <a:endParaRPr lang="en-US" sz="900" dirty="0"/>
          </a:p>
        </p:txBody>
      </p:sp>
      <p:sp>
        <p:nvSpPr>
          <p:cNvPr id="45" name="Text 35"/>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E6B65"/>
                </a:solidFill>
                <a:latin typeface="Calibri" pitchFamily="34" charset="0"/>
                <a:ea typeface="Calibri" pitchFamily="34" charset="-122"/>
                <a:cs typeface="Calibri" pitchFamily="34" charset="-120"/>
              </a:rPr>
              <a:t>12 / 19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663440" y="1325880"/>
            <a:ext cx="4023360" cy="2743200"/>
          </a:xfrm>
          <a:prstGeom prst="rect">
            <a:avLst/>
          </a:prstGeom>
        </p:spPr>
      </p:pic>
      <p:sp>
        <p:nvSpPr>
          <p:cNvPr id="3" name="Text 0"/>
          <p:cNvSpPr txBox="1"/>
          <p:nvPr/>
        </p:nvSpPr>
        <p:spPr>
          <a:xfrm>
            <a:off x="457200" y="320040"/>
            <a:ext cx="5486400" cy="228600"/>
          </a:xfrm>
          <a:prstGeom prst="rect">
            <a:avLst/>
          </a:prstGeom>
          <a:noFill/>
          <a:ln/>
        </p:spPr>
        <p:txBody>
          <a:bodyPr wrap="square" lIns="0" tIns="0" rIns="0" bIns="0" rtlCol="0" anchor="ctr"/>
          <a:lstStyle/>
          <a:p>
            <a:pPr indent="0" marL="0">
              <a:buNone/>
            </a:pPr>
            <a:r>
              <a:rPr lang="en-US" sz="1000" b="1" spc="300" kern="0" dirty="0">
                <a:solidFill>
                  <a:srgbClr val="C4622D"/>
                </a:solidFill>
                <a:latin typeface="Calibri" pitchFamily="34" charset="0"/>
                <a:ea typeface="Calibri" pitchFamily="34" charset="-122"/>
                <a:cs typeface="Calibri" pitchFamily="34" charset="-120"/>
              </a:rPr>
              <a:t>05 · MARCO AMBIENTAL</a:t>
            </a:r>
            <a:endParaRPr lang="en-US" sz="1000" dirty="0"/>
          </a:p>
        </p:txBody>
      </p:sp>
      <p:sp>
        <p:nvSpPr>
          <p:cNvPr id="4" name="Text 1"/>
          <p:cNvSpPr txBox="1"/>
          <p:nvPr/>
        </p:nvSpPr>
        <p:spPr>
          <a:xfrm>
            <a:off x="457200" y="566928"/>
            <a:ext cx="4023360" cy="640080"/>
          </a:xfrm>
          <a:prstGeom prst="rect">
            <a:avLst/>
          </a:prstGeom>
          <a:noFill/>
          <a:ln/>
        </p:spPr>
        <p:txBody>
          <a:bodyPr wrap="square" lIns="0" tIns="0" rIns="0" bIns="0" rtlCol="0" anchor="t"/>
          <a:lstStyle/>
          <a:p>
            <a:pPr indent="0" marL="0">
              <a:buNone/>
            </a:pPr>
            <a:r>
              <a:rPr lang="en-US" sz="2800" b="1" dirty="0">
                <a:solidFill>
                  <a:srgbClr val="163A2B"/>
                </a:solidFill>
                <a:latin typeface="Cambria" pitchFamily="34" charset="0"/>
                <a:ea typeface="Cambria" pitchFamily="34" charset="-122"/>
                <a:cs typeface="Cambria" pitchFamily="34" charset="-120"/>
              </a:rPr>
              <a:t>Ingeniería que cuida el territorio</a:t>
            </a:r>
            <a:endParaRPr lang="en-US" sz="2800" dirty="0"/>
          </a:p>
        </p:txBody>
      </p:sp>
      <p:sp>
        <p:nvSpPr>
          <p:cNvPr id="5" name="Shape 2"/>
          <p:cNvSpPr/>
          <p:nvPr/>
        </p:nvSpPr>
        <p:spPr>
          <a:xfrm>
            <a:off x="457200" y="1691640"/>
            <a:ext cx="475488" cy="475488"/>
          </a:xfrm>
          <a:prstGeom prst="ellipse">
            <a:avLst/>
          </a:prstGeom>
          <a:solidFill>
            <a:srgbClr val="2F6B4F"/>
          </a:solidFill>
          <a:ln w="12700">
            <a:solidFill>
              <a:srgbClr val="2F6B4F"/>
            </a:solidFill>
            <a:prstDash val="solid"/>
          </a:ln>
        </p:spPr>
      </p:sp>
      <p:pic>
        <p:nvPicPr>
          <p:cNvPr id="6" name="Image 1" descr="preencoded.png">    </p:cNvPr>
          <p:cNvPicPr>
            <a:picLocks noChangeAspect="1"/>
          </p:cNvPicPr>
          <p:nvPr/>
        </p:nvPicPr>
        <p:blipFill>
          <a:blip r:embed="rId2"/>
          <a:stretch>
            <a:fillRect/>
          </a:stretch>
        </p:blipFill>
        <p:spPr>
          <a:xfrm>
            <a:off x="580827" y="1815267"/>
            <a:ext cx="228234" cy="228234"/>
          </a:xfrm>
          <a:prstGeom prst="rect">
            <a:avLst/>
          </a:prstGeom>
        </p:spPr>
      </p:pic>
      <p:sp>
        <p:nvSpPr>
          <p:cNvPr id="7" name="Text 3"/>
          <p:cNvSpPr txBox="1"/>
          <p:nvPr/>
        </p:nvSpPr>
        <p:spPr>
          <a:xfrm>
            <a:off x="1097280" y="1655064"/>
            <a:ext cx="3200400" cy="320040"/>
          </a:xfrm>
          <a:prstGeom prst="rect">
            <a:avLst/>
          </a:prstGeom>
          <a:noFill/>
          <a:ln/>
        </p:spPr>
        <p:txBody>
          <a:bodyPr wrap="square" lIns="0" tIns="0" rIns="0" bIns="0" rtlCol="0" anchor="ctr"/>
          <a:lstStyle/>
          <a:p>
            <a:pPr indent="0" marL="0">
              <a:buNone/>
            </a:pPr>
            <a:r>
              <a:rPr lang="en-US" sz="1450" b="1" dirty="0">
                <a:solidFill>
                  <a:srgbClr val="163A2B"/>
                </a:solidFill>
                <a:latin typeface="Cambria" pitchFamily="34" charset="0"/>
                <a:ea typeface="Cambria" pitchFamily="34" charset="-122"/>
                <a:cs typeface="Cambria" pitchFamily="34" charset="-120"/>
              </a:rPr>
              <a:t>Protección del canal</a:t>
            </a:r>
            <a:endParaRPr lang="en-US" sz="1450" dirty="0"/>
          </a:p>
        </p:txBody>
      </p:sp>
      <p:sp>
        <p:nvSpPr>
          <p:cNvPr id="8" name="Text 4"/>
          <p:cNvSpPr txBox="1"/>
          <p:nvPr/>
        </p:nvSpPr>
        <p:spPr>
          <a:xfrm>
            <a:off x="1097280" y="1965960"/>
            <a:ext cx="3291840" cy="548640"/>
          </a:xfrm>
          <a:prstGeom prst="rect">
            <a:avLst/>
          </a:prstGeom>
          <a:noFill/>
          <a:ln/>
        </p:spPr>
        <p:txBody>
          <a:bodyPr wrap="square" lIns="0" tIns="0" rIns="0" bIns="0" rtlCol="0" anchor="t"/>
          <a:lstStyle/>
          <a:p>
            <a:pPr indent="0" marL="0">
              <a:buNone/>
            </a:pPr>
            <a:r>
              <a:rPr lang="en-US" sz="1150" dirty="0">
                <a:solidFill>
                  <a:srgbClr val="5E6B65"/>
                </a:solidFill>
                <a:latin typeface="Calibri" pitchFamily="34" charset="0"/>
                <a:ea typeface="Calibri" pitchFamily="34" charset="-122"/>
                <a:cs typeface="Calibri" pitchFamily="34" charset="-120"/>
              </a:rPr>
              <a:t>Trampas de sedimentos antes de cada entrega; cero vertimientos.</a:t>
            </a:r>
            <a:endParaRPr lang="en-US" sz="1150" dirty="0"/>
          </a:p>
        </p:txBody>
      </p:sp>
      <p:sp>
        <p:nvSpPr>
          <p:cNvPr id="9" name="Shape 5"/>
          <p:cNvSpPr/>
          <p:nvPr/>
        </p:nvSpPr>
        <p:spPr>
          <a:xfrm>
            <a:off x="457200" y="2606040"/>
            <a:ext cx="475488" cy="475488"/>
          </a:xfrm>
          <a:prstGeom prst="ellipse">
            <a:avLst/>
          </a:prstGeom>
          <a:solidFill>
            <a:srgbClr val="2F6B4F"/>
          </a:solidFill>
          <a:ln w="12700">
            <a:solidFill>
              <a:srgbClr val="2F6B4F"/>
            </a:solidFill>
            <a:prstDash val="solid"/>
          </a:ln>
        </p:spPr>
      </p:sp>
      <p:pic>
        <p:nvPicPr>
          <p:cNvPr id="10" name="Image 2" descr="preencoded.png">    </p:cNvPr>
          <p:cNvPicPr>
            <a:picLocks noChangeAspect="1"/>
          </p:cNvPicPr>
          <p:nvPr/>
        </p:nvPicPr>
        <p:blipFill>
          <a:blip r:embed="rId3"/>
          <a:stretch>
            <a:fillRect/>
          </a:stretch>
        </p:blipFill>
        <p:spPr>
          <a:xfrm>
            <a:off x="580827" y="2729667"/>
            <a:ext cx="228234" cy="228234"/>
          </a:xfrm>
          <a:prstGeom prst="rect">
            <a:avLst/>
          </a:prstGeom>
        </p:spPr>
      </p:pic>
      <p:sp>
        <p:nvSpPr>
          <p:cNvPr id="11" name="Text 6"/>
          <p:cNvSpPr txBox="1"/>
          <p:nvPr/>
        </p:nvSpPr>
        <p:spPr>
          <a:xfrm>
            <a:off x="1097280" y="2569464"/>
            <a:ext cx="3200400" cy="320040"/>
          </a:xfrm>
          <a:prstGeom prst="rect">
            <a:avLst/>
          </a:prstGeom>
          <a:noFill/>
          <a:ln/>
        </p:spPr>
        <p:txBody>
          <a:bodyPr wrap="square" lIns="0" tIns="0" rIns="0" bIns="0" rtlCol="0" anchor="ctr"/>
          <a:lstStyle/>
          <a:p>
            <a:pPr indent="0" marL="0">
              <a:buNone/>
            </a:pPr>
            <a:r>
              <a:rPr lang="en-US" sz="1450" b="1" dirty="0">
                <a:solidFill>
                  <a:srgbClr val="163A2B"/>
                </a:solidFill>
                <a:latin typeface="Cambria" pitchFamily="34" charset="0"/>
                <a:ea typeface="Cambria" pitchFamily="34" charset="-122"/>
                <a:cs typeface="Cambria" pitchFamily="34" charset="-120"/>
              </a:rPr>
              <a:t>Revegetación nativa</a:t>
            </a:r>
            <a:endParaRPr lang="en-US" sz="1450" dirty="0"/>
          </a:p>
        </p:txBody>
      </p:sp>
      <p:sp>
        <p:nvSpPr>
          <p:cNvPr id="12" name="Text 7"/>
          <p:cNvSpPr txBox="1"/>
          <p:nvPr/>
        </p:nvSpPr>
        <p:spPr>
          <a:xfrm>
            <a:off x="1097280" y="2880360"/>
            <a:ext cx="3291840" cy="548640"/>
          </a:xfrm>
          <a:prstGeom prst="rect">
            <a:avLst/>
          </a:prstGeom>
          <a:noFill/>
          <a:ln/>
        </p:spPr>
        <p:txBody>
          <a:bodyPr wrap="square" lIns="0" tIns="0" rIns="0" bIns="0" rtlCol="0" anchor="t"/>
          <a:lstStyle/>
          <a:p>
            <a:pPr indent="0" marL="0">
              <a:buNone/>
            </a:pPr>
            <a:r>
              <a:rPr lang="en-US" sz="1150" dirty="0">
                <a:solidFill>
                  <a:srgbClr val="5E6B65"/>
                </a:solidFill>
                <a:latin typeface="Calibri" pitchFamily="34" charset="0"/>
                <a:ea typeface="Calibri" pitchFamily="34" charset="-122"/>
                <a:cs typeface="Calibri" pitchFamily="34" charset="-120"/>
              </a:rPr>
              <a:t>Aliso, roble y encenillo evaluados por su aporte al refuerzo del suelo.</a:t>
            </a:r>
            <a:endParaRPr lang="en-US" sz="1150" dirty="0"/>
          </a:p>
        </p:txBody>
      </p:sp>
      <p:sp>
        <p:nvSpPr>
          <p:cNvPr id="13" name="Shape 8"/>
          <p:cNvSpPr/>
          <p:nvPr/>
        </p:nvSpPr>
        <p:spPr>
          <a:xfrm>
            <a:off x="457200" y="3520440"/>
            <a:ext cx="475488" cy="475488"/>
          </a:xfrm>
          <a:prstGeom prst="ellipse">
            <a:avLst/>
          </a:prstGeom>
          <a:solidFill>
            <a:srgbClr val="2F6B4F"/>
          </a:solidFill>
          <a:ln w="12700">
            <a:solidFill>
              <a:srgbClr val="2F6B4F"/>
            </a:solidFill>
            <a:prstDash val="solid"/>
          </a:ln>
        </p:spPr>
      </p:sp>
      <p:pic>
        <p:nvPicPr>
          <p:cNvPr id="14" name="Image 3" descr="preencoded.png">    </p:cNvPr>
          <p:cNvPicPr>
            <a:picLocks noChangeAspect="1"/>
          </p:cNvPicPr>
          <p:nvPr/>
        </p:nvPicPr>
        <p:blipFill>
          <a:blip r:embed="rId4"/>
          <a:stretch>
            <a:fillRect/>
          </a:stretch>
        </p:blipFill>
        <p:spPr>
          <a:xfrm>
            <a:off x="580827" y="3644067"/>
            <a:ext cx="228234" cy="228234"/>
          </a:xfrm>
          <a:prstGeom prst="rect">
            <a:avLst/>
          </a:prstGeom>
        </p:spPr>
      </p:pic>
      <p:sp>
        <p:nvSpPr>
          <p:cNvPr id="15" name="Text 9"/>
          <p:cNvSpPr txBox="1"/>
          <p:nvPr/>
        </p:nvSpPr>
        <p:spPr>
          <a:xfrm>
            <a:off x="1097280" y="3483864"/>
            <a:ext cx="3200400" cy="320040"/>
          </a:xfrm>
          <a:prstGeom prst="rect">
            <a:avLst/>
          </a:prstGeom>
          <a:noFill/>
          <a:ln/>
        </p:spPr>
        <p:txBody>
          <a:bodyPr wrap="square" lIns="0" tIns="0" rIns="0" bIns="0" rtlCol="0" anchor="ctr"/>
          <a:lstStyle/>
          <a:p>
            <a:pPr indent="0" marL="0">
              <a:buNone/>
            </a:pPr>
            <a:r>
              <a:rPr lang="en-US" sz="1450" b="1" dirty="0">
                <a:solidFill>
                  <a:srgbClr val="163A2B"/>
                </a:solidFill>
                <a:latin typeface="Cambria" pitchFamily="34" charset="0"/>
                <a:ea typeface="Cambria" pitchFamily="34" charset="-122"/>
                <a:cs typeface="Cambria" pitchFamily="34" charset="-120"/>
              </a:rPr>
              <a:t>Material de excavación</a:t>
            </a:r>
            <a:endParaRPr lang="en-US" sz="1450" dirty="0"/>
          </a:p>
        </p:txBody>
      </p:sp>
      <p:sp>
        <p:nvSpPr>
          <p:cNvPr id="16" name="Text 10"/>
          <p:cNvSpPr txBox="1"/>
          <p:nvPr/>
        </p:nvSpPr>
        <p:spPr>
          <a:xfrm>
            <a:off x="1097280" y="3794760"/>
            <a:ext cx="3291840" cy="548640"/>
          </a:xfrm>
          <a:prstGeom prst="rect">
            <a:avLst/>
          </a:prstGeom>
          <a:noFill/>
          <a:ln/>
        </p:spPr>
        <p:txBody>
          <a:bodyPr wrap="square" lIns="0" tIns="0" rIns="0" bIns="0" rtlCol="0" anchor="t"/>
          <a:lstStyle/>
          <a:p>
            <a:pPr indent="0" marL="0">
              <a:buNone/>
            </a:pPr>
            <a:r>
              <a:rPr lang="en-US" sz="1150" dirty="0">
                <a:solidFill>
                  <a:srgbClr val="5E6B65"/>
                </a:solidFill>
                <a:latin typeface="Calibri" pitchFamily="34" charset="0"/>
                <a:ea typeface="Calibri" pitchFamily="34" charset="-122"/>
                <a:cs typeface="Calibri" pitchFamily="34" charset="-120"/>
              </a:rPr>
              <a:t>La capa vegetal se reutiliza en taludes: menos residuos.</a:t>
            </a:r>
            <a:endParaRPr lang="en-US" sz="1150" dirty="0"/>
          </a:p>
        </p:txBody>
      </p:sp>
      <p:sp>
        <p:nvSpPr>
          <p:cNvPr id="17" name="Text 11"/>
          <p:cNvSpPr txBox="1"/>
          <p:nvPr/>
        </p:nvSpPr>
        <p:spPr>
          <a:xfrm>
            <a:off x="4663440" y="4160520"/>
            <a:ext cx="4023360" cy="274320"/>
          </a:xfrm>
          <a:prstGeom prst="rect">
            <a:avLst/>
          </a:prstGeom>
          <a:noFill/>
          <a:ln/>
        </p:spPr>
        <p:txBody>
          <a:bodyPr wrap="square" lIns="0" tIns="0" rIns="0" bIns="0" rtlCol="0" anchor="ctr"/>
          <a:lstStyle/>
          <a:p>
            <a:pPr indent="0" marL="0">
              <a:buNone/>
            </a:pPr>
            <a:r>
              <a:rPr lang="en-US" sz="1100" b="1" dirty="0">
                <a:solidFill>
                  <a:srgbClr val="C4622D"/>
                </a:solidFill>
                <a:latin typeface="Calibri" pitchFamily="34" charset="0"/>
                <a:ea typeface="Calibri" pitchFamily="34" charset="-122"/>
                <a:cs typeface="Calibri" pitchFamily="34" charset="-120"/>
              </a:rPr>
              <a:t>Alineado con ODS 6 · 11 · 15</a:t>
            </a:r>
            <a:endParaRPr lang="en-US" sz="1100" dirty="0"/>
          </a:p>
        </p:txBody>
      </p:sp>
      <p:sp>
        <p:nvSpPr>
          <p:cNvPr id="18" name="Text 1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E6B65"/>
                </a:solidFill>
                <a:latin typeface="Calibri" pitchFamily="34" charset="0"/>
                <a:ea typeface="Calibri" pitchFamily="34" charset="-122"/>
                <a:cs typeface="Calibri" pitchFamily="34" charset="-120"/>
              </a:rPr>
              <a:t>Parque Temático El Cacique · Cácota, N. de S.</a:t>
            </a:r>
            <a:endParaRPr lang="en-US" sz="900" dirty="0"/>
          </a:p>
        </p:txBody>
      </p:sp>
      <p:sp>
        <p:nvSpPr>
          <p:cNvPr id="19" name="Text 1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E6B65"/>
                </a:solidFill>
                <a:latin typeface="Calibri" pitchFamily="34" charset="0"/>
                <a:ea typeface="Calibri" pitchFamily="34" charset="-122"/>
                <a:cs typeface="Calibri" pitchFamily="34" charset="-120"/>
              </a:rPr>
              <a:t>13 / 19</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28600"/>
          </a:xfrm>
          <a:prstGeom prst="rect">
            <a:avLst/>
          </a:prstGeom>
          <a:noFill/>
          <a:ln/>
        </p:spPr>
        <p:txBody>
          <a:bodyPr wrap="square" lIns="0" tIns="0" rIns="0" bIns="0" rtlCol="0" anchor="ctr"/>
          <a:lstStyle/>
          <a:p>
            <a:pPr indent="0" marL="0">
              <a:buNone/>
            </a:pPr>
            <a:r>
              <a:rPr lang="en-US" sz="1000" b="1" spc="300" kern="0" dirty="0">
                <a:solidFill>
                  <a:srgbClr val="C4622D"/>
                </a:solidFill>
                <a:latin typeface="Calibri" pitchFamily="34" charset="0"/>
                <a:ea typeface="Calibri" pitchFamily="34" charset="-122"/>
                <a:cs typeface="Calibri" pitchFamily="34" charset="-120"/>
              </a:rPr>
              <a:t>06 · METODOLOGÍA</a:t>
            </a:r>
            <a:endParaRPr lang="en-US" sz="1000" dirty="0"/>
          </a:p>
        </p:txBody>
      </p:sp>
      <p:sp>
        <p:nvSpPr>
          <p:cNvPr id="3" name="Text 1"/>
          <p:cNvSpPr txBox="1"/>
          <p:nvPr/>
        </p:nvSpPr>
        <p:spPr>
          <a:xfrm>
            <a:off x="457200" y="566928"/>
            <a:ext cx="8229600" cy="640080"/>
          </a:xfrm>
          <a:prstGeom prst="rect">
            <a:avLst/>
          </a:prstGeom>
          <a:noFill/>
          <a:ln/>
        </p:spPr>
        <p:txBody>
          <a:bodyPr wrap="square" lIns="0" tIns="0" rIns="0" bIns="0" rtlCol="0" anchor="t"/>
          <a:lstStyle/>
          <a:p>
            <a:pPr indent="0" marL="0">
              <a:buNone/>
            </a:pPr>
            <a:r>
              <a:rPr lang="en-US" sz="2800" b="1" dirty="0">
                <a:solidFill>
                  <a:srgbClr val="163A2B"/>
                </a:solidFill>
                <a:latin typeface="Cambria" pitchFamily="34" charset="0"/>
                <a:ea typeface="Cambria" pitchFamily="34" charset="-122"/>
                <a:cs typeface="Cambria" pitchFamily="34" charset="-120"/>
              </a:rPr>
              <a:t>Investigación aplicada en seis fases</a:t>
            </a:r>
            <a:endParaRPr lang="en-US" sz="2800" dirty="0"/>
          </a:p>
        </p:txBody>
      </p:sp>
      <p:sp>
        <p:nvSpPr>
          <p:cNvPr id="4" name="Text 2"/>
          <p:cNvSpPr txBox="1"/>
          <p:nvPr/>
        </p:nvSpPr>
        <p:spPr>
          <a:xfrm>
            <a:off x="457200" y="1097280"/>
            <a:ext cx="8229600" cy="274320"/>
          </a:xfrm>
          <a:prstGeom prst="rect">
            <a:avLst/>
          </a:prstGeom>
          <a:noFill/>
          <a:ln/>
        </p:spPr>
        <p:txBody>
          <a:bodyPr wrap="square" lIns="0" tIns="0" rIns="0" bIns="0" rtlCol="0" anchor="ctr"/>
          <a:lstStyle/>
          <a:p>
            <a:pPr indent="0" marL="0">
              <a:buNone/>
            </a:pPr>
            <a:r>
              <a:rPr lang="en-US" sz="1200" i="1" dirty="0">
                <a:solidFill>
                  <a:srgbClr val="5E6B65"/>
                </a:solidFill>
                <a:latin typeface="Calibri" pitchFamily="34" charset="0"/>
                <a:ea typeface="Calibri" pitchFamily="34" charset="-122"/>
                <a:cs typeface="Calibri" pitchFamily="34" charset="-120"/>
              </a:rPr>
              <a:t>Enfoque cuantitativo · alcance descriptivo-correlacional con componente propositivo</a:t>
            </a:r>
            <a:endParaRPr lang="en-US" sz="1200" dirty="0"/>
          </a:p>
        </p:txBody>
      </p:sp>
      <p:sp>
        <p:nvSpPr>
          <p:cNvPr id="5" name="Shape 3"/>
          <p:cNvSpPr/>
          <p:nvPr/>
        </p:nvSpPr>
        <p:spPr>
          <a:xfrm>
            <a:off x="457200" y="1600200"/>
            <a:ext cx="1261872" cy="2834640"/>
          </a:xfrm>
          <a:prstGeom prst="roundRect">
            <a:avLst>
              <a:gd name="adj" fmla="val 7246"/>
            </a:avLst>
          </a:prstGeom>
          <a:solidFill>
            <a:srgbClr val="DCEADF"/>
          </a:solidFill>
          <a:ln w="12700">
            <a:solidFill>
              <a:srgbClr val="DCEADF"/>
            </a:solidFill>
            <a:prstDash val="solid"/>
          </a:ln>
        </p:spPr>
      </p:sp>
      <p:sp>
        <p:nvSpPr>
          <p:cNvPr id="6" name="Text 4"/>
          <p:cNvSpPr txBox="1"/>
          <p:nvPr/>
        </p:nvSpPr>
        <p:spPr>
          <a:xfrm>
            <a:off x="594360" y="1691640"/>
            <a:ext cx="1005840" cy="411480"/>
          </a:xfrm>
          <a:prstGeom prst="rect">
            <a:avLst/>
          </a:prstGeom>
          <a:noFill/>
          <a:ln/>
        </p:spPr>
        <p:txBody>
          <a:bodyPr wrap="square" lIns="0" tIns="0" rIns="0" bIns="0" rtlCol="0" anchor="ctr"/>
          <a:lstStyle/>
          <a:p>
            <a:pPr indent="0" marL="0">
              <a:buNone/>
            </a:pPr>
            <a:r>
              <a:rPr lang="en-US" sz="2200" b="1" dirty="0">
                <a:solidFill>
                  <a:srgbClr val="C4622D"/>
                </a:solidFill>
                <a:latin typeface="Cambria" pitchFamily="34" charset="0"/>
                <a:ea typeface="Cambria" pitchFamily="34" charset="-122"/>
                <a:cs typeface="Cambria" pitchFamily="34" charset="-120"/>
              </a:rPr>
              <a:t>F1</a:t>
            </a:r>
            <a:endParaRPr lang="en-US" sz="2200" dirty="0"/>
          </a:p>
        </p:txBody>
      </p:sp>
      <p:sp>
        <p:nvSpPr>
          <p:cNvPr id="7" name="Shape 5"/>
          <p:cNvSpPr/>
          <p:nvPr/>
        </p:nvSpPr>
        <p:spPr>
          <a:xfrm>
            <a:off x="594360" y="2194560"/>
            <a:ext cx="457200" cy="457200"/>
          </a:xfrm>
          <a:prstGeom prst="ellipse">
            <a:avLst/>
          </a:prstGeom>
          <a:solidFill>
            <a:srgbClr val="163A2B"/>
          </a:solidFill>
          <a:ln w="12700">
            <a:solidFill>
              <a:srgbClr val="163A2B"/>
            </a:solidFill>
            <a:prstDash val="solid"/>
          </a:ln>
        </p:spPr>
      </p:sp>
      <p:pic>
        <p:nvPicPr>
          <p:cNvPr id="8" name="Image 0" descr="preencoded.png">    </p:cNvPr>
          <p:cNvPicPr>
            <a:picLocks noChangeAspect="1"/>
          </p:cNvPicPr>
          <p:nvPr/>
        </p:nvPicPr>
        <p:blipFill>
          <a:blip r:embed="rId1"/>
          <a:stretch>
            <a:fillRect/>
          </a:stretch>
        </p:blipFill>
        <p:spPr>
          <a:xfrm>
            <a:off x="713232" y="2313432"/>
            <a:ext cx="219456" cy="219456"/>
          </a:xfrm>
          <a:prstGeom prst="rect">
            <a:avLst/>
          </a:prstGeom>
        </p:spPr>
      </p:pic>
      <p:sp>
        <p:nvSpPr>
          <p:cNvPr id="9" name="Text 6"/>
          <p:cNvSpPr txBox="1"/>
          <p:nvPr/>
        </p:nvSpPr>
        <p:spPr>
          <a:xfrm>
            <a:off x="566928" y="2743200"/>
            <a:ext cx="1060704" cy="685800"/>
          </a:xfrm>
          <a:prstGeom prst="rect">
            <a:avLst/>
          </a:prstGeom>
          <a:noFill/>
          <a:ln/>
        </p:spPr>
        <p:txBody>
          <a:bodyPr wrap="square" lIns="0" tIns="0" rIns="0" bIns="0" rtlCol="0" anchor="t"/>
          <a:lstStyle/>
          <a:p>
            <a:pPr indent="0" marL="0">
              <a:buNone/>
            </a:pPr>
            <a:r>
              <a:rPr lang="en-US" sz="1150" b="1" dirty="0">
                <a:solidFill>
                  <a:srgbClr val="163A2B"/>
                </a:solidFill>
                <a:latin typeface="Calibri" pitchFamily="34" charset="0"/>
                <a:ea typeface="Calibri" pitchFamily="34" charset="-122"/>
                <a:cs typeface="Calibri" pitchFamily="34" charset="-120"/>
              </a:rPr>
              <a:t>Revisión</a:t>
            </a:r>
            <a:endParaRPr lang="en-US" sz="1150" dirty="0"/>
          </a:p>
        </p:txBody>
      </p:sp>
      <p:sp>
        <p:nvSpPr>
          <p:cNvPr id="10" name="Text 7"/>
          <p:cNvSpPr txBox="1"/>
          <p:nvPr/>
        </p:nvSpPr>
        <p:spPr>
          <a:xfrm>
            <a:off x="566928" y="3108960"/>
            <a:ext cx="1060704" cy="1097280"/>
          </a:xfrm>
          <a:prstGeom prst="rect">
            <a:avLst/>
          </a:prstGeom>
          <a:noFill/>
          <a:ln/>
        </p:spPr>
        <p:txBody>
          <a:bodyPr wrap="square" lIns="0" tIns="0" rIns="0" bIns="0" rtlCol="0" anchor="t"/>
          <a:lstStyle/>
          <a:p>
            <a:pPr indent="0" marL="0">
              <a:buNone/>
            </a:pPr>
            <a:r>
              <a:rPr lang="en-US" sz="1050" dirty="0">
                <a:solidFill>
                  <a:srgbClr val="5E6B65"/>
                </a:solidFill>
                <a:latin typeface="Calibri" pitchFamily="34" charset="0"/>
                <a:ea typeface="Calibri" pitchFamily="34" charset="-122"/>
                <a:cs typeface="Calibri" pitchFamily="34" charset="-120"/>
              </a:rPr>
              <a:t>Planos, estudios, EOT, visita y dron</a:t>
            </a:r>
            <a:endParaRPr lang="en-US" sz="1050" dirty="0"/>
          </a:p>
        </p:txBody>
      </p:sp>
      <p:sp>
        <p:nvSpPr>
          <p:cNvPr id="11" name="Shape 8"/>
          <p:cNvSpPr/>
          <p:nvPr/>
        </p:nvSpPr>
        <p:spPr>
          <a:xfrm>
            <a:off x="1751076" y="2926080"/>
            <a:ext cx="91440" cy="182880"/>
          </a:xfrm>
          <a:prstGeom prst="chevron">
            <a:avLst/>
          </a:prstGeom>
          <a:solidFill>
            <a:srgbClr val="2F6B4F"/>
          </a:solidFill>
          <a:ln w="12700">
            <a:solidFill>
              <a:srgbClr val="2F6B4F"/>
            </a:solidFill>
            <a:prstDash val="solid"/>
          </a:ln>
        </p:spPr>
      </p:sp>
      <p:sp>
        <p:nvSpPr>
          <p:cNvPr id="12" name="Shape 9"/>
          <p:cNvSpPr/>
          <p:nvPr/>
        </p:nvSpPr>
        <p:spPr>
          <a:xfrm>
            <a:off x="1856232" y="1600200"/>
            <a:ext cx="1261872" cy="2834640"/>
          </a:xfrm>
          <a:prstGeom prst="roundRect">
            <a:avLst>
              <a:gd name="adj" fmla="val 7246"/>
            </a:avLst>
          </a:prstGeom>
          <a:solidFill>
            <a:srgbClr val="F3F7F4"/>
          </a:solidFill>
          <a:ln w="12700">
            <a:solidFill>
              <a:srgbClr val="F3F7F4"/>
            </a:solidFill>
            <a:prstDash val="solid"/>
          </a:ln>
        </p:spPr>
      </p:sp>
      <p:sp>
        <p:nvSpPr>
          <p:cNvPr id="13" name="Text 10"/>
          <p:cNvSpPr txBox="1"/>
          <p:nvPr/>
        </p:nvSpPr>
        <p:spPr>
          <a:xfrm>
            <a:off x="1993392" y="1691640"/>
            <a:ext cx="1005840" cy="411480"/>
          </a:xfrm>
          <a:prstGeom prst="rect">
            <a:avLst/>
          </a:prstGeom>
          <a:noFill/>
          <a:ln/>
        </p:spPr>
        <p:txBody>
          <a:bodyPr wrap="square" lIns="0" tIns="0" rIns="0" bIns="0" rtlCol="0" anchor="ctr"/>
          <a:lstStyle/>
          <a:p>
            <a:pPr indent="0" marL="0">
              <a:buNone/>
            </a:pPr>
            <a:r>
              <a:rPr lang="en-US" sz="2200" b="1" dirty="0">
                <a:solidFill>
                  <a:srgbClr val="C4622D"/>
                </a:solidFill>
                <a:latin typeface="Cambria" pitchFamily="34" charset="0"/>
                <a:ea typeface="Cambria" pitchFamily="34" charset="-122"/>
                <a:cs typeface="Cambria" pitchFamily="34" charset="-120"/>
              </a:rPr>
              <a:t>F2</a:t>
            </a:r>
            <a:endParaRPr lang="en-US" sz="2200" dirty="0"/>
          </a:p>
        </p:txBody>
      </p:sp>
      <p:sp>
        <p:nvSpPr>
          <p:cNvPr id="14" name="Shape 11"/>
          <p:cNvSpPr/>
          <p:nvPr/>
        </p:nvSpPr>
        <p:spPr>
          <a:xfrm>
            <a:off x="1993392" y="2194560"/>
            <a:ext cx="457200" cy="457200"/>
          </a:xfrm>
          <a:prstGeom prst="ellipse">
            <a:avLst/>
          </a:prstGeom>
          <a:solidFill>
            <a:srgbClr val="163A2B"/>
          </a:solidFill>
          <a:ln w="12700">
            <a:solidFill>
              <a:srgbClr val="163A2B"/>
            </a:solidFill>
            <a:prstDash val="solid"/>
          </a:ln>
        </p:spPr>
      </p:sp>
      <p:pic>
        <p:nvPicPr>
          <p:cNvPr id="15" name="Image 1" descr="preencoded.png">    </p:cNvPr>
          <p:cNvPicPr>
            <a:picLocks noChangeAspect="1"/>
          </p:cNvPicPr>
          <p:nvPr/>
        </p:nvPicPr>
        <p:blipFill>
          <a:blip r:embed="rId2"/>
          <a:stretch>
            <a:fillRect/>
          </a:stretch>
        </p:blipFill>
        <p:spPr>
          <a:xfrm>
            <a:off x="2112264" y="2313432"/>
            <a:ext cx="219456" cy="219456"/>
          </a:xfrm>
          <a:prstGeom prst="rect">
            <a:avLst/>
          </a:prstGeom>
        </p:spPr>
      </p:pic>
      <p:sp>
        <p:nvSpPr>
          <p:cNvPr id="16" name="Text 12"/>
          <p:cNvSpPr txBox="1"/>
          <p:nvPr/>
        </p:nvSpPr>
        <p:spPr>
          <a:xfrm>
            <a:off x="1965960" y="2743200"/>
            <a:ext cx="1060704" cy="685800"/>
          </a:xfrm>
          <a:prstGeom prst="rect">
            <a:avLst/>
          </a:prstGeom>
          <a:noFill/>
          <a:ln/>
        </p:spPr>
        <p:txBody>
          <a:bodyPr wrap="square" lIns="0" tIns="0" rIns="0" bIns="0" rtlCol="0" anchor="t"/>
          <a:lstStyle/>
          <a:p>
            <a:pPr indent="0" marL="0">
              <a:buNone/>
            </a:pPr>
            <a:r>
              <a:rPr lang="en-US" sz="1150" b="1" dirty="0">
                <a:solidFill>
                  <a:srgbClr val="163A2B"/>
                </a:solidFill>
                <a:latin typeface="Calibri" pitchFamily="34" charset="0"/>
                <a:ea typeface="Calibri" pitchFamily="34" charset="-122"/>
                <a:cs typeface="Calibri" pitchFamily="34" charset="-120"/>
              </a:rPr>
              <a:t>Geotecnia</a:t>
            </a:r>
            <a:endParaRPr lang="en-US" sz="1150" dirty="0"/>
          </a:p>
        </p:txBody>
      </p:sp>
      <p:sp>
        <p:nvSpPr>
          <p:cNvPr id="17" name="Text 13"/>
          <p:cNvSpPr txBox="1"/>
          <p:nvPr/>
        </p:nvSpPr>
        <p:spPr>
          <a:xfrm>
            <a:off x="1965960" y="3108960"/>
            <a:ext cx="1060704" cy="1097280"/>
          </a:xfrm>
          <a:prstGeom prst="rect">
            <a:avLst/>
          </a:prstGeom>
          <a:noFill/>
          <a:ln/>
        </p:spPr>
        <p:txBody>
          <a:bodyPr wrap="square" lIns="0" tIns="0" rIns="0" bIns="0" rtlCol="0" anchor="t"/>
          <a:lstStyle/>
          <a:p>
            <a:pPr indent="0" marL="0">
              <a:buNone/>
            </a:pPr>
            <a:r>
              <a:rPr lang="en-US" sz="1050" dirty="0">
                <a:solidFill>
                  <a:srgbClr val="5E6B65"/>
                </a:solidFill>
                <a:latin typeface="Calibri" pitchFamily="34" charset="0"/>
                <a:ea typeface="Calibri" pitchFamily="34" charset="-122"/>
                <a:cs typeface="Calibri" pitchFamily="34" charset="-120"/>
              </a:rPr>
              <a:t>3 sondeos + SPT, corte directo, Proctor</a:t>
            </a:r>
            <a:endParaRPr lang="en-US" sz="1050" dirty="0"/>
          </a:p>
        </p:txBody>
      </p:sp>
      <p:sp>
        <p:nvSpPr>
          <p:cNvPr id="18" name="Shape 14"/>
          <p:cNvSpPr/>
          <p:nvPr/>
        </p:nvSpPr>
        <p:spPr>
          <a:xfrm>
            <a:off x="3150108" y="2926080"/>
            <a:ext cx="91440" cy="182880"/>
          </a:xfrm>
          <a:prstGeom prst="chevron">
            <a:avLst/>
          </a:prstGeom>
          <a:solidFill>
            <a:srgbClr val="2F6B4F"/>
          </a:solidFill>
          <a:ln w="12700">
            <a:solidFill>
              <a:srgbClr val="2F6B4F"/>
            </a:solidFill>
            <a:prstDash val="solid"/>
          </a:ln>
        </p:spPr>
      </p:sp>
      <p:sp>
        <p:nvSpPr>
          <p:cNvPr id="19" name="Shape 15"/>
          <p:cNvSpPr/>
          <p:nvPr/>
        </p:nvSpPr>
        <p:spPr>
          <a:xfrm>
            <a:off x="3255264" y="1600200"/>
            <a:ext cx="1261872" cy="2834640"/>
          </a:xfrm>
          <a:prstGeom prst="roundRect">
            <a:avLst>
              <a:gd name="adj" fmla="val 7246"/>
            </a:avLst>
          </a:prstGeom>
          <a:solidFill>
            <a:srgbClr val="DCEADF"/>
          </a:solidFill>
          <a:ln w="12700">
            <a:solidFill>
              <a:srgbClr val="DCEADF"/>
            </a:solidFill>
            <a:prstDash val="solid"/>
          </a:ln>
        </p:spPr>
      </p:sp>
      <p:sp>
        <p:nvSpPr>
          <p:cNvPr id="20" name="Text 16"/>
          <p:cNvSpPr txBox="1"/>
          <p:nvPr/>
        </p:nvSpPr>
        <p:spPr>
          <a:xfrm>
            <a:off x="3392424" y="1691640"/>
            <a:ext cx="1005840" cy="411480"/>
          </a:xfrm>
          <a:prstGeom prst="rect">
            <a:avLst/>
          </a:prstGeom>
          <a:noFill/>
          <a:ln/>
        </p:spPr>
        <p:txBody>
          <a:bodyPr wrap="square" lIns="0" tIns="0" rIns="0" bIns="0" rtlCol="0" anchor="ctr"/>
          <a:lstStyle/>
          <a:p>
            <a:pPr indent="0" marL="0">
              <a:buNone/>
            </a:pPr>
            <a:r>
              <a:rPr lang="en-US" sz="2200" b="1" dirty="0">
                <a:solidFill>
                  <a:srgbClr val="C4622D"/>
                </a:solidFill>
                <a:latin typeface="Cambria" pitchFamily="34" charset="0"/>
                <a:ea typeface="Cambria" pitchFamily="34" charset="-122"/>
                <a:cs typeface="Cambria" pitchFamily="34" charset="-120"/>
              </a:rPr>
              <a:t>F3</a:t>
            </a:r>
            <a:endParaRPr lang="en-US" sz="2200" dirty="0"/>
          </a:p>
        </p:txBody>
      </p:sp>
      <p:sp>
        <p:nvSpPr>
          <p:cNvPr id="21" name="Shape 17"/>
          <p:cNvSpPr/>
          <p:nvPr/>
        </p:nvSpPr>
        <p:spPr>
          <a:xfrm>
            <a:off x="3392424" y="2194560"/>
            <a:ext cx="457200" cy="457200"/>
          </a:xfrm>
          <a:prstGeom prst="ellipse">
            <a:avLst/>
          </a:prstGeom>
          <a:solidFill>
            <a:srgbClr val="163A2B"/>
          </a:solidFill>
          <a:ln w="12700">
            <a:solidFill>
              <a:srgbClr val="163A2B"/>
            </a:solidFill>
            <a:prstDash val="solid"/>
          </a:ln>
        </p:spPr>
      </p:sp>
      <p:pic>
        <p:nvPicPr>
          <p:cNvPr id="22" name="Image 2" descr="preencoded.png">    </p:cNvPr>
          <p:cNvPicPr>
            <a:picLocks noChangeAspect="1"/>
          </p:cNvPicPr>
          <p:nvPr/>
        </p:nvPicPr>
        <p:blipFill>
          <a:blip r:embed="rId3"/>
          <a:stretch>
            <a:fillRect/>
          </a:stretch>
        </p:blipFill>
        <p:spPr>
          <a:xfrm>
            <a:off x="3511296" y="2313432"/>
            <a:ext cx="219456" cy="219456"/>
          </a:xfrm>
          <a:prstGeom prst="rect">
            <a:avLst/>
          </a:prstGeom>
        </p:spPr>
      </p:pic>
      <p:sp>
        <p:nvSpPr>
          <p:cNvPr id="23" name="Text 18"/>
          <p:cNvSpPr txBox="1"/>
          <p:nvPr/>
        </p:nvSpPr>
        <p:spPr>
          <a:xfrm>
            <a:off x="3364992" y="2743200"/>
            <a:ext cx="1060704" cy="685800"/>
          </a:xfrm>
          <a:prstGeom prst="rect">
            <a:avLst/>
          </a:prstGeom>
          <a:noFill/>
          <a:ln/>
        </p:spPr>
        <p:txBody>
          <a:bodyPr wrap="square" lIns="0" tIns="0" rIns="0" bIns="0" rtlCol="0" anchor="t"/>
          <a:lstStyle/>
          <a:p>
            <a:pPr indent="0" marL="0">
              <a:buNone/>
            </a:pPr>
            <a:r>
              <a:rPr lang="en-US" sz="1150" b="1" dirty="0">
                <a:solidFill>
                  <a:srgbClr val="163A2B"/>
                </a:solidFill>
                <a:latin typeface="Calibri" pitchFamily="34" charset="0"/>
                <a:ea typeface="Calibri" pitchFamily="34" charset="-122"/>
                <a:cs typeface="Calibri" pitchFamily="34" charset="-120"/>
              </a:rPr>
              <a:t>Hidrología</a:t>
            </a:r>
            <a:endParaRPr lang="en-US" sz="1150" dirty="0"/>
          </a:p>
        </p:txBody>
      </p:sp>
      <p:sp>
        <p:nvSpPr>
          <p:cNvPr id="24" name="Text 19"/>
          <p:cNvSpPr txBox="1"/>
          <p:nvPr/>
        </p:nvSpPr>
        <p:spPr>
          <a:xfrm>
            <a:off x="3364992" y="3108960"/>
            <a:ext cx="1060704" cy="1097280"/>
          </a:xfrm>
          <a:prstGeom prst="rect">
            <a:avLst/>
          </a:prstGeom>
          <a:noFill/>
          <a:ln/>
        </p:spPr>
        <p:txBody>
          <a:bodyPr wrap="square" lIns="0" tIns="0" rIns="0" bIns="0" rtlCol="0" anchor="t"/>
          <a:lstStyle/>
          <a:p>
            <a:pPr indent="0" marL="0">
              <a:buNone/>
            </a:pPr>
            <a:r>
              <a:rPr lang="en-US" sz="1050" dirty="0">
                <a:solidFill>
                  <a:srgbClr val="5E6B65"/>
                </a:solidFill>
                <a:latin typeface="Calibri" pitchFamily="34" charset="0"/>
                <a:ea typeface="Calibri" pitchFamily="34" charset="-122"/>
                <a:cs typeface="Calibri" pitchFamily="34" charset="-120"/>
              </a:rPr>
              <a:t>Microcuencas QGIS, IDF, método racional</a:t>
            </a:r>
            <a:endParaRPr lang="en-US" sz="1050" dirty="0"/>
          </a:p>
        </p:txBody>
      </p:sp>
      <p:sp>
        <p:nvSpPr>
          <p:cNvPr id="25" name="Shape 20"/>
          <p:cNvSpPr/>
          <p:nvPr/>
        </p:nvSpPr>
        <p:spPr>
          <a:xfrm>
            <a:off x="4549140" y="2926080"/>
            <a:ext cx="91440" cy="182880"/>
          </a:xfrm>
          <a:prstGeom prst="chevron">
            <a:avLst/>
          </a:prstGeom>
          <a:solidFill>
            <a:srgbClr val="2F6B4F"/>
          </a:solidFill>
          <a:ln w="12700">
            <a:solidFill>
              <a:srgbClr val="2F6B4F"/>
            </a:solidFill>
            <a:prstDash val="solid"/>
          </a:ln>
        </p:spPr>
      </p:sp>
      <p:sp>
        <p:nvSpPr>
          <p:cNvPr id="26" name="Shape 21"/>
          <p:cNvSpPr/>
          <p:nvPr/>
        </p:nvSpPr>
        <p:spPr>
          <a:xfrm>
            <a:off x="4654296" y="1600200"/>
            <a:ext cx="1261872" cy="2834640"/>
          </a:xfrm>
          <a:prstGeom prst="roundRect">
            <a:avLst>
              <a:gd name="adj" fmla="val 7246"/>
            </a:avLst>
          </a:prstGeom>
          <a:solidFill>
            <a:srgbClr val="F3F7F4"/>
          </a:solidFill>
          <a:ln w="12700">
            <a:solidFill>
              <a:srgbClr val="F3F7F4"/>
            </a:solidFill>
            <a:prstDash val="solid"/>
          </a:ln>
        </p:spPr>
      </p:sp>
      <p:sp>
        <p:nvSpPr>
          <p:cNvPr id="27" name="Text 22"/>
          <p:cNvSpPr txBox="1"/>
          <p:nvPr/>
        </p:nvSpPr>
        <p:spPr>
          <a:xfrm>
            <a:off x="4791456" y="1691640"/>
            <a:ext cx="1005840" cy="411480"/>
          </a:xfrm>
          <a:prstGeom prst="rect">
            <a:avLst/>
          </a:prstGeom>
          <a:noFill/>
          <a:ln/>
        </p:spPr>
        <p:txBody>
          <a:bodyPr wrap="square" lIns="0" tIns="0" rIns="0" bIns="0" rtlCol="0" anchor="ctr"/>
          <a:lstStyle/>
          <a:p>
            <a:pPr indent="0" marL="0">
              <a:buNone/>
            </a:pPr>
            <a:r>
              <a:rPr lang="en-US" sz="2200" b="1" dirty="0">
                <a:solidFill>
                  <a:srgbClr val="C4622D"/>
                </a:solidFill>
                <a:latin typeface="Cambria" pitchFamily="34" charset="0"/>
                <a:ea typeface="Cambria" pitchFamily="34" charset="-122"/>
                <a:cs typeface="Cambria" pitchFamily="34" charset="-120"/>
              </a:rPr>
              <a:t>F4</a:t>
            </a:r>
            <a:endParaRPr lang="en-US" sz="2200" dirty="0"/>
          </a:p>
        </p:txBody>
      </p:sp>
      <p:sp>
        <p:nvSpPr>
          <p:cNvPr id="28" name="Shape 23"/>
          <p:cNvSpPr/>
          <p:nvPr/>
        </p:nvSpPr>
        <p:spPr>
          <a:xfrm>
            <a:off x="4791456" y="2194560"/>
            <a:ext cx="457200" cy="457200"/>
          </a:xfrm>
          <a:prstGeom prst="ellipse">
            <a:avLst/>
          </a:prstGeom>
          <a:solidFill>
            <a:srgbClr val="163A2B"/>
          </a:solidFill>
          <a:ln w="12700">
            <a:solidFill>
              <a:srgbClr val="163A2B"/>
            </a:solidFill>
            <a:prstDash val="solid"/>
          </a:ln>
        </p:spPr>
      </p:sp>
      <p:pic>
        <p:nvPicPr>
          <p:cNvPr id="29" name="Image 3" descr="preencoded.png">    </p:cNvPr>
          <p:cNvPicPr>
            <a:picLocks noChangeAspect="1"/>
          </p:cNvPicPr>
          <p:nvPr/>
        </p:nvPicPr>
        <p:blipFill>
          <a:blip r:embed="rId4"/>
          <a:stretch>
            <a:fillRect/>
          </a:stretch>
        </p:blipFill>
        <p:spPr>
          <a:xfrm>
            <a:off x="4910328" y="2313432"/>
            <a:ext cx="219456" cy="219456"/>
          </a:xfrm>
          <a:prstGeom prst="rect">
            <a:avLst/>
          </a:prstGeom>
        </p:spPr>
      </p:pic>
      <p:sp>
        <p:nvSpPr>
          <p:cNvPr id="30" name="Text 24"/>
          <p:cNvSpPr txBox="1"/>
          <p:nvPr/>
        </p:nvSpPr>
        <p:spPr>
          <a:xfrm>
            <a:off x="4764024" y="2743200"/>
            <a:ext cx="1060704" cy="685800"/>
          </a:xfrm>
          <a:prstGeom prst="rect">
            <a:avLst/>
          </a:prstGeom>
          <a:noFill/>
          <a:ln/>
        </p:spPr>
        <p:txBody>
          <a:bodyPr wrap="square" lIns="0" tIns="0" rIns="0" bIns="0" rtlCol="0" anchor="t"/>
          <a:lstStyle/>
          <a:p>
            <a:pPr indent="0" marL="0">
              <a:buNone/>
            </a:pPr>
            <a:r>
              <a:rPr lang="en-US" sz="1150" b="1" dirty="0">
                <a:solidFill>
                  <a:srgbClr val="163A2B"/>
                </a:solidFill>
                <a:latin typeface="Calibri" pitchFamily="34" charset="0"/>
                <a:ea typeface="Calibri" pitchFamily="34" charset="-122"/>
                <a:cs typeface="Calibri" pitchFamily="34" charset="-120"/>
              </a:rPr>
              <a:t>Estabilidad</a:t>
            </a:r>
            <a:endParaRPr lang="en-US" sz="1150" dirty="0"/>
          </a:p>
        </p:txBody>
      </p:sp>
      <p:sp>
        <p:nvSpPr>
          <p:cNvPr id="31" name="Text 25"/>
          <p:cNvSpPr txBox="1"/>
          <p:nvPr/>
        </p:nvSpPr>
        <p:spPr>
          <a:xfrm>
            <a:off x="4764024" y="3108960"/>
            <a:ext cx="1060704" cy="1097280"/>
          </a:xfrm>
          <a:prstGeom prst="rect">
            <a:avLst/>
          </a:prstGeom>
          <a:noFill/>
          <a:ln/>
        </p:spPr>
        <p:txBody>
          <a:bodyPr wrap="square" lIns="0" tIns="0" rIns="0" bIns="0" rtlCol="0" anchor="t"/>
          <a:lstStyle/>
          <a:p>
            <a:pPr indent="0" marL="0">
              <a:buNone/>
            </a:pPr>
            <a:r>
              <a:rPr lang="en-US" sz="1050" dirty="0">
                <a:solidFill>
                  <a:srgbClr val="5E6B65"/>
                </a:solidFill>
                <a:latin typeface="Calibri" pitchFamily="34" charset="0"/>
                <a:ea typeface="Calibri" pitchFamily="34" charset="-122"/>
                <a:cs typeface="Calibri" pitchFamily="34" charset="-120"/>
              </a:rPr>
              <a:t>SLOPE/W · Bishop y M-P · 3 escenarios</a:t>
            </a:r>
            <a:endParaRPr lang="en-US" sz="1050" dirty="0"/>
          </a:p>
        </p:txBody>
      </p:sp>
      <p:sp>
        <p:nvSpPr>
          <p:cNvPr id="32" name="Shape 26"/>
          <p:cNvSpPr/>
          <p:nvPr/>
        </p:nvSpPr>
        <p:spPr>
          <a:xfrm>
            <a:off x="5948172" y="2926080"/>
            <a:ext cx="91440" cy="182880"/>
          </a:xfrm>
          <a:prstGeom prst="chevron">
            <a:avLst/>
          </a:prstGeom>
          <a:solidFill>
            <a:srgbClr val="2F6B4F"/>
          </a:solidFill>
          <a:ln w="12700">
            <a:solidFill>
              <a:srgbClr val="2F6B4F"/>
            </a:solidFill>
            <a:prstDash val="solid"/>
          </a:ln>
        </p:spPr>
      </p:sp>
      <p:sp>
        <p:nvSpPr>
          <p:cNvPr id="33" name="Shape 27"/>
          <p:cNvSpPr/>
          <p:nvPr/>
        </p:nvSpPr>
        <p:spPr>
          <a:xfrm>
            <a:off x="6053328" y="1600200"/>
            <a:ext cx="1261872" cy="2834640"/>
          </a:xfrm>
          <a:prstGeom prst="roundRect">
            <a:avLst>
              <a:gd name="adj" fmla="val 7246"/>
            </a:avLst>
          </a:prstGeom>
          <a:solidFill>
            <a:srgbClr val="DCEADF"/>
          </a:solidFill>
          <a:ln w="12700">
            <a:solidFill>
              <a:srgbClr val="DCEADF"/>
            </a:solidFill>
            <a:prstDash val="solid"/>
          </a:ln>
        </p:spPr>
      </p:sp>
      <p:sp>
        <p:nvSpPr>
          <p:cNvPr id="34" name="Text 28"/>
          <p:cNvSpPr txBox="1"/>
          <p:nvPr/>
        </p:nvSpPr>
        <p:spPr>
          <a:xfrm>
            <a:off x="6190488" y="1691640"/>
            <a:ext cx="1005840" cy="411480"/>
          </a:xfrm>
          <a:prstGeom prst="rect">
            <a:avLst/>
          </a:prstGeom>
          <a:noFill/>
          <a:ln/>
        </p:spPr>
        <p:txBody>
          <a:bodyPr wrap="square" lIns="0" tIns="0" rIns="0" bIns="0" rtlCol="0" anchor="ctr"/>
          <a:lstStyle/>
          <a:p>
            <a:pPr indent="0" marL="0">
              <a:buNone/>
            </a:pPr>
            <a:r>
              <a:rPr lang="en-US" sz="2200" b="1" dirty="0">
                <a:solidFill>
                  <a:srgbClr val="C4622D"/>
                </a:solidFill>
                <a:latin typeface="Cambria" pitchFamily="34" charset="0"/>
                <a:ea typeface="Cambria" pitchFamily="34" charset="-122"/>
                <a:cs typeface="Cambria" pitchFamily="34" charset="-120"/>
              </a:rPr>
              <a:t>F5</a:t>
            </a:r>
            <a:endParaRPr lang="en-US" sz="2200" dirty="0"/>
          </a:p>
        </p:txBody>
      </p:sp>
      <p:sp>
        <p:nvSpPr>
          <p:cNvPr id="35" name="Shape 29"/>
          <p:cNvSpPr/>
          <p:nvPr/>
        </p:nvSpPr>
        <p:spPr>
          <a:xfrm>
            <a:off x="6190488" y="2194560"/>
            <a:ext cx="457200" cy="457200"/>
          </a:xfrm>
          <a:prstGeom prst="ellipse">
            <a:avLst/>
          </a:prstGeom>
          <a:solidFill>
            <a:srgbClr val="163A2B"/>
          </a:solidFill>
          <a:ln w="12700">
            <a:solidFill>
              <a:srgbClr val="163A2B"/>
            </a:solidFill>
            <a:prstDash val="solid"/>
          </a:ln>
        </p:spPr>
      </p:sp>
      <p:pic>
        <p:nvPicPr>
          <p:cNvPr id="36" name="Image 4" descr="preencoded.png">    </p:cNvPr>
          <p:cNvPicPr>
            <a:picLocks noChangeAspect="1"/>
          </p:cNvPicPr>
          <p:nvPr/>
        </p:nvPicPr>
        <p:blipFill>
          <a:blip r:embed="rId5"/>
          <a:stretch>
            <a:fillRect/>
          </a:stretch>
        </p:blipFill>
        <p:spPr>
          <a:xfrm>
            <a:off x="6309360" y="2313432"/>
            <a:ext cx="219456" cy="219456"/>
          </a:xfrm>
          <a:prstGeom prst="rect">
            <a:avLst/>
          </a:prstGeom>
        </p:spPr>
      </p:pic>
      <p:sp>
        <p:nvSpPr>
          <p:cNvPr id="37" name="Text 30"/>
          <p:cNvSpPr txBox="1"/>
          <p:nvPr/>
        </p:nvSpPr>
        <p:spPr>
          <a:xfrm>
            <a:off x="6163056" y="2743200"/>
            <a:ext cx="1060704" cy="685800"/>
          </a:xfrm>
          <a:prstGeom prst="rect">
            <a:avLst/>
          </a:prstGeom>
          <a:noFill/>
          <a:ln/>
        </p:spPr>
        <p:txBody>
          <a:bodyPr wrap="square" lIns="0" tIns="0" rIns="0" bIns="0" rtlCol="0" anchor="t"/>
          <a:lstStyle/>
          <a:p>
            <a:pPr indent="0" marL="0">
              <a:buNone/>
            </a:pPr>
            <a:r>
              <a:rPr lang="en-US" sz="1150" b="1" dirty="0">
                <a:solidFill>
                  <a:srgbClr val="163A2B"/>
                </a:solidFill>
                <a:latin typeface="Calibri" pitchFamily="34" charset="0"/>
                <a:ea typeface="Calibri" pitchFamily="34" charset="-122"/>
                <a:cs typeface="Calibri" pitchFamily="34" charset="-120"/>
              </a:rPr>
              <a:t>Alternativas</a:t>
            </a:r>
            <a:endParaRPr lang="en-US" sz="1150" dirty="0"/>
          </a:p>
        </p:txBody>
      </p:sp>
      <p:sp>
        <p:nvSpPr>
          <p:cNvPr id="38" name="Text 31"/>
          <p:cNvSpPr txBox="1"/>
          <p:nvPr/>
        </p:nvSpPr>
        <p:spPr>
          <a:xfrm>
            <a:off x="6163056" y="3108960"/>
            <a:ext cx="1060704" cy="1097280"/>
          </a:xfrm>
          <a:prstGeom prst="rect">
            <a:avLst/>
          </a:prstGeom>
          <a:noFill/>
          <a:ln/>
        </p:spPr>
        <p:txBody>
          <a:bodyPr wrap="square" lIns="0" tIns="0" rIns="0" bIns="0" rtlCol="0" anchor="t"/>
          <a:lstStyle/>
          <a:p>
            <a:pPr indent="0" marL="0">
              <a:buNone/>
            </a:pPr>
            <a:r>
              <a:rPr lang="en-US" sz="1050" dirty="0">
                <a:solidFill>
                  <a:srgbClr val="5E6B65"/>
                </a:solidFill>
                <a:latin typeface="Calibri" pitchFamily="34" charset="0"/>
                <a:ea typeface="Calibri" pitchFamily="34" charset="-122"/>
                <a:cs typeface="Calibri" pitchFamily="34" charset="-120"/>
              </a:rPr>
              <a:t>Prediseño y matriz multicriterio</a:t>
            </a:r>
            <a:endParaRPr lang="en-US" sz="1050" dirty="0"/>
          </a:p>
        </p:txBody>
      </p:sp>
      <p:sp>
        <p:nvSpPr>
          <p:cNvPr id="39" name="Shape 32"/>
          <p:cNvSpPr/>
          <p:nvPr/>
        </p:nvSpPr>
        <p:spPr>
          <a:xfrm>
            <a:off x="7347204" y="2926080"/>
            <a:ext cx="91440" cy="182880"/>
          </a:xfrm>
          <a:prstGeom prst="chevron">
            <a:avLst/>
          </a:prstGeom>
          <a:solidFill>
            <a:srgbClr val="2F6B4F"/>
          </a:solidFill>
          <a:ln w="12700">
            <a:solidFill>
              <a:srgbClr val="2F6B4F"/>
            </a:solidFill>
            <a:prstDash val="solid"/>
          </a:ln>
        </p:spPr>
      </p:sp>
      <p:sp>
        <p:nvSpPr>
          <p:cNvPr id="40" name="Shape 33"/>
          <p:cNvSpPr/>
          <p:nvPr/>
        </p:nvSpPr>
        <p:spPr>
          <a:xfrm>
            <a:off x="7452360" y="1600200"/>
            <a:ext cx="1261872" cy="2834640"/>
          </a:xfrm>
          <a:prstGeom prst="roundRect">
            <a:avLst>
              <a:gd name="adj" fmla="val 7246"/>
            </a:avLst>
          </a:prstGeom>
          <a:solidFill>
            <a:srgbClr val="F3F7F4"/>
          </a:solidFill>
          <a:ln w="12700">
            <a:solidFill>
              <a:srgbClr val="F3F7F4"/>
            </a:solidFill>
            <a:prstDash val="solid"/>
          </a:ln>
        </p:spPr>
      </p:sp>
      <p:sp>
        <p:nvSpPr>
          <p:cNvPr id="41" name="Text 34"/>
          <p:cNvSpPr txBox="1"/>
          <p:nvPr/>
        </p:nvSpPr>
        <p:spPr>
          <a:xfrm>
            <a:off x="7589520" y="1691640"/>
            <a:ext cx="1005840" cy="411480"/>
          </a:xfrm>
          <a:prstGeom prst="rect">
            <a:avLst/>
          </a:prstGeom>
          <a:noFill/>
          <a:ln/>
        </p:spPr>
        <p:txBody>
          <a:bodyPr wrap="square" lIns="0" tIns="0" rIns="0" bIns="0" rtlCol="0" anchor="ctr"/>
          <a:lstStyle/>
          <a:p>
            <a:pPr indent="0" marL="0">
              <a:buNone/>
            </a:pPr>
            <a:r>
              <a:rPr lang="en-US" sz="2200" b="1" dirty="0">
                <a:solidFill>
                  <a:srgbClr val="C4622D"/>
                </a:solidFill>
                <a:latin typeface="Cambria" pitchFamily="34" charset="0"/>
                <a:ea typeface="Cambria" pitchFamily="34" charset="-122"/>
                <a:cs typeface="Cambria" pitchFamily="34" charset="-120"/>
              </a:rPr>
              <a:t>F6</a:t>
            </a:r>
            <a:endParaRPr lang="en-US" sz="2200" dirty="0"/>
          </a:p>
        </p:txBody>
      </p:sp>
      <p:sp>
        <p:nvSpPr>
          <p:cNvPr id="42" name="Shape 35"/>
          <p:cNvSpPr/>
          <p:nvPr/>
        </p:nvSpPr>
        <p:spPr>
          <a:xfrm>
            <a:off x="7589520" y="2194560"/>
            <a:ext cx="457200" cy="457200"/>
          </a:xfrm>
          <a:prstGeom prst="ellipse">
            <a:avLst/>
          </a:prstGeom>
          <a:solidFill>
            <a:srgbClr val="163A2B"/>
          </a:solidFill>
          <a:ln w="12700">
            <a:solidFill>
              <a:srgbClr val="163A2B"/>
            </a:solidFill>
            <a:prstDash val="solid"/>
          </a:ln>
        </p:spPr>
      </p:sp>
      <p:pic>
        <p:nvPicPr>
          <p:cNvPr id="43" name="Image 5" descr="preencoded.png">    </p:cNvPr>
          <p:cNvPicPr>
            <a:picLocks noChangeAspect="1"/>
          </p:cNvPicPr>
          <p:nvPr/>
        </p:nvPicPr>
        <p:blipFill>
          <a:blip r:embed="rId6"/>
          <a:stretch>
            <a:fillRect/>
          </a:stretch>
        </p:blipFill>
        <p:spPr>
          <a:xfrm>
            <a:off x="7708392" y="2313432"/>
            <a:ext cx="219456" cy="219456"/>
          </a:xfrm>
          <a:prstGeom prst="rect">
            <a:avLst/>
          </a:prstGeom>
        </p:spPr>
      </p:pic>
      <p:sp>
        <p:nvSpPr>
          <p:cNvPr id="44" name="Text 36"/>
          <p:cNvSpPr txBox="1"/>
          <p:nvPr/>
        </p:nvSpPr>
        <p:spPr>
          <a:xfrm>
            <a:off x="7562088" y="2743200"/>
            <a:ext cx="1060704" cy="685800"/>
          </a:xfrm>
          <a:prstGeom prst="rect">
            <a:avLst/>
          </a:prstGeom>
          <a:noFill/>
          <a:ln/>
        </p:spPr>
        <p:txBody>
          <a:bodyPr wrap="square" lIns="0" tIns="0" rIns="0" bIns="0" rtlCol="0" anchor="t"/>
          <a:lstStyle/>
          <a:p>
            <a:pPr indent="0" marL="0">
              <a:buNone/>
            </a:pPr>
            <a:r>
              <a:rPr lang="en-US" sz="1150" b="1" dirty="0">
                <a:solidFill>
                  <a:srgbClr val="163A2B"/>
                </a:solidFill>
                <a:latin typeface="Calibri" pitchFamily="34" charset="0"/>
                <a:ea typeface="Calibri" pitchFamily="34" charset="-122"/>
                <a:cs typeface="Calibri" pitchFamily="34" charset="-120"/>
              </a:rPr>
              <a:t>Resultados</a:t>
            </a:r>
            <a:endParaRPr lang="en-US" sz="1150" dirty="0"/>
          </a:p>
        </p:txBody>
      </p:sp>
      <p:sp>
        <p:nvSpPr>
          <p:cNvPr id="45" name="Text 37"/>
          <p:cNvSpPr txBox="1"/>
          <p:nvPr/>
        </p:nvSpPr>
        <p:spPr>
          <a:xfrm>
            <a:off x="7562088" y="3108960"/>
            <a:ext cx="1060704" cy="1097280"/>
          </a:xfrm>
          <a:prstGeom prst="rect">
            <a:avLst/>
          </a:prstGeom>
          <a:noFill/>
          <a:ln/>
        </p:spPr>
        <p:txBody>
          <a:bodyPr wrap="square" lIns="0" tIns="0" rIns="0" bIns="0" rtlCol="0" anchor="t"/>
          <a:lstStyle/>
          <a:p>
            <a:pPr indent="0" marL="0">
              <a:buNone/>
            </a:pPr>
            <a:r>
              <a:rPr lang="en-US" sz="1050" dirty="0">
                <a:solidFill>
                  <a:srgbClr val="5E6B65"/>
                </a:solidFill>
                <a:latin typeface="Calibri" pitchFamily="34" charset="0"/>
                <a:ea typeface="Calibri" pitchFamily="34" charset="-122"/>
                <a:cs typeface="Calibri" pitchFamily="34" charset="-120"/>
              </a:rPr>
              <a:t>Informe final y socialización</a:t>
            </a:r>
            <a:endParaRPr lang="en-US" sz="1050" dirty="0"/>
          </a:p>
        </p:txBody>
      </p:sp>
      <p:sp>
        <p:nvSpPr>
          <p:cNvPr id="46" name="Text 38"/>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E6B65"/>
                </a:solidFill>
                <a:latin typeface="Calibri" pitchFamily="34" charset="0"/>
                <a:ea typeface="Calibri" pitchFamily="34" charset="-122"/>
                <a:cs typeface="Calibri" pitchFamily="34" charset="-120"/>
              </a:rPr>
              <a:t>Parque Temático El Cacique · Cácota, N. de S.</a:t>
            </a:r>
            <a:endParaRPr lang="en-US" sz="900" dirty="0"/>
          </a:p>
        </p:txBody>
      </p:sp>
      <p:sp>
        <p:nvSpPr>
          <p:cNvPr id="47" name="Text 39"/>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E6B65"/>
                </a:solidFill>
                <a:latin typeface="Calibri" pitchFamily="34" charset="0"/>
                <a:ea typeface="Calibri" pitchFamily="34" charset="-122"/>
                <a:cs typeface="Calibri" pitchFamily="34" charset="-120"/>
              </a:rPr>
              <a:t>14 / 19</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3A2B"/>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28600"/>
          </a:xfrm>
          <a:prstGeom prst="rect">
            <a:avLst/>
          </a:prstGeom>
          <a:noFill/>
          <a:ln/>
        </p:spPr>
        <p:txBody>
          <a:bodyPr wrap="square" lIns="0" tIns="0" rIns="0" bIns="0" rtlCol="0" anchor="ctr"/>
          <a:lstStyle/>
          <a:p>
            <a:pPr indent="0" marL="0">
              <a:buNone/>
            </a:pPr>
            <a:r>
              <a:rPr lang="en-US" sz="1000" b="1" spc="300" kern="0" dirty="0">
                <a:solidFill>
                  <a:srgbClr val="E3A43B"/>
                </a:solidFill>
                <a:latin typeface="Calibri" pitchFamily="34" charset="0"/>
                <a:ea typeface="Calibri" pitchFamily="34" charset="-122"/>
                <a:cs typeface="Calibri" pitchFamily="34" charset="-120"/>
              </a:rPr>
              <a:t>06 · ANÁLISIS DE ESTABILIDAD</a:t>
            </a:r>
            <a:endParaRPr lang="en-US" sz="1000" dirty="0"/>
          </a:p>
        </p:txBody>
      </p:sp>
      <p:sp>
        <p:nvSpPr>
          <p:cNvPr id="3" name="Text 1"/>
          <p:cNvSpPr txBox="1"/>
          <p:nvPr/>
        </p:nvSpPr>
        <p:spPr>
          <a:xfrm>
            <a:off x="457200" y="566928"/>
            <a:ext cx="8229600" cy="64008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Tres escenarios frente a la NSR-10</a:t>
            </a:r>
            <a:endParaRPr lang="en-US" sz="2800" dirty="0"/>
          </a:p>
        </p:txBody>
      </p:sp>
      <p:sp>
        <p:nvSpPr>
          <p:cNvPr id="4" name="Shape 2"/>
          <p:cNvSpPr/>
          <p:nvPr/>
        </p:nvSpPr>
        <p:spPr>
          <a:xfrm>
            <a:off x="457200" y="1463040"/>
            <a:ext cx="2606040" cy="2514600"/>
          </a:xfrm>
          <a:prstGeom prst="roundRect">
            <a:avLst>
              <a:gd name="adj" fmla="val 3636"/>
            </a:avLst>
          </a:prstGeom>
          <a:solidFill>
            <a:srgbClr val="1F4A38"/>
          </a:solidFill>
          <a:ln w="12700">
            <a:solidFill>
              <a:srgbClr val="2F6B4F"/>
            </a:solidFill>
            <a:prstDash val="solid"/>
          </a:ln>
        </p:spPr>
      </p:sp>
      <p:sp>
        <p:nvSpPr>
          <p:cNvPr id="5" name="Text 3"/>
          <p:cNvSpPr txBox="1"/>
          <p:nvPr/>
        </p:nvSpPr>
        <p:spPr>
          <a:xfrm>
            <a:off x="685800" y="1645920"/>
            <a:ext cx="2194560" cy="365760"/>
          </a:xfrm>
          <a:prstGeom prst="rect">
            <a:avLst/>
          </a:prstGeom>
          <a:noFill/>
          <a:ln/>
        </p:spPr>
        <p:txBody>
          <a:bodyPr wrap="square" lIns="0" tIns="0" rIns="0" bIns="0" rtlCol="0" anchor="ctr"/>
          <a:lstStyle/>
          <a:p>
            <a:pPr indent="0" marL="0">
              <a:buNone/>
            </a:pPr>
            <a:r>
              <a:rPr lang="en-US" sz="1400" b="1" dirty="0">
                <a:solidFill>
                  <a:srgbClr val="E3A43B"/>
                </a:solidFill>
                <a:latin typeface="Calibri" pitchFamily="34" charset="0"/>
                <a:ea typeface="Calibri" pitchFamily="34" charset="-122"/>
                <a:cs typeface="Calibri" pitchFamily="34" charset="-120"/>
              </a:rPr>
              <a:t>Estático seco</a:t>
            </a:r>
            <a:endParaRPr lang="en-US" sz="1400" dirty="0"/>
          </a:p>
        </p:txBody>
      </p:sp>
      <p:sp>
        <p:nvSpPr>
          <p:cNvPr id="6" name="Text 4"/>
          <p:cNvSpPr txBox="1"/>
          <p:nvPr/>
        </p:nvSpPr>
        <p:spPr>
          <a:xfrm>
            <a:off x="685800" y="2057400"/>
            <a:ext cx="2194560" cy="274320"/>
          </a:xfrm>
          <a:prstGeom prst="rect">
            <a:avLst/>
          </a:prstGeom>
          <a:noFill/>
          <a:ln/>
        </p:spPr>
        <p:txBody>
          <a:bodyPr wrap="square" lIns="0" tIns="0" rIns="0" bIns="0" rtlCol="0" anchor="ctr"/>
          <a:lstStyle/>
          <a:p>
            <a:pPr indent="0" marL="0">
              <a:buNone/>
            </a:pPr>
            <a:r>
              <a:rPr lang="en-US" sz="1100" dirty="0">
                <a:solidFill>
                  <a:srgbClr val="BFD6C8"/>
                </a:solidFill>
                <a:latin typeface="Calibri" pitchFamily="34" charset="0"/>
                <a:ea typeface="Calibri" pitchFamily="34" charset="-122"/>
                <a:cs typeface="Calibri" pitchFamily="34" charset="-120"/>
              </a:rPr>
              <a:t>FS mínimo</a:t>
            </a:r>
            <a:endParaRPr lang="en-US" sz="1100" dirty="0"/>
          </a:p>
        </p:txBody>
      </p:sp>
      <p:sp>
        <p:nvSpPr>
          <p:cNvPr id="7" name="Text 5"/>
          <p:cNvSpPr txBox="1"/>
          <p:nvPr/>
        </p:nvSpPr>
        <p:spPr>
          <a:xfrm>
            <a:off x="685800" y="2331720"/>
            <a:ext cx="219456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 1,50</a:t>
            </a:r>
            <a:endParaRPr lang="en-US" sz="4000" dirty="0"/>
          </a:p>
        </p:txBody>
      </p:sp>
      <p:sp>
        <p:nvSpPr>
          <p:cNvPr id="8" name="Text 6"/>
          <p:cNvSpPr txBox="1"/>
          <p:nvPr/>
        </p:nvSpPr>
        <p:spPr>
          <a:xfrm>
            <a:off x="685800" y="3154680"/>
            <a:ext cx="2194560" cy="731520"/>
          </a:xfrm>
          <a:prstGeom prst="rect">
            <a:avLst/>
          </a:prstGeom>
          <a:noFill/>
          <a:ln/>
        </p:spPr>
        <p:txBody>
          <a:bodyPr wrap="square" lIns="0" tIns="0" rIns="0" bIns="0" rtlCol="0" anchor="t"/>
          <a:lstStyle/>
          <a:p>
            <a:pPr indent="0" marL="0">
              <a:buNone/>
            </a:pPr>
            <a:r>
              <a:rPr lang="en-US" sz="1200" dirty="0">
                <a:solidFill>
                  <a:srgbClr val="BFD6C8"/>
                </a:solidFill>
                <a:latin typeface="Calibri" pitchFamily="34" charset="0"/>
                <a:ea typeface="Calibri" pitchFamily="34" charset="-122"/>
                <a:cs typeface="Calibri" pitchFamily="34" charset="-120"/>
              </a:rPr>
              <a:t>Condición de referencia, taludes permanentes</a:t>
            </a:r>
            <a:endParaRPr lang="en-US" sz="1200" dirty="0"/>
          </a:p>
        </p:txBody>
      </p:sp>
      <p:sp>
        <p:nvSpPr>
          <p:cNvPr id="9" name="Shape 7"/>
          <p:cNvSpPr/>
          <p:nvPr/>
        </p:nvSpPr>
        <p:spPr>
          <a:xfrm>
            <a:off x="3246120" y="1463040"/>
            <a:ext cx="2606040" cy="2514600"/>
          </a:xfrm>
          <a:prstGeom prst="roundRect">
            <a:avLst>
              <a:gd name="adj" fmla="val 3636"/>
            </a:avLst>
          </a:prstGeom>
          <a:solidFill>
            <a:srgbClr val="1F4A38"/>
          </a:solidFill>
          <a:ln w="12700">
            <a:solidFill>
              <a:srgbClr val="2F6B4F"/>
            </a:solidFill>
            <a:prstDash val="solid"/>
          </a:ln>
        </p:spPr>
      </p:sp>
      <p:sp>
        <p:nvSpPr>
          <p:cNvPr id="10" name="Text 8"/>
          <p:cNvSpPr txBox="1"/>
          <p:nvPr/>
        </p:nvSpPr>
        <p:spPr>
          <a:xfrm>
            <a:off x="3474720" y="1645920"/>
            <a:ext cx="2194560" cy="365760"/>
          </a:xfrm>
          <a:prstGeom prst="rect">
            <a:avLst/>
          </a:prstGeom>
          <a:noFill/>
          <a:ln/>
        </p:spPr>
        <p:txBody>
          <a:bodyPr wrap="square" lIns="0" tIns="0" rIns="0" bIns="0" rtlCol="0" anchor="ctr"/>
          <a:lstStyle/>
          <a:p>
            <a:pPr indent="0" marL="0">
              <a:buNone/>
            </a:pPr>
            <a:r>
              <a:rPr lang="en-US" sz="1400" b="1" dirty="0">
                <a:solidFill>
                  <a:srgbClr val="E3A43B"/>
                </a:solidFill>
                <a:latin typeface="Calibri" pitchFamily="34" charset="0"/>
                <a:ea typeface="Calibri" pitchFamily="34" charset="-122"/>
                <a:cs typeface="Calibri" pitchFamily="34" charset="-120"/>
              </a:rPr>
              <a:t>Estático saturado</a:t>
            </a:r>
            <a:endParaRPr lang="en-US" sz="1400" dirty="0"/>
          </a:p>
        </p:txBody>
      </p:sp>
      <p:sp>
        <p:nvSpPr>
          <p:cNvPr id="11" name="Text 9"/>
          <p:cNvSpPr txBox="1"/>
          <p:nvPr/>
        </p:nvSpPr>
        <p:spPr>
          <a:xfrm>
            <a:off x="3474720" y="2057400"/>
            <a:ext cx="2194560" cy="274320"/>
          </a:xfrm>
          <a:prstGeom prst="rect">
            <a:avLst/>
          </a:prstGeom>
          <a:noFill/>
          <a:ln/>
        </p:spPr>
        <p:txBody>
          <a:bodyPr wrap="square" lIns="0" tIns="0" rIns="0" bIns="0" rtlCol="0" anchor="ctr"/>
          <a:lstStyle/>
          <a:p>
            <a:pPr indent="0" marL="0">
              <a:buNone/>
            </a:pPr>
            <a:r>
              <a:rPr lang="en-US" sz="1100" dirty="0">
                <a:solidFill>
                  <a:srgbClr val="BFD6C8"/>
                </a:solidFill>
                <a:latin typeface="Calibri" pitchFamily="34" charset="0"/>
                <a:ea typeface="Calibri" pitchFamily="34" charset="-122"/>
                <a:cs typeface="Calibri" pitchFamily="34" charset="-120"/>
              </a:rPr>
              <a:t>FS mínimo</a:t>
            </a:r>
            <a:endParaRPr lang="en-US" sz="1100" dirty="0"/>
          </a:p>
        </p:txBody>
      </p:sp>
      <p:sp>
        <p:nvSpPr>
          <p:cNvPr id="12" name="Text 10"/>
          <p:cNvSpPr txBox="1"/>
          <p:nvPr/>
        </p:nvSpPr>
        <p:spPr>
          <a:xfrm>
            <a:off x="3474720" y="2331720"/>
            <a:ext cx="219456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 1,50</a:t>
            </a:r>
            <a:endParaRPr lang="en-US" sz="4000" dirty="0"/>
          </a:p>
        </p:txBody>
      </p:sp>
      <p:sp>
        <p:nvSpPr>
          <p:cNvPr id="13" name="Text 11"/>
          <p:cNvSpPr txBox="1"/>
          <p:nvPr/>
        </p:nvSpPr>
        <p:spPr>
          <a:xfrm>
            <a:off x="3474720" y="3154680"/>
            <a:ext cx="2194560" cy="731520"/>
          </a:xfrm>
          <a:prstGeom prst="rect">
            <a:avLst/>
          </a:prstGeom>
          <a:noFill/>
          <a:ln/>
        </p:spPr>
        <p:txBody>
          <a:bodyPr wrap="square" lIns="0" tIns="0" rIns="0" bIns="0" rtlCol="0" anchor="t"/>
          <a:lstStyle/>
          <a:p>
            <a:pPr indent="0" marL="0">
              <a:buNone/>
            </a:pPr>
            <a:r>
              <a:rPr lang="en-US" sz="1200" dirty="0">
                <a:solidFill>
                  <a:srgbClr val="BFD6C8"/>
                </a:solidFill>
                <a:latin typeface="Calibri" pitchFamily="34" charset="0"/>
                <a:ea typeface="Calibri" pitchFamily="34" charset="-122"/>
                <a:cs typeface="Calibri" pitchFamily="34" charset="-120"/>
              </a:rPr>
              <a:t>Nivel freático elevado por lluvia intensa</a:t>
            </a:r>
            <a:endParaRPr lang="en-US" sz="1200" dirty="0"/>
          </a:p>
        </p:txBody>
      </p:sp>
      <p:sp>
        <p:nvSpPr>
          <p:cNvPr id="14" name="Shape 12"/>
          <p:cNvSpPr/>
          <p:nvPr/>
        </p:nvSpPr>
        <p:spPr>
          <a:xfrm>
            <a:off x="6035040" y="1463040"/>
            <a:ext cx="2606040" cy="2514600"/>
          </a:xfrm>
          <a:prstGeom prst="roundRect">
            <a:avLst>
              <a:gd name="adj" fmla="val 3636"/>
            </a:avLst>
          </a:prstGeom>
          <a:solidFill>
            <a:srgbClr val="1F4A38"/>
          </a:solidFill>
          <a:ln w="12700">
            <a:solidFill>
              <a:srgbClr val="2F6B4F"/>
            </a:solidFill>
            <a:prstDash val="solid"/>
          </a:ln>
        </p:spPr>
      </p:sp>
      <p:sp>
        <p:nvSpPr>
          <p:cNvPr id="15" name="Text 13"/>
          <p:cNvSpPr txBox="1"/>
          <p:nvPr/>
        </p:nvSpPr>
        <p:spPr>
          <a:xfrm>
            <a:off x="6263640" y="1645920"/>
            <a:ext cx="2194560" cy="365760"/>
          </a:xfrm>
          <a:prstGeom prst="rect">
            <a:avLst/>
          </a:prstGeom>
          <a:noFill/>
          <a:ln/>
        </p:spPr>
        <p:txBody>
          <a:bodyPr wrap="square" lIns="0" tIns="0" rIns="0" bIns="0" rtlCol="0" anchor="ctr"/>
          <a:lstStyle/>
          <a:p>
            <a:pPr indent="0" marL="0">
              <a:buNone/>
            </a:pPr>
            <a:r>
              <a:rPr lang="en-US" sz="1400" b="1" dirty="0">
                <a:solidFill>
                  <a:srgbClr val="E3A43B"/>
                </a:solidFill>
                <a:latin typeface="Calibri" pitchFamily="34" charset="0"/>
                <a:ea typeface="Calibri" pitchFamily="34" charset="-122"/>
                <a:cs typeface="Calibri" pitchFamily="34" charset="-120"/>
              </a:rPr>
              <a:t>Seudoestático</a:t>
            </a:r>
            <a:endParaRPr lang="en-US" sz="1400" dirty="0"/>
          </a:p>
        </p:txBody>
      </p:sp>
      <p:sp>
        <p:nvSpPr>
          <p:cNvPr id="16" name="Text 14"/>
          <p:cNvSpPr txBox="1"/>
          <p:nvPr/>
        </p:nvSpPr>
        <p:spPr>
          <a:xfrm>
            <a:off x="6263640" y="2057400"/>
            <a:ext cx="2194560" cy="274320"/>
          </a:xfrm>
          <a:prstGeom prst="rect">
            <a:avLst/>
          </a:prstGeom>
          <a:noFill/>
          <a:ln/>
        </p:spPr>
        <p:txBody>
          <a:bodyPr wrap="square" lIns="0" tIns="0" rIns="0" bIns="0" rtlCol="0" anchor="ctr"/>
          <a:lstStyle/>
          <a:p>
            <a:pPr indent="0" marL="0">
              <a:buNone/>
            </a:pPr>
            <a:r>
              <a:rPr lang="en-US" sz="1100" dirty="0">
                <a:solidFill>
                  <a:srgbClr val="BFD6C8"/>
                </a:solidFill>
                <a:latin typeface="Calibri" pitchFamily="34" charset="0"/>
                <a:ea typeface="Calibri" pitchFamily="34" charset="-122"/>
                <a:cs typeface="Calibri" pitchFamily="34" charset="-120"/>
              </a:rPr>
              <a:t>FS mínimo</a:t>
            </a:r>
            <a:endParaRPr lang="en-US" sz="1100" dirty="0"/>
          </a:p>
        </p:txBody>
      </p:sp>
      <p:sp>
        <p:nvSpPr>
          <p:cNvPr id="17" name="Text 15"/>
          <p:cNvSpPr txBox="1"/>
          <p:nvPr/>
        </p:nvSpPr>
        <p:spPr>
          <a:xfrm>
            <a:off x="6263640" y="2331720"/>
            <a:ext cx="219456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 1,05</a:t>
            </a:r>
            <a:endParaRPr lang="en-US" sz="4000" dirty="0"/>
          </a:p>
        </p:txBody>
      </p:sp>
      <p:sp>
        <p:nvSpPr>
          <p:cNvPr id="18" name="Text 16"/>
          <p:cNvSpPr txBox="1"/>
          <p:nvPr/>
        </p:nvSpPr>
        <p:spPr>
          <a:xfrm>
            <a:off x="6263640" y="3154680"/>
            <a:ext cx="2194560" cy="731520"/>
          </a:xfrm>
          <a:prstGeom prst="rect">
            <a:avLst/>
          </a:prstGeom>
          <a:noFill/>
          <a:ln/>
        </p:spPr>
        <p:txBody>
          <a:bodyPr wrap="square" lIns="0" tIns="0" rIns="0" bIns="0" rtlCol="0" anchor="t"/>
          <a:lstStyle/>
          <a:p>
            <a:pPr indent="0" marL="0">
              <a:buNone/>
            </a:pPr>
            <a:r>
              <a:rPr lang="en-US" sz="1200" dirty="0">
                <a:solidFill>
                  <a:srgbClr val="BFD6C8"/>
                </a:solidFill>
                <a:latin typeface="Calibri" pitchFamily="34" charset="0"/>
                <a:ea typeface="Calibri" pitchFamily="34" charset="-122"/>
                <a:cs typeface="Calibri" pitchFamily="34" charset="-120"/>
              </a:rPr>
              <a:t>Coeficiente sísmico a partir de Aa = 0,30</a:t>
            </a:r>
            <a:endParaRPr lang="en-US" sz="1200" dirty="0"/>
          </a:p>
        </p:txBody>
      </p:sp>
      <p:sp>
        <p:nvSpPr>
          <p:cNvPr id="19" name="Text 17"/>
          <p:cNvSpPr txBox="1"/>
          <p:nvPr/>
        </p:nvSpPr>
        <p:spPr>
          <a:xfrm>
            <a:off x="457200" y="4160520"/>
            <a:ext cx="822960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Secciones críticas: corte mayor · relleno de ≈ 4 m · sección junto al canal. Sensibilidad frente a c′, φ′ y nivel freático.</a:t>
            </a:r>
            <a:endParaRPr lang="en-US" sz="1200" dirty="0"/>
          </a:p>
        </p:txBody>
      </p:sp>
      <p:sp>
        <p:nvSpPr>
          <p:cNvPr id="20" name="Text 18"/>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A9C2B4"/>
                </a:solidFill>
                <a:latin typeface="Calibri" pitchFamily="34" charset="0"/>
                <a:ea typeface="Calibri" pitchFamily="34" charset="-122"/>
                <a:cs typeface="Calibri" pitchFamily="34" charset="-120"/>
              </a:rPr>
              <a:t>Parque Temático El Cacique · Cácota, N. de S.</a:t>
            </a:r>
            <a:endParaRPr lang="en-US" sz="900" dirty="0"/>
          </a:p>
        </p:txBody>
      </p:sp>
      <p:sp>
        <p:nvSpPr>
          <p:cNvPr id="21" name="Text 19"/>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A9C2B4"/>
                </a:solidFill>
                <a:latin typeface="Calibri" pitchFamily="34" charset="0"/>
                <a:ea typeface="Calibri" pitchFamily="34" charset="-122"/>
                <a:cs typeface="Calibri" pitchFamily="34" charset="-120"/>
              </a:rPr>
              <a:t>15 / 19</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28600"/>
          </a:xfrm>
          <a:prstGeom prst="rect">
            <a:avLst/>
          </a:prstGeom>
          <a:noFill/>
          <a:ln/>
        </p:spPr>
        <p:txBody>
          <a:bodyPr wrap="square" lIns="0" tIns="0" rIns="0" bIns="0" rtlCol="0" anchor="ctr"/>
          <a:lstStyle/>
          <a:p>
            <a:pPr indent="0" marL="0">
              <a:buNone/>
            </a:pPr>
            <a:r>
              <a:rPr lang="en-US" sz="1000" b="1" spc="300" kern="0" dirty="0">
                <a:solidFill>
                  <a:srgbClr val="C4622D"/>
                </a:solidFill>
                <a:latin typeface="Calibri" pitchFamily="34" charset="0"/>
                <a:ea typeface="Calibri" pitchFamily="34" charset="-122"/>
                <a:cs typeface="Calibri" pitchFamily="34" charset="-120"/>
              </a:rPr>
              <a:t>06 · PROPUESTA DE ALTERNATIVAS</a:t>
            </a:r>
            <a:endParaRPr lang="en-US" sz="1000" dirty="0"/>
          </a:p>
        </p:txBody>
      </p:sp>
      <p:sp>
        <p:nvSpPr>
          <p:cNvPr id="3" name="Text 1"/>
          <p:cNvSpPr txBox="1"/>
          <p:nvPr/>
        </p:nvSpPr>
        <p:spPr>
          <a:xfrm>
            <a:off x="457200" y="566928"/>
            <a:ext cx="8229600" cy="640080"/>
          </a:xfrm>
          <a:prstGeom prst="rect">
            <a:avLst/>
          </a:prstGeom>
          <a:noFill/>
          <a:ln/>
        </p:spPr>
        <p:txBody>
          <a:bodyPr wrap="square" lIns="0" tIns="0" rIns="0" bIns="0" rtlCol="0" anchor="t"/>
          <a:lstStyle/>
          <a:p>
            <a:pPr indent="0" marL="0">
              <a:buNone/>
            </a:pPr>
            <a:r>
              <a:rPr lang="en-US" sz="2800" b="1" dirty="0">
                <a:solidFill>
                  <a:srgbClr val="163A2B"/>
                </a:solidFill>
                <a:latin typeface="Cambria" pitchFamily="34" charset="0"/>
                <a:ea typeface="Cambria" pitchFamily="34" charset="-122"/>
                <a:cs typeface="Cambria" pitchFamily="34" charset="-120"/>
              </a:rPr>
              <a:t>Tres caminos, una matriz para decidir</a:t>
            </a:r>
            <a:endParaRPr lang="en-US" sz="2800" dirty="0"/>
          </a:p>
        </p:txBody>
      </p:sp>
      <p:sp>
        <p:nvSpPr>
          <p:cNvPr id="4" name="Shape 2"/>
          <p:cNvSpPr/>
          <p:nvPr/>
        </p:nvSpPr>
        <p:spPr>
          <a:xfrm>
            <a:off x="457200" y="1417320"/>
            <a:ext cx="2606040" cy="2743200"/>
          </a:xfrm>
          <a:prstGeom prst="roundRect">
            <a:avLst>
              <a:gd name="adj" fmla="val 3509"/>
            </a:avLst>
          </a:prstGeom>
          <a:solidFill>
            <a:srgbClr val="F3F7F4"/>
          </a:solidFill>
          <a:ln w="6350">
            <a:solidFill>
              <a:srgbClr val="F3F7F4"/>
            </a:solidFill>
            <a:prstDash val="solid"/>
          </a:ln>
        </p:spPr>
      </p:sp>
      <p:sp>
        <p:nvSpPr>
          <p:cNvPr id="5" name="Shape 3"/>
          <p:cNvSpPr/>
          <p:nvPr/>
        </p:nvSpPr>
        <p:spPr>
          <a:xfrm>
            <a:off x="685800" y="1600200"/>
            <a:ext cx="502920" cy="502920"/>
          </a:xfrm>
          <a:prstGeom prst="ellipse">
            <a:avLst/>
          </a:prstGeom>
          <a:solidFill>
            <a:srgbClr val="163A2B"/>
          </a:solidFill>
          <a:ln w="12700">
            <a:solidFill>
              <a:srgbClr val="163A2B"/>
            </a:solidFill>
            <a:prstDash val="solid"/>
          </a:ln>
        </p:spPr>
      </p:sp>
      <p:sp>
        <p:nvSpPr>
          <p:cNvPr id="6" name="Text 4"/>
          <p:cNvSpPr txBox="1"/>
          <p:nvPr/>
        </p:nvSpPr>
        <p:spPr>
          <a:xfrm>
            <a:off x="685800" y="1600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7" name="Text 5"/>
          <p:cNvSpPr txBox="1"/>
          <p:nvPr/>
        </p:nvSpPr>
        <p:spPr>
          <a:xfrm>
            <a:off x="1325880" y="1600200"/>
            <a:ext cx="1645920" cy="502920"/>
          </a:xfrm>
          <a:prstGeom prst="rect">
            <a:avLst/>
          </a:prstGeom>
          <a:noFill/>
          <a:ln/>
        </p:spPr>
        <p:txBody>
          <a:bodyPr wrap="square" lIns="0" tIns="0" rIns="0" bIns="0" rtlCol="0" anchor="ctr"/>
          <a:lstStyle/>
          <a:p>
            <a:pPr indent="0" marL="0">
              <a:buNone/>
            </a:pPr>
            <a:r>
              <a:rPr lang="en-US" sz="1450" b="1" dirty="0">
                <a:solidFill>
                  <a:srgbClr val="163A2B"/>
                </a:solidFill>
                <a:latin typeface="Cambria" pitchFamily="34" charset="0"/>
                <a:ea typeface="Cambria" pitchFamily="34" charset="-122"/>
                <a:cs typeface="Cambria" pitchFamily="34" charset="-120"/>
              </a:rPr>
              <a:t>Convencional</a:t>
            </a:r>
            <a:endParaRPr lang="en-US" sz="1450" dirty="0"/>
          </a:p>
        </p:txBody>
      </p:sp>
      <p:sp>
        <p:nvSpPr>
          <p:cNvPr id="8" name="Text 6"/>
          <p:cNvSpPr txBox="1"/>
          <p:nvPr/>
        </p:nvSpPr>
        <p:spPr>
          <a:xfrm>
            <a:off x="685800" y="2240280"/>
            <a:ext cx="2194560" cy="868680"/>
          </a:xfrm>
          <a:prstGeom prst="rect">
            <a:avLst/>
          </a:prstGeom>
          <a:noFill/>
          <a:ln/>
        </p:spPr>
        <p:txBody>
          <a:bodyPr wrap="square" lIns="0" tIns="0" rIns="0" bIns="0" rtlCol="0" anchor="t"/>
          <a:lstStyle/>
          <a:p>
            <a:pPr indent="0" marL="0">
              <a:buNone/>
            </a:pPr>
            <a:r>
              <a:rPr lang="en-US" sz="1150" dirty="0">
                <a:solidFill>
                  <a:srgbClr val="1D2622"/>
                </a:solidFill>
                <a:latin typeface="Calibri" pitchFamily="34" charset="0"/>
                <a:ea typeface="Calibri" pitchFamily="34" charset="-122"/>
                <a:cs typeface="Calibri" pitchFamily="34" charset="-120"/>
              </a:rPr>
              <a:t>Muro de concreto reforzado + cunetas revestidas</a:t>
            </a:r>
            <a:endParaRPr lang="en-US" sz="1150" dirty="0"/>
          </a:p>
        </p:txBody>
      </p:sp>
      <p:sp>
        <p:nvSpPr>
          <p:cNvPr id="9" name="Text 7"/>
          <p:cNvSpPr txBox="1"/>
          <p:nvPr/>
        </p:nvSpPr>
        <p:spPr>
          <a:xfrm>
            <a:off x="685800" y="3200400"/>
            <a:ext cx="2194560" cy="822960"/>
          </a:xfrm>
          <a:prstGeom prst="rect">
            <a:avLst/>
          </a:prstGeom>
          <a:noFill/>
          <a:ln/>
        </p:spPr>
        <p:txBody>
          <a:bodyPr wrap="square" lIns="0" tIns="0" rIns="0" bIns="0" rtlCol="0" anchor="ctr"/>
          <a:lstStyle/>
          <a:p>
            <a:pPr marL="152400" indent="-152400">
              <a:spcAft>
                <a:spcPts val="400"/>
              </a:spcAft>
              <a:buSzPct val="100000"/>
              <a:buChar char="•"/>
            </a:pPr>
            <a:r>
              <a:rPr lang="en-US" sz="1100" dirty="0">
                <a:solidFill>
                  <a:srgbClr val="5E6B65"/>
                </a:solidFill>
                <a:latin typeface="Calibri" pitchFamily="34" charset="0"/>
                <a:ea typeface="Calibri" pitchFamily="34" charset="-122"/>
                <a:cs typeface="Calibri" pitchFamily="34" charset="-120"/>
              </a:rPr>
              <a:t>Alta confiabilidad</a:t>
            </a:r>
            <a:endParaRPr lang="en-US" sz="1100" dirty="0"/>
          </a:p>
          <a:p>
            <a:pPr marL="152400" indent="-152400">
              <a:spcAft>
                <a:spcPts val="400"/>
              </a:spcAft>
              <a:buSzPct val="100000"/>
              <a:buChar char="•"/>
            </a:pPr>
            <a:r>
              <a:rPr lang="en-US" sz="1100" dirty="0">
                <a:solidFill>
                  <a:srgbClr val="5E6B65"/>
                </a:solidFill>
                <a:latin typeface="Calibri" pitchFamily="34" charset="0"/>
                <a:ea typeface="Calibri" pitchFamily="34" charset="-122"/>
                <a:cs typeface="Calibri" pitchFamily="34" charset="-120"/>
              </a:rPr>
              <a:t>Mayor costo y huella</a:t>
            </a:r>
            <a:endParaRPr lang="en-US" sz="1100" dirty="0"/>
          </a:p>
        </p:txBody>
      </p:sp>
      <p:sp>
        <p:nvSpPr>
          <p:cNvPr id="10" name="Shape 8"/>
          <p:cNvSpPr/>
          <p:nvPr/>
        </p:nvSpPr>
        <p:spPr>
          <a:xfrm>
            <a:off x="3246120" y="1417320"/>
            <a:ext cx="2606040" cy="2743200"/>
          </a:xfrm>
          <a:prstGeom prst="roundRect">
            <a:avLst>
              <a:gd name="adj" fmla="val 3509"/>
            </a:avLst>
          </a:prstGeom>
          <a:solidFill>
            <a:srgbClr val="F3F7F4"/>
          </a:solidFill>
          <a:ln w="6350">
            <a:solidFill>
              <a:srgbClr val="F3F7F4"/>
            </a:solidFill>
            <a:prstDash val="solid"/>
          </a:ln>
        </p:spPr>
      </p:sp>
      <p:sp>
        <p:nvSpPr>
          <p:cNvPr id="11" name="Shape 9"/>
          <p:cNvSpPr/>
          <p:nvPr/>
        </p:nvSpPr>
        <p:spPr>
          <a:xfrm>
            <a:off x="3474720" y="1600200"/>
            <a:ext cx="502920" cy="502920"/>
          </a:xfrm>
          <a:prstGeom prst="ellipse">
            <a:avLst/>
          </a:prstGeom>
          <a:solidFill>
            <a:srgbClr val="163A2B"/>
          </a:solidFill>
          <a:ln w="12700">
            <a:solidFill>
              <a:srgbClr val="163A2B"/>
            </a:solidFill>
            <a:prstDash val="solid"/>
          </a:ln>
        </p:spPr>
      </p:sp>
      <p:sp>
        <p:nvSpPr>
          <p:cNvPr id="12" name="Text 10"/>
          <p:cNvSpPr txBox="1"/>
          <p:nvPr/>
        </p:nvSpPr>
        <p:spPr>
          <a:xfrm>
            <a:off x="3474720" y="1600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3" name="Text 11"/>
          <p:cNvSpPr txBox="1"/>
          <p:nvPr/>
        </p:nvSpPr>
        <p:spPr>
          <a:xfrm>
            <a:off x="4114800" y="1600200"/>
            <a:ext cx="1645920" cy="502920"/>
          </a:xfrm>
          <a:prstGeom prst="rect">
            <a:avLst/>
          </a:prstGeom>
          <a:noFill/>
          <a:ln/>
        </p:spPr>
        <p:txBody>
          <a:bodyPr wrap="square" lIns="0" tIns="0" rIns="0" bIns="0" rtlCol="0" anchor="ctr"/>
          <a:lstStyle/>
          <a:p>
            <a:pPr indent="0" marL="0">
              <a:buNone/>
            </a:pPr>
            <a:r>
              <a:rPr lang="en-US" sz="1450" b="1" dirty="0">
                <a:solidFill>
                  <a:srgbClr val="163A2B"/>
                </a:solidFill>
                <a:latin typeface="Cambria" pitchFamily="34" charset="0"/>
                <a:ea typeface="Cambria" pitchFamily="34" charset="-122"/>
                <a:cs typeface="Cambria" pitchFamily="34" charset="-120"/>
              </a:rPr>
              <a:t>Mixta</a:t>
            </a:r>
            <a:endParaRPr lang="en-US" sz="1450" dirty="0"/>
          </a:p>
        </p:txBody>
      </p:sp>
      <p:sp>
        <p:nvSpPr>
          <p:cNvPr id="14" name="Text 12"/>
          <p:cNvSpPr txBox="1"/>
          <p:nvPr/>
        </p:nvSpPr>
        <p:spPr>
          <a:xfrm>
            <a:off x="3474720" y="2240280"/>
            <a:ext cx="2194560" cy="868680"/>
          </a:xfrm>
          <a:prstGeom prst="rect">
            <a:avLst/>
          </a:prstGeom>
          <a:noFill/>
          <a:ln/>
        </p:spPr>
        <p:txBody>
          <a:bodyPr wrap="square" lIns="0" tIns="0" rIns="0" bIns="0" rtlCol="0" anchor="t"/>
          <a:lstStyle/>
          <a:p>
            <a:pPr indent="0" marL="0">
              <a:buNone/>
            </a:pPr>
            <a:r>
              <a:rPr lang="en-US" sz="1150" dirty="0">
                <a:solidFill>
                  <a:srgbClr val="1D2622"/>
                </a:solidFill>
                <a:latin typeface="Calibri" pitchFamily="34" charset="0"/>
                <a:ea typeface="Calibri" pitchFamily="34" charset="-122"/>
                <a:cs typeface="Calibri" pitchFamily="34" charset="-120"/>
              </a:rPr>
              <a:t>Gaviones + subdrenes + cunetas</a:t>
            </a:r>
            <a:endParaRPr lang="en-US" sz="1150" dirty="0"/>
          </a:p>
        </p:txBody>
      </p:sp>
      <p:sp>
        <p:nvSpPr>
          <p:cNvPr id="15" name="Text 13"/>
          <p:cNvSpPr txBox="1"/>
          <p:nvPr/>
        </p:nvSpPr>
        <p:spPr>
          <a:xfrm>
            <a:off x="3474720" y="3200400"/>
            <a:ext cx="2194560" cy="822960"/>
          </a:xfrm>
          <a:prstGeom prst="rect">
            <a:avLst/>
          </a:prstGeom>
          <a:noFill/>
          <a:ln/>
        </p:spPr>
        <p:txBody>
          <a:bodyPr wrap="square" lIns="0" tIns="0" rIns="0" bIns="0" rtlCol="0" anchor="ctr"/>
          <a:lstStyle/>
          <a:p>
            <a:pPr marL="152400" indent="-152400">
              <a:spcAft>
                <a:spcPts val="400"/>
              </a:spcAft>
              <a:buSzPct val="100000"/>
              <a:buChar char="•"/>
            </a:pPr>
            <a:r>
              <a:rPr lang="en-US" sz="1100" dirty="0">
                <a:solidFill>
                  <a:srgbClr val="5E6B65"/>
                </a:solidFill>
                <a:latin typeface="Calibri" pitchFamily="34" charset="0"/>
                <a:ea typeface="Calibri" pitchFamily="34" charset="-122"/>
                <a:cs typeface="Calibri" pitchFamily="34" charset="-120"/>
              </a:rPr>
              <a:t>Flexible y drenante</a:t>
            </a:r>
            <a:endParaRPr lang="en-US" sz="1100" dirty="0"/>
          </a:p>
          <a:p>
            <a:pPr marL="152400" indent="-152400">
              <a:spcAft>
                <a:spcPts val="400"/>
              </a:spcAft>
              <a:buSzPct val="100000"/>
              <a:buChar char="•"/>
            </a:pPr>
            <a:r>
              <a:rPr lang="en-US" sz="1100" dirty="0">
                <a:solidFill>
                  <a:srgbClr val="5E6B65"/>
                </a:solidFill>
                <a:latin typeface="Calibri" pitchFamily="34" charset="0"/>
                <a:ea typeface="Calibri" pitchFamily="34" charset="-122"/>
                <a:cs typeface="Calibri" pitchFamily="34" charset="-120"/>
              </a:rPr>
              <a:t>Uso de piedra local</a:t>
            </a:r>
            <a:endParaRPr lang="en-US" sz="1100" dirty="0"/>
          </a:p>
        </p:txBody>
      </p:sp>
      <p:sp>
        <p:nvSpPr>
          <p:cNvPr id="16" name="Shape 14"/>
          <p:cNvSpPr/>
          <p:nvPr/>
        </p:nvSpPr>
        <p:spPr>
          <a:xfrm>
            <a:off x="6035040" y="1417320"/>
            <a:ext cx="2606040" cy="2743200"/>
          </a:xfrm>
          <a:prstGeom prst="roundRect">
            <a:avLst>
              <a:gd name="adj" fmla="val 3509"/>
            </a:avLst>
          </a:prstGeom>
          <a:solidFill>
            <a:srgbClr val="DCEADF"/>
          </a:solidFill>
          <a:ln w="19050">
            <a:solidFill>
              <a:srgbClr val="2F6B4F"/>
            </a:solidFill>
            <a:prstDash val="solid"/>
          </a:ln>
        </p:spPr>
      </p:sp>
      <p:sp>
        <p:nvSpPr>
          <p:cNvPr id="17" name="Shape 15"/>
          <p:cNvSpPr/>
          <p:nvPr/>
        </p:nvSpPr>
        <p:spPr>
          <a:xfrm>
            <a:off x="6263640" y="1600200"/>
            <a:ext cx="502920" cy="502920"/>
          </a:xfrm>
          <a:prstGeom prst="ellipse">
            <a:avLst/>
          </a:prstGeom>
          <a:solidFill>
            <a:srgbClr val="C4622D"/>
          </a:solidFill>
          <a:ln w="12700">
            <a:solidFill>
              <a:srgbClr val="C4622D"/>
            </a:solidFill>
            <a:prstDash val="solid"/>
          </a:ln>
        </p:spPr>
      </p:sp>
      <p:sp>
        <p:nvSpPr>
          <p:cNvPr id="18" name="Text 16"/>
          <p:cNvSpPr txBox="1"/>
          <p:nvPr/>
        </p:nvSpPr>
        <p:spPr>
          <a:xfrm>
            <a:off x="6263640" y="1600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9" name="Text 17"/>
          <p:cNvSpPr txBox="1"/>
          <p:nvPr/>
        </p:nvSpPr>
        <p:spPr>
          <a:xfrm>
            <a:off x="6903720" y="1600200"/>
            <a:ext cx="1645920" cy="502920"/>
          </a:xfrm>
          <a:prstGeom prst="rect">
            <a:avLst/>
          </a:prstGeom>
          <a:noFill/>
          <a:ln/>
        </p:spPr>
        <p:txBody>
          <a:bodyPr wrap="square" lIns="0" tIns="0" rIns="0" bIns="0" rtlCol="0" anchor="ctr"/>
          <a:lstStyle/>
          <a:p>
            <a:pPr indent="0" marL="0">
              <a:buNone/>
            </a:pPr>
            <a:r>
              <a:rPr lang="en-US" sz="1450" b="1" dirty="0">
                <a:solidFill>
                  <a:srgbClr val="163A2B"/>
                </a:solidFill>
                <a:latin typeface="Cambria" pitchFamily="34" charset="0"/>
                <a:ea typeface="Cambria" pitchFamily="34" charset="-122"/>
                <a:cs typeface="Cambria" pitchFamily="34" charset="-120"/>
              </a:rPr>
              <a:t>Bioingeniería + SUDS</a:t>
            </a:r>
            <a:endParaRPr lang="en-US" sz="1450" dirty="0"/>
          </a:p>
        </p:txBody>
      </p:sp>
      <p:sp>
        <p:nvSpPr>
          <p:cNvPr id="20" name="Text 18"/>
          <p:cNvSpPr txBox="1"/>
          <p:nvPr/>
        </p:nvSpPr>
        <p:spPr>
          <a:xfrm>
            <a:off x="6263640" y="2240280"/>
            <a:ext cx="2194560" cy="868680"/>
          </a:xfrm>
          <a:prstGeom prst="rect">
            <a:avLst/>
          </a:prstGeom>
          <a:noFill/>
          <a:ln/>
        </p:spPr>
        <p:txBody>
          <a:bodyPr wrap="square" lIns="0" tIns="0" rIns="0" bIns="0" rtlCol="0" anchor="t"/>
          <a:lstStyle/>
          <a:p>
            <a:pPr indent="0" marL="0">
              <a:buNone/>
            </a:pPr>
            <a:r>
              <a:rPr lang="en-US" sz="1150" dirty="0">
                <a:solidFill>
                  <a:srgbClr val="1D2622"/>
                </a:solidFill>
                <a:latin typeface="Calibri" pitchFamily="34" charset="0"/>
                <a:ea typeface="Calibri" pitchFamily="34" charset="-122"/>
                <a:cs typeface="Calibri" pitchFamily="34" charset="-120"/>
              </a:rPr>
              <a:t>Terrazas revegetadas, trinchos, zanjas filtrantes, trampas de sedimentos</a:t>
            </a:r>
            <a:endParaRPr lang="en-US" sz="1150" dirty="0"/>
          </a:p>
        </p:txBody>
      </p:sp>
      <p:sp>
        <p:nvSpPr>
          <p:cNvPr id="21" name="Text 19"/>
          <p:cNvSpPr txBox="1"/>
          <p:nvPr/>
        </p:nvSpPr>
        <p:spPr>
          <a:xfrm>
            <a:off x="6263640" y="3200400"/>
            <a:ext cx="2194560" cy="822960"/>
          </a:xfrm>
          <a:prstGeom prst="rect">
            <a:avLst/>
          </a:prstGeom>
          <a:noFill/>
          <a:ln/>
        </p:spPr>
        <p:txBody>
          <a:bodyPr wrap="square" lIns="0" tIns="0" rIns="0" bIns="0" rtlCol="0" anchor="ctr"/>
          <a:lstStyle/>
          <a:p>
            <a:pPr marL="152400" indent="-152400">
              <a:spcAft>
                <a:spcPts val="400"/>
              </a:spcAft>
              <a:buSzPct val="100000"/>
              <a:buChar char="•"/>
            </a:pPr>
            <a:r>
              <a:rPr lang="en-US" sz="1100" dirty="0">
                <a:solidFill>
                  <a:srgbClr val="5E6B65"/>
                </a:solidFill>
                <a:latin typeface="Calibri" pitchFamily="34" charset="0"/>
                <a:ea typeface="Calibri" pitchFamily="34" charset="-122"/>
                <a:cs typeface="Calibri" pitchFamily="34" charset="-120"/>
              </a:rPr>
              <a:t>Coherente con el parque</a:t>
            </a:r>
            <a:endParaRPr lang="en-US" sz="1100" dirty="0"/>
          </a:p>
          <a:p>
            <a:pPr marL="152400" indent="-152400">
              <a:spcAft>
                <a:spcPts val="400"/>
              </a:spcAft>
              <a:buSzPct val="100000"/>
              <a:buChar char="•"/>
            </a:pPr>
            <a:r>
              <a:rPr lang="en-US" sz="1100" dirty="0">
                <a:solidFill>
                  <a:srgbClr val="5E6B65"/>
                </a:solidFill>
                <a:latin typeface="Calibri" pitchFamily="34" charset="0"/>
                <a:ea typeface="Calibri" pitchFamily="34" charset="-122"/>
                <a:cs typeface="Calibri" pitchFamily="34" charset="-120"/>
              </a:rPr>
              <a:t>Requiere mantenimiento</a:t>
            </a:r>
            <a:endParaRPr lang="en-US" sz="1100" dirty="0"/>
          </a:p>
        </p:txBody>
      </p:sp>
      <p:sp>
        <p:nvSpPr>
          <p:cNvPr id="22" name="Text 20"/>
          <p:cNvSpPr txBox="1"/>
          <p:nvPr/>
        </p:nvSpPr>
        <p:spPr>
          <a:xfrm>
            <a:off x="457200" y="4297680"/>
            <a:ext cx="8229600" cy="274320"/>
          </a:xfrm>
          <a:prstGeom prst="rect">
            <a:avLst/>
          </a:prstGeom>
          <a:noFill/>
          <a:ln/>
        </p:spPr>
        <p:txBody>
          <a:bodyPr wrap="square" lIns="0" tIns="0" rIns="0" bIns="0" rtlCol="0" anchor="ctr"/>
          <a:lstStyle/>
          <a:p>
            <a:pPr indent="0" marL="0">
              <a:buNone/>
            </a:pPr>
            <a:r>
              <a:rPr lang="en-US" sz="1200" i="1" dirty="0">
                <a:solidFill>
                  <a:srgbClr val="C4622D"/>
                </a:solidFill>
                <a:latin typeface="Calibri" pitchFamily="34" charset="0"/>
                <a:ea typeface="Calibri" pitchFamily="34" charset="-122"/>
                <a:cs typeface="Calibri" pitchFamily="34" charset="-120"/>
              </a:rPr>
              <a:t>Criterios: técnico (FS, velocidades) · ambiental · costo · mantenimiento</a:t>
            </a:r>
            <a:endParaRPr lang="en-US" sz="1200" dirty="0"/>
          </a:p>
        </p:txBody>
      </p:sp>
      <p:sp>
        <p:nvSpPr>
          <p:cNvPr id="23" name="Text 21"/>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E6B65"/>
                </a:solidFill>
                <a:latin typeface="Calibri" pitchFamily="34" charset="0"/>
                <a:ea typeface="Calibri" pitchFamily="34" charset="-122"/>
                <a:cs typeface="Calibri" pitchFamily="34" charset="-120"/>
              </a:rPr>
              <a:t>Parque Temático El Cacique · Cácota, N. de S.</a:t>
            </a:r>
            <a:endParaRPr lang="en-US" sz="900" dirty="0"/>
          </a:p>
        </p:txBody>
      </p:sp>
      <p:sp>
        <p:nvSpPr>
          <p:cNvPr id="24" name="Text 22"/>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E6B65"/>
                </a:solidFill>
                <a:latin typeface="Calibri" pitchFamily="34" charset="0"/>
                <a:ea typeface="Calibri" pitchFamily="34" charset="-122"/>
                <a:cs typeface="Calibri" pitchFamily="34" charset="-120"/>
              </a:rPr>
              <a:t>16 / 19</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28600"/>
          </a:xfrm>
          <a:prstGeom prst="rect">
            <a:avLst/>
          </a:prstGeom>
          <a:noFill/>
          <a:ln/>
        </p:spPr>
        <p:txBody>
          <a:bodyPr wrap="square" lIns="0" tIns="0" rIns="0" bIns="0" rtlCol="0" anchor="ctr"/>
          <a:lstStyle/>
          <a:p>
            <a:pPr indent="0" marL="0">
              <a:buNone/>
            </a:pPr>
            <a:r>
              <a:rPr lang="en-US" sz="1000" b="1" spc="300" kern="0" dirty="0">
                <a:solidFill>
                  <a:srgbClr val="C4622D"/>
                </a:solidFill>
                <a:latin typeface="Calibri" pitchFamily="34" charset="0"/>
                <a:ea typeface="Calibri" pitchFamily="34" charset="-122"/>
                <a:cs typeface="Calibri" pitchFamily="34" charset="-120"/>
              </a:rPr>
              <a:t>07 · CRONOGRAMA</a:t>
            </a:r>
            <a:endParaRPr lang="en-US" sz="1000" dirty="0"/>
          </a:p>
        </p:txBody>
      </p:sp>
      <p:sp>
        <p:nvSpPr>
          <p:cNvPr id="3" name="Text 1"/>
          <p:cNvSpPr txBox="1"/>
          <p:nvPr/>
        </p:nvSpPr>
        <p:spPr>
          <a:xfrm>
            <a:off x="457200" y="566928"/>
            <a:ext cx="8229600" cy="640080"/>
          </a:xfrm>
          <a:prstGeom prst="rect">
            <a:avLst/>
          </a:prstGeom>
          <a:noFill/>
          <a:ln/>
        </p:spPr>
        <p:txBody>
          <a:bodyPr wrap="square" lIns="0" tIns="0" rIns="0" bIns="0" rtlCol="0" anchor="t"/>
          <a:lstStyle/>
          <a:p>
            <a:pPr indent="0" marL="0">
              <a:buNone/>
            </a:pPr>
            <a:r>
              <a:rPr lang="en-US" sz="2800" b="1" dirty="0">
                <a:solidFill>
                  <a:srgbClr val="163A2B"/>
                </a:solidFill>
                <a:latin typeface="Cambria" pitchFamily="34" charset="0"/>
                <a:ea typeface="Cambria" pitchFamily="34" charset="-122"/>
                <a:cs typeface="Cambria" pitchFamily="34" charset="-120"/>
              </a:rPr>
              <a:t>Seis meses: noviembre 2026 – abril 2027</a:t>
            </a:r>
            <a:endParaRPr lang="en-US" sz="2800" dirty="0"/>
          </a:p>
        </p:txBody>
      </p:sp>
      <p:sp>
        <p:nvSpPr>
          <p:cNvPr id="4" name="Text 2"/>
          <p:cNvSpPr txBox="1"/>
          <p:nvPr/>
        </p:nvSpPr>
        <p:spPr>
          <a:xfrm>
            <a:off x="3017520" y="1417320"/>
            <a:ext cx="941832" cy="274320"/>
          </a:xfrm>
          <a:prstGeom prst="rect">
            <a:avLst/>
          </a:prstGeom>
          <a:noFill/>
          <a:ln/>
        </p:spPr>
        <p:txBody>
          <a:bodyPr wrap="square" lIns="0" tIns="0" rIns="0" bIns="0" rtlCol="0" anchor="ctr"/>
          <a:lstStyle/>
          <a:p>
            <a:pPr algn="ctr" indent="0" marL="0">
              <a:buNone/>
            </a:pPr>
            <a:r>
              <a:rPr lang="en-US" sz="1100" b="1" dirty="0">
                <a:solidFill>
                  <a:srgbClr val="5E6B65"/>
                </a:solidFill>
                <a:latin typeface="Calibri" pitchFamily="34" charset="0"/>
                <a:ea typeface="Calibri" pitchFamily="34" charset="-122"/>
                <a:cs typeface="Calibri" pitchFamily="34" charset="-120"/>
              </a:rPr>
              <a:t>Nov</a:t>
            </a:r>
            <a:endParaRPr lang="en-US" sz="1100" dirty="0"/>
          </a:p>
        </p:txBody>
      </p:sp>
      <p:sp>
        <p:nvSpPr>
          <p:cNvPr id="5" name="Text 3"/>
          <p:cNvSpPr txBox="1"/>
          <p:nvPr/>
        </p:nvSpPr>
        <p:spPr>
          <a:xfrm>
            <a:off x="3959352" y="1417320"/>
            <a:ext cx="941832" cy="274320"/>
          </a:xfrm>
          <a:prstGeom prst="rect">
            <a:avLst/>
          </a:prstGeom>
          <a:noFill/>
          <a:ln/>
        </p:spPr>
        <p:txBody>
          <a:bodyPr wrap="square" lIns="0" tIns="0" rIns="0" bIns="0" rtlCol="0" anchor="ctr"/>
          <a:lstStyle/>
          <a:p>
            <a:pPr algn="ctr" indent="0" marL="0">
              <a:buNone/>
            </a:pPr>
            <a:r>
              <a:rPr lang="en-US" sz="1100" b="1" dirty="0">
                <a:solidFill>
                  <a:srgbClr val="5E6B65"/>
                </a:solidFill>
                <a:latin typeface="Calibri" pitchFamily="34" charset="0"/>
                <a:ea typeface="Calibri" pitchFamily="34" charset="-122"/>
                <a:cs typeface="Calibri" pitchFamily="34" charset="-120"/>
              </a:rPr>
              <a:t>Dic</a:t>
            </a:r>
            <a:endParaRPr lang="en-US" sz="1100" dirty="0"/>
          </a:p>
        </p:txBody>
      </p:sp>
      <p:sp>
        <p:nvSpPr>
          <p:cNvPr id="6" name="Text 4"/>
          <p:cNvSpPr txBox="1"/>
          <p:nvPr/>
        </p:nvSpPr>
        <p:spPr>
          <a:xfrm>
            <a:off x="4901184" y="1417320"/>
            <a:ext cx="941832" cy="274320"/>
          </a:xfrm>
          <a:prstGeom prst="rect">
            <a:avLst/>
          </a:prstGeom>
          <a:noFill/>
          <a:ln/>
        </p:spPr>
        <p:txBody>
          <a:bodyPr wrap="square" lIns="0" tIns="0" rIns="0" bIns="0" rtlCol="0" anchor="ctr"/>
          <a:lstStyle/>
          <a:p>
            <a:pPr algn="ctr" indent="0" marL="0">
              <a:buNone/>
            </a:pPr>
            <a:r>
              <a:rPr lang="en-US" sz="1100" b="1" dirty="0">
                <a:solidFill>
                  <a:srgbClr val="5E6B65"/>
                </a:solidFill>
                <a:latin typeface="Calibri" pitchFamily="34" charset="0"/>
                <a:ea typeface="Calibri" pitchFamily="34" charset="-122"/>
                <a:cs typeface="Calibri" pitchFamily="34" charset="-120"/>
              </a:rPr>
              <a:t>Ene</a:t>
            </a:r>
            <a:endParaRPr lang="en-US" sz="1100" dirty="0"/>
          </a:p>
        </p:txBody>
      </p:sp>
      <p:sp>
        <p:nvSpPr>
          <p:cNvPr id="7" name="Text 5"/>
          <p:cNvSpPr txBox="1"/>
          <p:nvPr/>
        </p:nvSpPr>
        <p:spPr>
          <a:xfrm>
            <a:off x="5843016" y="1417320"/>
            <a:ext cx="941832" cy="274320"/>
          </a:xfrm>
          <a:prstGeom prst="rect">
            <a:avLst/>
          </a:prstGeom>
          <a:noFill/>
          <a:ln/>
        </p:spPr>
        <p:txBody>
          <a:bodyPr wrap="square" lIns="0" tIns="0" rIns="0" bIns="0" rtlCol="0" anchor="ctr"/>
          <a:lstStyle/>
          <a:p>
            <a:pPr algn="ctr" indent="0" marL="0">
              <a:buNone/>
            </a:pPr>
            <a:r>
              <a:rPr lang="en-US" sz="1100" b="1" dirty="0">
                <a:solidFill>
                  <a:srgbClr val="5E6B65"/>
                </a:solidFill>
                <a:latin typeface="Calibri" pitchFamily="34" charset="0"/>
                <a:ea typeface="Calibri" pitchFamily="34" charset="-122"/>
                <a:cs typeface="Calibri" pitchFamily="34" charset="-120"/>
              </a:rPr>
              <a:t>Feb</a:t>
            </a:r>
            <a:endParaRPr lang="en-US" sz="1100" dirty="0"/>
          </a:p>
        </p:txBody>
      </p:sp>
      <p:sp>
        <p:nvSpPr>
          <p:cNvPr id="8" name="Text 6"/>
          <p:cNvSpPr txBox="1"/>
          <p:nvPr/>
        </p:nvSpPr>
        <p:spPr>
          <a:xfrm>
            <a:off x="6784848" y="1417320"/>
            <a:ext cx="941832" cy="274320"/>
          </a:xfrm>
          <a:prstGeom prst="rect">
            <a:avLst/>
          </a:prstGeom>
          <a:noFill/>
          <a:ln/>
        </p:spPr>
        <p:txBody>
          <a:bodyPr wrap="square" lIns="0" tIns="0" rIns="0" bIns="0" rtlCol="0" anchor="ctr"/>
          <a:lstStyle/>
          <a:p>
            <a:pPr algn="ctr" indent="0" marL="0">
              <a:buNone/>
            </a:pPr>
            <a:r>
              <a:rPr lang="en-US" sz="1100" b="1" dirty="0">
                <a:solidFill>
                  <a:srgbClr val="5E6B65"/>
                </a:solidFill>
                <a:latin typeface="Calibri" pitchFamily="34" charset="0"/>
                <a:ea typeface="Calibri" pitchFamily="34" charset="-122"/>
                <a:cs typeface="Calibri" pitchFamily="34" charset="-120"/>
              </a:rPr>
              <a:t>Mar</a:t>
            </a:r>
            <a:endParaRPr lang="en-US" sz="1100" dirty="0"/>
          </a:p>
        </p:txBody>
      </p:sp>
      <p:sp>
        <p:nvSpPr>
          <p:cNvPr id="9" name="Text 7"/>
          <p:cNvSpPr txBox="1"/>
          <p:nvPr/>
        </p:nvSpPr>
        <p:spPr>
          <a:xfrm>
            <a:off x="7726680" y="1417320"/>
            <a:ext cx="941832" cy="274320"/>
          </a:xfrm>
          <a:prstGeom prst="rect">
            <a:avLst/>
          </a:prstGeom>
          <a:noFill/>
          <a:ln/>
        </p:spPr>
        <p:txBody>
          <a:bodyPr wrap="square" lIns="0" tIns="0" rIns="0" bIns="0" rtlCol="0" anchor="ctr"/>
          <a:lstStyle/>
          <a:p>
            <a:pPr algn="ctr" indent="0" marL="0">
              <a:buNone/>
            </a:pPr>
            <a:r>
              <a:rPr lang="en-US" sz="1100" b="1" dirty="0">
                <a:solidFill>
                  <a:srgbClr val="5E6B65"/>
                </a:solidFill>
                <a:latin typeface="Calibri" pitchFamily="34" charset="0"/>
                <a:ea typeface="Calibri" pitchFamily="34" charset="-122"/>
                <a:cs typeface="Calibri" pitchFamily="34" charset="-120"/>
              </a:rPr>
              <a:t>Abr</a:t>
            </a:r>
            <a:endParaRPr lang="en-US" sz="1100" dirty="0"/>
          </a:p>
        </p:txBody>
      </p:sp>
      <p:sp>
        <p:nvSpPr>
          <p:cNvPr id="10" name="Shape 8"/>
          <p:cNvSpPr/>
          <p:nvPr/>
        </p:nvSpPr>
        <p:spPr>
          <a:xfrm>
            <a:off x="457200" y="1764792"/>
            <a:ext cx="8229600" cy="356616"/>
          </a:xfrm>
          <a:prstGeom prst="rect">
            <a:avLst/>
          </a:prstGeom>
          <a:solidFill>
            <a:srgbClr val="F3F7F4"/>
          </a:solidFill>
          <a:ln w="12700">
            <a:solidFill>
              <a:srgbClr val="F3F7F4"/>
            </a:solidFill>
            <a:prstDash val="solid"/>
          </a:ln>
        </p:spPr>
      </p:sp>
      <p:sp>
        <p:nvSpPr>
          <p:cNvPr id="11" name="Text 9"/>
          <p:cNvSpPr txBox="1"/>
          <p:nvPr/>
        </p:nvSpPr>
        <p:spPr>
          <a:xfrm>
            <a:off x="548640" y="1801368"/>
            <a:ext cx="2377440" cy="283464"/>
          </a:xfrm>
          <a:prstGeom prst="rect">
            <a:avLst/>
          </a:prstGeom>
          <a:noFill/>
          <a:ln/>
        </p:spPr>
        <p:txBody>
          <a:bodyPr wrap="square" lIns="0" tIns="0" rIns="0" bIns="0" rtlCol="0" anchor="ctr"/>
          <a:lstStyle/>
          <a:p>
            <a:pPr indent="0" marL="0">
              <a:buNone/>
            </a:pPr>
            <a:r>
              <a:rPr lang="en-US" sz="1150" dirty="0">
                <a:solidFill>
                  <a:srgbClr val="1D2622"/>
                </a:solidFill>
                <a:latin typeface="Calibri" pitchFamily="34" charset="0"/>
                <a:ea typeface="Calibri" pitchFamily="34" charset="-122"/>
                <a:cs typeface="Calibri" pitchFamily="34" charset="-120"/>
              </a:rPr>
              <a:t>Revisión y ajustes</a:t>
            </a:r>
            <a:endParaRPr lang="en-US" sz="1150" dirty="0"/>
          </a:p>
        </p:txBody>
      </p:sp>
      <p:sp>
        <p:nvSpPr>
          <p:cNvPr id="12" name="Shape 10"/>
          <p:cNvSpPr/>
          <p:nvPr/>
        </p:nvSpPr>
        <p:spPr>
          <a:xfrm>
            <a:off x="3063240" y="1828800"/>
            <a:ext cx="1792224" cy="228600"/>
          </a:xfrm>
          <a:prstGeom prst="roundRect">
            <a:avLst>
              <a:gd name="adj" fmla="val 48000"/>
            </a:avLst>
          </a:prstGeom>
          <a:solidFill>
            <a:srgbClr val="2F6B4F"/>
          </a:solidFill>
          <a:ln w="12700">
            <a:solidFill>
              <a:srgbClr val="2F6B4F"/>
            </a:solidFill>
            <a:prstDash val="solid"/>
          </a:ln>
        </p:spPr>
      </p:sp>
      <p:sp>
        <p:nvSpPr>
          <p:cNvPr id="13" name="Text 11"/>
          <p:cNvSpPr txBox="1"/>
          <p:nvPr/>
        </p:nvSpPr>
        <p:spPr>
          <a:xfrm>
            <a:off x="548640" y="2157984"/>
            <a:ext cx="2377440" cy="283464"/>
          </a:xfrm>
          <a:prstGeom prst="rect">
            <a:avLst/>
          </a:prstGeom>
          <a:noFill/>
          <a:ln/>
        </p:spPr>
        <p:txBody>
          <a:bodyPr wrap="square" lIns="0" tIns="0" rIns="0" bIns="0" rtlCol="0" anchor="ctr"/>
          <a:lstStyle/>
          <a:p>
            <a:pPr indent="0" marL="0">
              <a:buNone/>
            </a:pPr>
            <a:r>
              <a:rPr lang="en-US" sz="1150" dirty="0">
                <a:solidFill>
                  <a:srgbClr val="1D2622"/>
                </a:solidFill>
                <a:latin typeface="Calibri" pitchFamily="34" charset="0"/>
                <a:ea typeface="Calibri" pitchFamily="34" charset="-122"/>
                <a:cs typeface="Calibri" pitchFamily="34" charset="-120"/>
              </a:rPr>
              <a:t>Reconocimiento y levantamiento</a:t>
            </a:r>
            <a:endParaRPr lang="en-US" sz="1150" dirty="0"/>
          </a:p>
        </p:txBody>
      </p:sp>
      <p:sp>
        <p:nvSpPr>
          <p:cNvPr id="14" name="Shape 12"/>
          <p:cNvSpPr/>
          <p:nvPr/>
        </p:nvSpPr>
        <p:spPr>
          <a:xfrm>
            <a:off x="4005072" y="2185416"/>
            <a:ext cx="1792224" cy="228600"/>
          </a:xfrm>
          <a:prstGeom prst="roundRect">
            <a:avLst>
              <a:gd name="adj" fmla="val 48000"/>
            </a:avLst>
          </a:prstGeom>
          <a:solidFill>
            <a:srgbClr val="2F6B4F"/>
          </a:solidFill>
          <a:ln w="12700">
            <a:solidFill>
              <a:srgbClr val="2F6B4F"/>
            </a:solidFill>
            <a:prstDash val="solid"/>
          </a:ln>
        </p:spPr>
      </p:sp>
      <p:sp>
        <p:nvSpPr>
          <p:cNvPr id="15" name="Shape 13"/>
          <p:cNvSpPr/>
          <p:nvPr/>
        </p:nvSpPr>
        <p:spPr>
          <a:xfrm>
            <a:off x="457200" y="2478024"/>
            <a:ext cx="8229600" cy="356616"/>
          </a:xfrm>
          <a:prstGeom prst="rect">
            <a:avLst/>
          </a:prstGeom>
          <a:solidFill>
            <a:srgbClr val="F3F7F4"/>
          </a:solidFill>
          <a:ln w="12700">
            <a:solidFill>
              <a:srgbClr val="F3F7F4"/>
            </a:solidFill>
            <a:prstDash val="solid"/>
          </a:ln>
        </p:spPr>
      </p:sp>
      <p:sp>
        <p:nvSpPr>
          <p:cNvPr id="16" name="Text 14"/>
          <p:cNvSpPr txBox="1"/>
          <p:nvPr/>
        </p:nvSpPr>
        <p:spPr>
          <a:xfrm>
            <a:off x="548640" y="2514600"/>
            <a:ext cx="2377440" cy="283464"/>
          </a:xfrm>
          <a:prstGeom prst="rect">
            <a:avLst/>
          </a:prstGeom>
          <a:noFill/>
          <a:ln/>
        </p:spPr>
        <p:txBody>
          <a:bodyPr wrap="square" lIns="0" tIns="0" rIns="0" bIns="0" rtlCol="0" anchor="ctr"/>
          <a:lstStyle/>
          <a:p>
            <a:pPr indent="0" marL="0">
              <a:buNone/>
            </a:pPr>
            <a:r>
              <a:rPr lang="en-US" sz="1150" dirty="0">
                <a:solidFill>
                  <a:srgbClr val="1D2622"/>
                </a:solidFill>
                <a:latin typeface="Calibri" pitchFamily="34" charset="0"/>
                <a:ea typeface="Calibri" pitchFamily="34" charset="-122"/>
                <a:cs typeface="Calibri" pitchFamily="34" charset="-120"/>
              </a:rPr>
              <a:t>Sondeos y muestras</a:t>
            </a:r>
            <a:endParaRPr lang="en-US" sz="1150" dirty="0"/>
          </a:p>
        </p:txBody>
      </p:sp>
      <p:sp>
        <p:nvSpPr>
          <p:cNvPr id="17" name="Shape 15"/>
          <p:cNvSpPr/>
          <p:nvPr/>
        </p:nvSpPr>
        <p:spPr>
          <a:xfrm>
            <a:off x="4946904" y="2542032"/>
            <a:ext cx="850392" cy="228600"/>
          </a:xfrm>
          <a:prstGeom prst="roundRect">
            <a:avLst>
              <a:gd name="adj" fmla="val 48000"/>
            </a:avLst>
          </a:prstGeom>
          <a:solidFill>
            <a:srgbClr val="2F6B4F"/>
          </a:solidFill>
          <a:ln w="12700">
            <a:solidFill>
              <a:srgbClr val="2F6B4F"/>
            </a:solidFill>
            <a:prstDash val="solid"/>
          </a:ln>
        </p:spPr>
      </p:sp>
      <p:sp>
        <p:nvSpPr>
          <p:cNvPr id="18" name="Text 16"/>
          <p:cNvSpPr txBox="1"/>
          <p:nvPr/>
        </p:nvSpPr>
        <p:spPr>
          <a:xfrm>
            <a:off x="548640" y="2871216"/>
            <a:ext cx="2377440" cy="283464"/>
          </a:xfrm>
          <a:prstGeom prst="rect">
            <a:avLst/>
          </a:prstGeom>
          <a:noFill/>
          <a:ln/>
        </p:spPr>
        <p:txBody>
          <a:bodyPr wrap="square" lIns="0" tIns="0" rIns="0" bIns="0" rtlCol="0" anchor="ctr"/>
          <a:lstStyle/>
          <a:p>
            <a:pPr indent="0" marL="0">
              <a:buNone/>
            </a:pPr>
            <a:r>
              <a:rPr lang="en-US" sz="1150" dirty="0">
                <a:solidFill>
                  <a:srgbClr val="1D2622"/>
                </a:solidFill>
                <a:latin typeface="Calibri" pitchFamily="34" charset="0"/>
                <a:ea typeface="Calibri" pitchFamily="34" charset="-122"/>
                <a:cs typeface="Calibri" pitchFamily="34" charset="-120"/>
              </a:rPr>
              <a:t>Ensayos de laboratorio</a:t>
            </a:r>
            <a:endParaRPr lang="en-US" sz="1150" dirty="0"/>
          </a:p>
        </p:txBody>
      </p:sp>
      <p:sp>
        <p:nvSpPr>
          <p:cNvPr id="19" name="Shape 17"/>
          <p:cNvSpPr/>
          <p:nvPr/>
        </p:nvSpPr>
        <p:spPr>
          <a:xfrm>
            <a:off x="4946904" y="2898648"/>
            <a:ext cx="1792224" cy="228600"/>
          </a:xfrm>
          <a:prstGeom prst="roundRect">
            <a:avLst>
              <a:gd name="adj" fmla="val 48000"/>
            </a:avLst>
          </a:prstGeom>
          <a:solidFill>
            <a:srgbClr val="2F6B4F"/>
          </a:solidFill>
          <a:ln w="12700">
            <a:solidFill>
              <a:srgbClr val="2F6B4F"/>
            </a:solidFill>
            <a:prstDash val="solid"/>
          </a:ln>
        </p:spPr>
      </p:sp>
      <p:sp>
        <p:nvSpPr>
          <p:cNvPr id="20" name="Shape 18"/>
          <p:cNvSpPr/>
          <p:nvPr/>
        </p:nvSpPr>
        <p:spPr>
          <a:xfrm>
            <a:off x="457200" y="3191256"/>
            <a:ext cx="8229600" cy="356616"/>
          </a:xfrm>
          <a:prstGeom prst="rect">
            <a:avLst/>
          </a:prstGeom>
          <a:solidFill>
            <a:srgbClr val="F3F7F4"/>
          </a:solidFill>
          <a:ln w="12700">
            <a:solidFill>
              <a:srgbClr val="F3F7F4"/>
            </a:solidFill>
            <a:prstDash val="solid"/>
          </a:ln>
        </p:spPr>
      </p:sp>
      <p:sp>
        <p:nvSpPr>
          <p:cNvPr id="21" name="Text 19"/>
          <p:cNvSpPr txBox="1"/>
          <p:nvPr/>
        </p:nvSpPr>
        <p:spPr>
          <a:xfrm>
            <a:off x="548640" y="3227832"/>
            <a:ext cx="2377440" cy="283464"/>
          </a:xfrm>
          <a:prstGeom prst="rect">
            <a:avLst/>
          </a:prstGeom>
          <a:noFill/>
          <a:ln/>
        </p:spPr>
        <p:txBody>
          <a:bodyPr wrap="square" lIns="0" tIns="0" rIns="0" bIns="0" rtlCol="0" anchor="ctr"/>
          <a:lstStyle/>
          <a:p>
            <a:pPr indent="0" marL="0">
              <a:buNone/>
            </a:pPr>
            <a:r>
              <a:rPr lang="en-US" sz="1150" dirty="0">
                <a:solidFill>
                  <a:srgbClr val="1D2622"/>
                </a:solidFill>
                <a:latin typeface="Calibri" pitchFamily="34" charset="0"/>
                <a:ea typeface="Calibri" pitchFamily="34" charset="-122"/>
                <a:cs typeface="Calibri" pitchFamily="34" charset="-120"/>
              </a:rPr>
              <a:t>Análisis hidrológico</a:t>
            </a:r>
            <a:endParaRPr lang="en-US" sz="1150" dirty="0"/>
          </a:p>
        </p:txBody>
      </p:sp>
      <p:sp>
        <p:nvSpPr>
          <p:cNvPr id="22" name="Shape 20"/>
          <p:cNvSpPr/>
          <p:nvPr/>
        </p:nvSpPr>
        <p:spPr>
          <a:xfrm>
            <a:off x="4946904" y="3255264"/>
            <a:ext cx="1792224" cy="228600"/>
          </a:xfrm>
          <a:prstGeom prst="roundRect">
            <a:avLst>
              <a:gd name="adj" fmla="val 48000"/>
            </a:avLst>
          </a:prstGeom>
          <a:solidFill>
            <a:srgbClr val="2F6B4F"/>
          </a:solidFill>
          <a:ln w="12700">
            <a:solidFill>
              <a:srgbClr val="2F6B4F"/>
            </a:solidFill>
            <a:prstDash val="solid"/>
          </a:ln>
        </p:spPr>
      </p:sp>
      <p:sp>
        <p:nvSpPr>
          <p:cNvPr id="23" name="Text 21"/>
          <p:cNvSpPr txBox="1"/>
          <p:nvPr/>
        </p:nvSpPr>
        <p:spPr>
          <a:xfrm>
            <a:off x="548640" y="3584448"/>
            <a:ext cx="2377440" cy="283464"/>
          </a:xfrm>
          <a:prstGeom prst="rect">
            <a:avLst/>
          </a:prstGeom>
          <a:noFill/>
          <a:ln/>
        </p:spPr>
        <p:txBody>
          <a:bodyPr wrap="square" lIns="0" tIns="0" rIns="0" bIns="0" rtlCol="0" anchor="ctr"/>
          <a:lstStyle/>
          <a:p>
            <a:pPr indent="0" marL="0">
              <a:buNone/>
            </a:pPr>
            <a:r>
              <a:rPr lang="en-US" sz="1150" dirty="0">
                <a:solidFill>
                  <a:srgbClr val="1D2622"/>
                </a:solidFill>
                <a:latin typeface="Calibri" pitchFamily="34" charset="0"/>
                <a:ea typeface="Calibri" pitchFamily="34" charset="-122"/>
                <a:cs typeface="Calibri" pitchFamily="34" charset="-120"/>
              </a:rPr>
              <a:t>Modelación de estabilidad</a:t>
            </a:r>
            <a:endParaRPr lang="en-US" sz="1150" dirty="0"/>
          </a:p>
        </p:txBody>
      </p:sp>
      <p:sp>
        <p:nvSpPr>
          <p:cNvPr id="24" name="Shape 22"/>
          <p:cNvSpPr/>
          <p:nvPr/>
        </p:nvSpPr>
        <p:spPr>
          <a:xfrm>
            <a:off x="5888736" y="3611880"/>
            <a:ext cx="1792224" cy="228600"/>
          </a:xfrm>
          <a:prstGeom prst="roundRect">
            <a:avLst>
              <a:gd name="adj" fmla="val 48000"/>
            </a:avLst>
          </a:prstGeom>
          <a:solidFill>
            <a:srgbClr val="2F6B4F"/>
          </a:solidFill>
          <a:ln w="12700">
            <a:solidFill>
              <a:srgbClr val="2F6B4F"/>
            </a:solidFill>
            <a:prstDash val="solid"/>
          </a:ln>
        </p:spPr>
      </p:sp>
      <p:sp>
        <p:nvSpPr>
          <p:cNvPr id="25" name="Shape 23"/>
          <p:cNvSpPr/>
          <p:nvPr/>
        </p:nvSpPr>
        <p:spPr>
          <a:xfrm>
            <a:off x="457200" y="3904488"/>
            <a:ext cx="8229600" cy="356616"/>
          </a:xfrm>
          <a:prstGeom prst="rect">
            <a:avLst/>
          </a:prstGeom>
          <a:solidFill>
            <a:srgbClr val="F3F7F4"/>
          </a:solidFill>
          <a:ln w="12700">
            <a:solidFill>
              <a:srgbClr val="F3F7F4"/>
            </a:solidFill>
            <a:prstDash val="solid"/>
          </a:ln>
        </p:spPr>
      </p:sp>
      <p:sp>
        <p:nvSpPr>
          <p:cNvPr id="26" name="Text 24"/>
          <p:cNvSpPr txBox="1"/>
          <p:nvPr/>
        </p:nvSpPr>
        <p:spPr>
          <a:xfrm>
            <a:off x="548640" y="3941064"/>
            <a:ext cx="2377440" cy="283464"/>
          </a:xfrm>
          <a:prstGeom prst="rect">
            <a:avLst/>
          </a:prstGeom>
          <a:noFill/>
          <a:ln/>
        </p:spPr>
        <p:txBody>
          <a:bodyPr wrap="square" lIns="0" tIns="0" rIns="0" bIns="0" rtlCol="0" anchor="ctr"/>
          <a:lstStyle/>
          <a:p>
            <a:pPr indent="0" marL="0">
              <a:buNone/>
            </a:pPr>
            <a:r>
              <a:rPr lang="en-US" sz="1150" dirty="0">
                <a:solidFill>
                  <a:srgbClr val="1D2622"/>
                </a:solidFill>
                <a:latin typeface="Calibri" pitchFamily="34" charset="0"/>
                <a:ea typeface="Calibri" pitchFamily="34" charset="-122"/>
                <a:cs typeface="Calibri" pitchFamily="34" charset="-120"/>
              </a:rPr>
              <a:t>Alternativas y prediseño</a:t>
            </a:r>
            <a:endParaRPr lang="en-US" sz="1150" dirty="0"/>
          </a:p>
        </p:txBody>
      </p:sp>
      <p:sp>
        <p:nvSpPr>
          <p:cNvPr id="27" name="Shape 25"/>
          <p:cNvSpPr/>
          <p:nvPr/>
        </p:nvSpPr>
        <p:spPr>
          <a:xfrm>
            <a:off x="6830568" y="3968496"/>
            <a:ext cx="1792224" cy="228600"/>
          </a:xfrm>
          <a:prstGeom prst="roundRect">
            <a:avLst>
              <a:gd name="adj" fmla="val 48000"/>
            </a:avLst>
          </a:prstGeom>
          <a:solidFill>
            <a:srgbClr val="C4622D"/>
          </a:solidFill>
          <a:ln w="12700">
            <a:solidFill>
              <a:srgbClr val="C4622D"/>
            </a:solidFill>
            <a:prstDash val="solid"/>
          </a:ln>
        </p:spPr>
      </p:sp>
      <p:sp>
        <p:nvSpPr>
          <p:cNvPr id="28" name="Text 26"/>
          <p:cNvSpPr txBox="1"/>
          <p:nvPr/>
        </p:nvSpPr>
        <p:spPr>
          <a:xfrm>
            <a:off x="548640" y="4297680"/>
            <a:ext cx="2377440" cy="283464"/>
          </a:xfrm>
          <a:prstGeom prst="rect">
            <a:avLst/>
          </a:prstGeom>
          <a:noFill/>
          <a:ln/>
        </p:spPr>
        <p:txBody>
          <a:bodyPr wrap="square" lIns="0" tIns="0" rIns="0" bIns="0" rtlCol="0" anchor="ctr"/>
          <a:lstStyle/>
          <a:p>
            <a:pPr indent="0" marL="0">
              <a:buNone/>
            </a:pPr>
            <a:r>
              <a:rPr lang="en-US" sz="1150" dirty="0">
                <a:solidFill>
                  <a:srgbClr val="1D2622"/>
                </a:solidFill>
                <a:latin typeface="Calibri" pitchFamily="34" charset="0"/>
                <a:ea typeface="Calibri" pitchFamily="34" charset="-122"/>
                <a:cs typeface="Calibri" pitchFamily="34" charset="-120"/>
              </a:rPr>
              <a:t>Redacción y sustentación</a:t>
            </a:r>
            <a:endParaRPr lang="en-US" sz="1150" dirty="0"/>
          </a:p>
        </p:txBody>
      </p:sp>
      <p:sp>
        <p:nvSpPr>
          <p:cNvPr id="29" name="Shape 27"/>
          <p:cNvSpPr/>
          <p:nvPr/>
        </p:nvSpPr>
        <p:spPr>
          <a:xfrm>
            <a:off x="6830568" y="4325112"/>
            <a:ext cx="1792224" cy="228600"/>
          </a:xfrm>
          <a:prstGeom prst="roundRect">
            <a:avLst>
              <a:gd name="adj" fmla="val 48000"/>
            </a:avLst>
          </a:prstGeom>
          <a:solidFill>
            <a:srgbClr val="C4622D"/>
          </a:solidFill>
          <a:ln w="12700">
            <a:solidFill>
              <a:srgbClr val="C4622D"/>
            </a:solidFill>
            <a:prstDash val="solid"/>
          </a:ln>
        </p:spPr>
      </p:sp>
      <p:sp>
        <p:nvSpPr>
          <p:cNvPr id="30" name="Text 28"/>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E6B65"/>
                </a:solidFill>
                <a:latin typeface="Calibri" pitchFamily="34" charset="0"/>
                <a:ea typeface="Calibri" pitchFamily="34" charset="-122"/>
                <a:cs typeface="Calibri" pitchFamily="34" charset="-120"/>
              </a:rPr>
              <a:t>Parque Temático El Cacique · Cácota, N. de S.</a:t>
            </a:r>
            <a:endParaRPr lang="en-US" sz="900" dirty="0"/>
          </a:p>
        </p:txBody>
      </p:sp>
      <p:sp>
        <p:nvSpPr>
          <p:cNvPr id="31" name="Text 29"/>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E6B65"/>
                </a:solidFill>
                <a:latin typeface="Calibri" pitchFamily="34" charset="0"/>
                <a:ea typeface="Calibri" pitchFamily="34" charset="-122"/>
                <a:cs typeface="Calibri" pitchFamily="34" charset="-120"/>
              </a:rPr>
              <a:t>17 / 19</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7F4"/>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28600"/>
          </a:xfrm>
          <a:prstGeom prst="rect">
            <a:avLst/>
          </a:prstGeom>
          <a:noFill/>
          <a:ln/>
        </p:spPr>
        <p:txBody>
          <a:bodyPr wrap="square" lIns="0" tIns="0" rIns="0" bIns="0" rtlCol="0" anchor="ctr"/>
          <a:lstStyle/>
          <a:p>
            <a:pPr indent="0" marL="0">
              <a:buNone/>
            </a:pPr>
            <a:r>
              <a:rPr lang="en-US" sz="1000" b="1" spc="300" kern="0" dirty="0">
                <a:solidFill>
                  <a:srgbClr val="C4622D"/>
                </a:solidFill>
                <a:latin typeface="Calibri" pitchFamily="34" charset="0"/>
                <a:ea typeface="Calibri" pitchFamily="34" charset="-122"/>
                <a:cs typeface="Calibri" pitchFamily="34" charset="-120"/>
              </a:rPr>
              <a:t>07 · PRESUPUESTO</a:t>
            </a:r>
            <a:endParaRPr lang="en-US" sz="1000" dirty="0"/>
          </a:p>
        </p:txBody>
      </p:sp>
      <p:sp>
        <p:nvSpPr>
          <p:cNvPr id="3" name="Text 1"/>
          <p:cNvSpPr txBox="1"/>
          <p:nvPr/>
        </p:nvSpPr>
        <p:spPr>
          <a:xfrm>
            <a:off x="457200" y="566928"/>
            <a:ext cx="8229600" cy="640080"/>
          </a:xfrm>
          <a:prstGeom prst="rect">
            <a:avLst/>
          </a:prstGeom>
          <a:noFill/>
          <a:ln/>
        </p:spPr>
        <p:txBody>
          <a:bodyPr wrap="square" lIns="0" tIns="0" rIns="0" bIns="0" rtlCol="0" anchor="t"/>
          <a:lstStyle/>
          <a:p>
            <a:pPr indent="0" marL="0">
              <a:buNone/>
            </a:pPr>
            <a:r>
              <a:rPr lang="en-US" sz="2800" b="1" dirty="0">
                <a:solidFill>
                  <a:srgbClr val="163A2B"/>
                </a:solidFill>
                <a:latin typeface="Cambria" pitchFamily="34" charset="0"/>
                <a:ea typeface="Cambria" pitchFamily="34" charset="-122"/>
                <a:cs typeface="Cambria" pitchFamily="34" charset="-120"/>
              </a:rPr>
              <a:t>Inversión estimada de la investigación</a:t>
            </a:r>
            <a:endParaRPr lang="en-US" sz="2800" dirty="0"/>
          </a:p>
        </p:txBody>
      </p:sp>
      <p:graphicFrame>
        <p:nvGraphicFramePr>
          <p:cNvPr id="4" name="Chart 0" descr=""/>
          <p:cNvGraphicFramePr/>
          <p:nvPr/>
        </p:nvGraphicFramePr>
        <p:xfrm>
          <a:off x="365760" y="1280160"/>
          <a:ext cx="5394960" cy="33832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035040" y="1371600"/>
            <a:ext cx="2651760" cy="1828800"/>
          </a:xfrm>
          <a:prstGeom prst="roundRect">
            <a:avLst>
              <a:gd name="adj" fmla="val 5000"/>
            </a:avLst>
          </a:prstGeom>
          <a:solidFill>
            <a:srgbClr val="163A2B"/>
          </a:solidFill>
          <a:ln w="12700">
            <a:solidFill>
              <a:srgbClr val="163A2B"/>
            </a:solidFill>
            <a:prstDash val="solid"/>
          </a:ln>
        </p:spPr>
      </p:sp>
      <p:sp>
        <p:nvSpPr>
          <p:cNvPr id="6" name="Text 3"/>
          <p:cNvSpPr txBox="1"/>
          <p:nvPr/>
        </p:nvSpPr>
        <p:spPr>
          <a:xfrm>
            <a:off x="6263640" y="1554480"/>
            <a:ext cx="2286000" cy="274320"/>
          </a:xfrm>
          <a:prstGeom prst="rect">
            <a:avLst/>
          </a:prstGeom>
          <a:noFill/>
          <a:ln/>
        </p:spPr>
        <p:txBody>
          <a:bodyPr wrap="square" lIns="0" tIns="0" rIns="0" bIns="0" rtlCol="0" anchor="ctr"/>
          <a:lstStyle/>
          <a:p>
            <a:pPr indent="0" marL="0">
              <a:buNone/>
            </a:pPr>
            <a:r>
              <a:rPr lang="en-US" sz="1000" b="1" spc="200" kern="0" dirty="0">
                <a:solidFill>
                  <a:srgbClr val="E3A43B"/>
                </a:solidFill>
                <a:latin typeface="Calibri" pitchFamily="34" charset="0"/>
                <a:ea typeface="Calibri" pitchFamily="34" charset="-122"/>
                <a:cs typeface="Calibri" pitchFamily="34" charset="-120"/>
              </a:rPr>
              <a:t>TOTAL ESTIMADO</a:t>
            </a:r>
            <a:endParaRPr lang="en-US" sz="1000" dirty="0"/>
          </a:p>
        </p:txBody>
      </p:sp>
      <p:sp>
        <p:nvSpPr>
          <p:cNvPr id="7" name="Text 4"/>
          <p:cNvSpPr txBox="1"/>
          <p:nvPr/>
        </p:nvSpPr>
        <p:spPr>
          <a:xfrm>
            <a:off x="6263640" y="1874520"/>
            <a:ext cx="2286000" cy="6858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$8,34 M</a:t>
            </a:r>
            <a:endParaRPr lang="en-US" sz="3600" dirty="0"/>
          </a:p>
        </p:txBody>
      </p:sp>
      <p:sp>
        <p:nvSpPr>
          <p:cNvPr id="8" name="Text 5"/>
          <p:cNvSpPr txBox="1"/>
          <p:nvPr/>
        </p:nvSpPr>
        <p:spPr>
          <a:xfrm>
            <a:off x="6263640" y="2606040"/>
            <a:ext cx="2286000" cy="365760"/>
          </a:xfrm>
          <a:prstGeom prst="rect">
            <a:avLst/>
          </a:prstGeom>
          <a:noFill/>
          <a:ln/>
        </p:spPr>
        <p:txBody>
          <a:bodyPr wrap="square" lIns="0" tIns="0" rIns="0" bIns="0" rtlCol="0" anchor="ctr"/>
          <a:lstStyle/>
          <a:p>
            <a:pPr indent="0" marL="0">
              <a:buNone/>
            </a:pPr>
            <a:r>
              <a:rPr lang="en-US" sz="1100" dirty="0">
                <a:solidFill>
                  <a:srgbClr val="BFD6C8"/>
                </a:solidFill>
                <a:latin typeface="Calibri" pitchFamily="34" charset="0"/>
                <a:ea typeface="Calibri" pitchFamily="34" charset="-122"/>
                <a:cs typeface="Calibri" pitchFamily="34" charset="-120"/>
              </a:rPr>
              <a:t>COP · incluye 10 % de imprevistos</a:t>
            </a:r>
            <a:endParaRPr lang="en-US" sz="1100" dirty="0"/>
          </a:p>
        </p:txBody>
      </p:sp>
      <p:sp>
        <p:nvSpPr>
          <p:cNvPr id="9" name="Text 6"/>
          <p:cNvSpPr txBox="1"/>
          <p:nvPr/>
        </p:nvSpPr>
        <p:spPr>
          <a:xfrm>
            <a:off x="6035040" y="3383280"/>
            <a:ext cx="2651760" cy="1005840"/>
          </a:xfrm>
          <a:prstGeom prst="rect">
            <a:avLst/>
          </a:prstGeom>
          <a:noFill/>
          <a:ln/>
        </p:spPr>
        <p:txBody>
          <a:bodyPr wrap="square" lIns="0" tIns="0" rIns="0" bIns="0" rtlCol="0" anchor="t"/>
          <a:lstStyle/>
          <a:p>
            <a:pPr indent="0" marL="0">
              <a:buNone/>
            </a:pPr>
            <a:r>
              <a:rPr lang="en-US" sz="1150" dirty="0">
                <a:solidFill>
                  <a:srgbClr val="5E6B65"/>
                </a:solidFill>
                <a:latin typeface="Calibri" pitchFamily="34" charset="0"/>
                <a:ea typeface="Calibri" pitchFamily="34" charset="-122"/>
                <a:cs typeface="Calibri" pitchFamily="34" charset="-120"/>
              </a:rPr>
              <a:t>Recursos propios + apoyo de la Alcaldía (maquinaria, acceso) y de la universidad (laboratorio y software).</a:t>
            </a:r>
            <a:endParaRPr lang="en-US" sz="1150" dirty="0"/>
          </a:p>
        </p:txBody>
      </p:sp>
      <p:sp>
        <p:nvSpPr>
          <p:cNvPr id="10" name="Text 7"/>
          <p:cNvSpPr txBox="1"/>
          <p:nvPr/>
        </p:nvSpPr>
        <p:spPr>
          <a:xfrm>
            <a:off x="457200" y="4572000"/>
            <a:ext cx="5029200" cy="182880"/>
          </a:xfrm>
          <a:prstGeom prst="rect">
            <a:avLst/>
          </a:prstGeom>
          <a:noFill/>
          <a:ln/>
        </p:spPr>
        <p:txBody>
          <a:bodyPr wrap="square" lIns="0" tIns="0" rIns="0" bIns="0" rtlCol="0" anchor="ctr"/>
          <a:lstStyle/>
          <a:p>
            <a:pPr indent="0" marL="0">
              <a:buNone/>
            </a:pPr>
            <a:r>
              <a:rPr lang="en-US" sz="900" i="1" dirty="0">
                <a:solidFill>
                  <a:srgbClr val="5E6B65"/>
                </a:solidFill>
                <a:latin typeface="Calibri" pitchFamily="34" charset="0"/>
                <a:ea typeface="Calibri" pitchFamily="34" charset="-122"/>
                <a:cs typeface="Calibri" pitchFamily="34" charset="-120"/>
              </a:rPr>
              <a:t>Valores en millones de pesos, sujetos a cotización</a:t>
            </a:r>
            <a:endParaRPr lang="en-US" sz="900" dirty="0"/>
          </a:p>
        </p:txBody>
      </p:sp>
      <p:sp>
        <p:nvSpPr>
          <p:cNvPr id="11" name="Text 8"/>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E6B65"/>
                </a:solidFill>
                <a:latin typeface="Calibri" pitchFamily="34" charset="0"/>
                <a:ea typeface="Calibri" pitchFamily="34" charset="-122"/>
                <a:cs typeface="Calibri" pitchFamily="34" charset="-120"/>
              </a:rPr>
              <a:t>Parque Temático El Cacique · Cácota, N. de S.</a:t>
            </a:r>
            <a:endParaRPr lang="en-US" sz="900" dirty="0"/>
          </a:p>
        </p:txBody>
      </p:sp>
      <p:sp>
        <p:nvSpPr>
          <p:cNvPr id="12" name="Text 9"/>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E6B65"/>
                </a:solidFill>
                <a:latin typeface="Calibri" pitchFamily="34" charset="0"/>
                <a:ea typeface="Calibri" pitchFamily="34" charset="-122"/>
                <a:cs typeface="Calibri" pitchFamily="34" charset="-120"/>
              </a:rPr>
              <a:t>18 / 19</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163A2B">
              <a:alpha val="85000"/>
            </a:srgbClr>
          </a:solidFill>
          <a:ln w="12700">
            <a:solidFill>
              <a:srgbClr val="163A2B">
                <a:alpha val="0"/>
              </a:srgbClr>
            </a:solidFill>
            <a:prstDash val="solid"/>
          </a:ln>
        </p:spPr>
      </p:sp>
      <p:sp>
        <p:nvSpPr>
          <p:cNvPr id="4" name="Text 1"/>
          <p:cNvSpPr txBox="1"/>
          <p:nvPr/>
        </p:nvSpPr>
        <p:spPr>
          <a:xfrm>
            <a:off x="548640" y="457200"/>
            <a:ext cx="5486400" cy="274320"/>
          </a:xfrm>
          <a:prstGeom prst="rect">
            <a:avLst/>
          </a:prstGeom>
          <a:noFill/>
          <a:ln/>
        </p:spPr>
        <p:txBody>
          <a:bodyPr wrap="square" lIns="0" tIns="0" rIns="0" bIns="0" rtlCol="0" anchor="ctr"/>
          <a:lstStyle/>
          <a:p>
            <a:pPr indent="0" marL="0">
              <a:buNone/>
            </a:pPr>
            <a:r>
              <a:rPr lang="en-US" sz="1000" b="1" spc="300" kern="0" dirty="0">
                <a:solidFill>
                  <a:srgbClr val="E3A43B"/>
                </a:solidFill>
                <a:latin typeface="Calibri" pitchFamily="34" charset="0"/>
                <a:ea typeface="Calibri" pitchFamily="34" charset="-122"/>
                <a:cs typeface="Calibri" pitchFamily="34" charset="-120"/>
              </a:rPr>
              <a:t>08 · RESULTADOS ESPERADOS</a:t>
            </a:r>
            <a:endParaRPr lang="en-US" sz="1000" dirty="0"/>
          </a:p>
        </p:txBody>
      </p:sp>
      <p:sp>
        <p:nvSpPr>
          <p:cNvPr id="5" name="Shape 2"/>
          <p:cNvSpPr/>
          <p:nvPr/>
        </p:nvSpPr>
        <p:spPr>
          <a:xfrm>
            <a:off x="548640" y="950976"/>
            <a:ext cx="292608" cy="292608"/>
          </a:xfrm>
          <a:prstGeom prst="ellipse">
            <a:avLst/>
          </a:prstGeom>
          <a:solidFill>
            <a:srgbClr val="C4622D"/>
          </a:solidFill>
          <a:ln w="12700">
            <a:solidFill>
              <a:srgbClr val="C4622D"/>
            </a:solidFill>
            <a:prstDash val="solid"/>
          </a:ln>
        </p:spPr>
      </p:sp>
      <p:pic>
        <p:nvPicPr>
          <p:cNvPr id="6" name="Image 1" descr="preencoded.png">    </p:cNvPr>
          <p:cNvPicPr>
            <a:picLocks noChangeAspect="1"/>
          </p:cNvPicPr>
          <p:nvPr/>
        </p:nvPicPr>
        <p:blipFill>
          <a:blip r:embed="rId2"/>
          <a:stretch>
            <a:fillRect/>
          </a:stretch>
        </p:blipFill>
        <p:spPr>
          <a:xfrm>
            <a:off x="621792" y="1024128"/>
            <a:ext cx="146304" cy="146304"/>
          </a:xfrm>
          <a:prstGeom prst="rect">
            <a:avLst/>
          </a:prstGeom>
        </p:spPr>
      </p:pic>
      <p:sp>
        <p:nvSpPr>
          <p:cNvPr id="7" name="Text 3"/>
          <p:cNvSpPr txBox="1"/>
          <p:nvPr/>
        </p:nvSpPr>
        <p:spPr>
          <a:xfrm>
            <a:off x="1005840" y="914400"/>
            <a:ext cx="420624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Modelo geotécnico actualizado</a:t>
            </a:r>
            <a:endParaRPr lang="en-US" sz="1500" dirty="0"/>
          </a:p>
        </p:txBody>
      </p:sp>
      <p:sp>
        <p:nvSpPr>
          <p:cNvPr id="8" name="Shape 4"/>
          <p:cNvSpPr/>
          <p:nvPr/>
        </p:nvSpPr>
        <p:spPr>
          <a:xfrm>
            <a:off x="548640" y="1426464"/>
            <a:ext cx="292608" cy="292608"/>
          </a:xfrm>
          <a:prstGeom prst="ellipse">
            <a:avLst/>
          </a:prstGeom>
          <a:solidFill>
            <a:srgbClr val="C4622D"/>
          </a:solidFill>
          <a:ln w="12700">
            <a:solidFill>
              <a:srgbClr val="C4622D"/>
            </a:solidFill>
            <a:prstDash val="solid"/>
          </a:ln>
        </p:spPr>
      </p:sp>
      <p:pic>
        <p:nvPicPr>
          <p:cNvPr id="9" name="Image 2" descr="preencoded.png">    </p:cNvPr>
          <p:cNvPicPr>
            <a:picLocks noChangeAspect="1"/>
          </p:cNvPicPr>
          <p:nvPr/>
        </p:nvPicPr>
        <p:blipFill>
          <a:blip r:embed="rId3"/>
          <a:stretch>
            <a:fillRect/>
          </a:stretch>
        </p:blipFill>
        <p:spPr>
          <a:xfrm>
            <a:off x="621792" y="1499616"/>
            <a:ext cx="146304" cy="146304"/>
          </a:xfrm>
          <a:prstGeom prst="rect">
            <a:avLst/>
          </a:prstGeom>
        </p:spPr>
      </p:pic>
      <p:sp>
        <p:nvSpPr>
          <p:cNvPr id="10" name="Text 5"/>
          <p:cNvSpPr txBox="1"/>
          <p:nvPr/>
        </p:nvSpPr>
        <p:spPr>
          <a:xfrm>
            <a:off x="1005840" y="1389888"/>
            <a:ext cx="420624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Memoria hidrológica por microcuenca</a:t>
            </a:r>
            <a:endParaRPr lang="en-US" sz="1500" dirty="0"/>
          </a:p>
        </p:txBody>
      </p:sp>
      <p:sp>
        <p:nvSpPr>
          <p:cNvPr id="11" name="Shape 6"/>
          <p:cNvSpPr/>
          <p:nvPr/>
        </p:nvSpPr>
        <p:spPr>
          <a:xfrm>
            <a:off x="548640" y="1901952"/>
            <a:ext cx="292608" cy="292608"/>
          </a:xfrm>
          <a:prstGeom prst="ellipse">
            <a:avLst/>
          </a:prstGeom>
          <a:solidFill>
            <a:srgbClr val="C4622D"/>
          </a:solidFill>
          <a:ln w="12700">
            <a:solidFill>
              <a:srgbClr val="C4622D"/>
            </a:solidFill>
            <a:prstDash val="solid"/>
          </a:ln>
        </p:spPr>
      </p:sp>
      <p:pic>
        <p:nvPicPr>
          <p:cNvPr id="12" name="Image 3" descr="preencoded.png">    </p:cNvPr>
          <p:cNvPicPr>
            <a:picLocks noChangeAspect="1"/>
          </p:cNvPicPr>
          <p:nvPr/>
        </p:nvPicPr>
        <p:blipFill>
          <a:blip r:embed="rId4"/>
          <a:stretch>
            <a:fillRect/>
          </a:stretch>
        </p:blipFill>
        <p:spPr>
          <a:xfrm>
            <a:off x="621792" y="1975104"/>
            <a:ext cx="146304" cy="146304"/>
          </a:xfrm>
          <a:prstGeom prst="rect">
            <a:avLst/>
          </a:prstGeom>
        </p:spPr>
      </p:pic>
      <p:sp>
        <p:nvSpPr>
          <p:cNvPr id="13" name="Text 7"/>
          <p:cNvSpPr txBox="1"/>
          <p:nvPr/>
        </p:nvSpPr>
        <p:spPr>
          <a:xfrm>
            <a:off x="1005840" y="1865376"/>
            <a:ext cx="420624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Factores de seguridad por escenario</a:t>
            </a:r>
            <a:endParaRPr lang="en-US" sz="1500" dirty="0"/>
          </a:p>
        </p:txBody>
      </p:sp>
      <p:sp>
        <p:nvSpPr>
          <p:cNvPr id="14" name="Shape 8"/>
          <p:cNvSpPr/>
          <p:nvPr/>
        </p:nvSpPr>
        <p:spPr>
          <a:xfrm>
            <a:off x="548640" y="2377440"/>
            <a:ext cx="292608" cy="292608"/>
          </a:xfrm>
          <a:prstGeom prst="ellipse">
            <a:avLst/>
          </a:prstGeom>
          <a:solidFill>
            <a:srgbClr val="C4622D"/>
          </a:solidFill>
          <a:ln w="12700">
            <a:solidFill>
              <a:srgbClr val="C4622D"/>
            </a:solidFill>
            <a:prstDash val="solid"/>
          </a:ln>
        </p:spPr>
      </p:sp>
      <p:pic>
        <p:nvPicPr>
          <p:cNvPr id="15" name="Image 4" descr="preencoded.png">    </p:cNvPr>
          <p:cNvPicPr>
            <a:picLocks noChangeAspect="1"/>
          </p:cNvPicPr>
          <p:nvPr/>
        </p:nvPicPr>
        <p:blipFill>
          <a:blip r:embed="rId5"/>
          <a:stretch>
            <a:fillRect/>
          </a:stretch>
        </p:blipFill>
        <p:spPr>
          <a:xfrm>
            <a:off x="621792" y="2450592"/>
            <a:ext cx="146304" cy="146304"/>
          </a:xfrm>
          <a:prstGeom prst="rect">
            <a:avLst/>
          </a:prstGeom>
        </p:spPr>
      </p:pic>
      <p:sp>
        <p:nvSpPr>
          <p:cNvPr id="16" name="Text 9"/>
          <p:cNvSpPr txBox="1"/>
          <p:nvPr/>
        </p:nvSpPr>
        <p:spPr>
          <a:xfrm>
            <a:off x="1005840" y="2340864"/>
            <a:ext cx="420624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Prediseño de la alternativa elegida</a:t>
            </a:r>
            <a:endParaRPr lang="en-US" sz="1500" dirty="0"/>
          </a:p>
        </p:txBody>
      </p:sp>
      <p:sp>
        <p:nvSpPr>
          <p:cNvPr id="17" name="Shape 10"/>
          <p:cNvSpPr/>
          <p:nvPr/>
        </p:nvSpPr>
        <p:spPr>
          <a:xfrm>
            <a:off x="548640" y="2852928"/>
            <a:ext cx="292608" cy="292608"/>
          </a:xfrm>
          <a:prstGeom prst="ellipse">
            <a:avLst/>
          </a:prstGeom>
          <a:solidFill>
            <a:srgbClr val="C4622D"/>
          </a:solidFill>
          <a:ln w="12700">
            <a:solidFill>
              <a:srgbClr val="C4622D"/>
            </a:solidFill>
            <a:prstDash val="solid"/>
          </a:ln>
        </p:spPr>
      </p:sp>
      <p:pic>
        <p:nvPicPr>
          <p:cNvPr id="18" name="Image 5" descr="preencoded.png">    </p:cNvPr>
          <p:cNvPicPr>
            <a:picLocks noChangeAspect="1"/>
          </p:cNvPicPr>
          <p:nvPr/>
        </p:nvPicPr>
        <p:blipFill>
          <a:blip r:embed="rId6"/>
          <a:stretch>
            <a:fillRect/>
          </a:stretch>
        </p:blipFill>
        <p:spPr>
          <a:xfrm>
            <a:off x="621792" y="2926080"/>
            <a:ext cx="146304" cy="146304"/>
          </a:xfrm>
          <a:prstGeom prst="rect">
            <a:avLst/>
          </a:prstGeom>
        </p:spPr>
      </p:pic>
      <p:sp>
        <p:nvSpPr>
          <p:cNvPr id="19" name="Text 11"/>
          <p:cNvSpPr txBox="1"/>
          <p:nvPr/>
        </p:nvSpPr>
        <p:spPr>
          <a:xfrm>
            <a:off x="1005840" y="2816352"/>
            <a:ext cx="420624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Guía de protección del canal</a:t>
            </a:r>
            <a:endParaRPr lang="en-US" sz="1500" dirty="0"/>
          </a:p>
        </p:txBody>
      </p:sp>
      <p:sp>
        <p:nvSpPr>
          <p:cNvPr id="20" name="Text 12"/>
          <p:cNvSpPr txBox="1"/>
          <p:nvPr/>
        </p:nvSpPr>
        <p:spPr>
          <a:xfrm>
            <a:off x="548640" y="3520440"/>
            <a:ext cx="5486400" cy="7315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¡Gracias!</a:t>
            </a:r>
            <a:endParaRPr lang="en-US" sz="4400" dirty="0"/>
          </a:p>
        </p:txBody>
      </p:sp>
      <p:sp>
        <p:nvSpPr>
          <p:cNvPr id="21" name="Text 13"/>
          <p:cNvSpPr txBox="1"/>
          <p:nvPr/>
        </p:nvSpPr>
        <p:spPr>
          <a:xfrm>
            <a:off x="548640" y="4251960"/>
            <a:ext cx="5486400" cy="365760"/>
          </a:xfrm>
          <a:prstGeom prst="rect">
            <a:avLst/>
          </a:prstGeom>
          <a:noFill/>
          <a:ln/>
        </p:spPr>
        <p:txBody>
          <a:bodyPr wrap="square" lIns="0" tIns="0" rIns="0" bIns="0" rtlCol="0" anchor="ctr"/>
          <a:lstStyle/>
          <a:p>
            <a:pPr indent="0" marL="0">
              <a:buNone/>
            </a:pPr>
            <a:r>
              <a:rPr lang="en-US" sz="1400" i="1" dirty="0">
                <a:solidFill>
                  <a:srgbClr val="D6E6DC"/>
                </a:solidFill>
                <a:latin typeface="Calibri" pitchFamily="34" charset="0"/>
                <a:ea typeface="Calibri" pitchFamily="34" charset="-122"/>
                <a:cs typeface="Calibri" pitchFamily="34" charset="-120"/>
              </a:rPr>
              <a:t>Preguntas y aportes son bienvenidos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Parque Temático El Cacique – Anteproyecto</dc:title>
  <dc:subject>PptxGenJS Presentation</dc:subject>
  <dc:creator>[Nombre de la estudiante]</dc:creator>
  <cp:lastModifiedBy>[Nombre de la estudiante]</cp:lastModifiedBy>
  <cp:revision>1</cp:revision>
  <dcterms:created xsi:type="dcterms:W3CDTF">2026-09-30T00:28:30Z</dcterms:created>
  <dcterms:modified xsi:type="dcterms:W3CDTF">2026-09-30T00:28:30Z</dcterms:modified>
</cp:coreProperties>
</file>